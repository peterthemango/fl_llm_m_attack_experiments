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1.xml" ContentType="application/vnd.openxmlformats-officedocument.drawingml.chart+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8" r:id="rId3"/>
    <p:sldId id="259" r:id="rId4"/>
    <p:sldId id="261" r:id="rId5"/>
    <p:sldId id="262" r:id="rId6"/>
    <p:sldId id="263"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6"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009"/>
    <p:restoredTop sz="66837"/>
  </p:normalViewPr>
  <p:slideViewPr>
    <p:cSldViewPr snapToGrid="0" snapToObjects="1">
      <p:cViewPr varScale="1">
        <p:scale>
          <a:sx n="89" d="100"/>
          <a:sy n="89" d="100"/>
        </p:scale>
        <p:origin x="2048"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No defense</c:v>
                </c:pt>
              </c:strCache>
            </c:strRef>
          </c:tx>
          <c:spPr>
            <a:ln w="31750" cap="flat">
              <a:solidFill>
                <a:srgbClr val="D9694C"/>
              </a:solidFill>
              <a:prstDash val="solid"/>
              <a:round/>
            </a:ln>
            <a:effectLst/>
          </c:spPr>
          <c:marker>
            <c:symbol val="circle"/>
            <c:size val="6"/>
            <c:spPr>
              <a:solidFill>
                <a:srgbClr val="D9694C"/>
              </a:solidFill>
              <a:ln w="9525" cap="flat">
                <a:solidFill>
                  <a:srgbClr val="D9694C"/>
                </a:solidFill>
                <a:prstDash val="solid"/>
                <a:round/>
              </a:ln>
              <a:effectLst/>
            </c:spPr>
          </c:marker>
          <c:cat>
            <c:strRef>
              <c:f>Sheet1!$A$2:$A$11</c:f>
              <c:strCache>
                <c:ptCount val="10"/>
                <c:pt idx="0">
                  <c:v>1</c:v>
                </c:pt>
                <c:pt idx="1">
                  <c:v>2</c:v>
                </c:pt>
                <c:pt idx="2">
                  <c:v>3</c:v>
                </c:pt>
                <c:pt idx="3">
                  <c:v>4</c:v>
                </c:pt>
                <c:pt idx="4">
                  <c:v>5</c:v>
                </c:pt>
                <c:pt idx="5">
                  <c:v>6</c:v>
                </c:pt>
                <c:pt idx="6">
                  <c:v>7</c:v>
                </c:pt>
                <c:pt idx="7">
                  <c:v>8</c:v>
                </c:pt>
                <c:pt idx="8">
                  <c:v>9</c:v>
                </c:pt>
                <c:pt idx="9">
                  <c:v>10</c:v>
                </c:pt>
              </c:strCache>
            </c:strRef>
          </c:cat>
          <c:val>
            <c:numRef>
              <c:f>Sheet1!$B$2:$B$11</c:f>
              <c:numCache>
                <c:formatCode>General</c:formatCode>
                <c:ptCount val="10"/>
                <c:pt idx="0">
                  <c:v>0.72</c:v>
                </c:pt>
                <c:pt idx="1">
                  <c:v>0.8</c:v>
                </c:pt>
                <c:pt idx="2">
                  <c:v>0.86</c:v>
                </c:pt>
                <c:pt idx="3">
                  <c:v>0.9</c:v>
                </c:pt>
                <c:pt idx="4">
                  <c:v>0.93</c:v>
                </c:pt>
                <c:pt idx="5">
                  <c:v>0.95</c:v>
                </c:pt>
                <c:pt idx="6">
                  <c:v>0.97</c:v>
                </c:pt>
                <c:pt idx="7">
                  <c:v>0.98</c:v>
                </c:pt>
                <c:pt idx="8">
                  <c:v>0.99</c:v>
                </c:pt>
                <c:pt idx="9">
                  <c:v>0.99</c:v>
                </c:pt>
              </c:numCache>
            </c:numRef>
          </c:val>
          <c:smooth val="1"/>
          <c:extLst>
            <c:ext xmlns:c16="http://schemas.microsoft.com/office/drawing/2014/chart" uri="{C3380CC4-5D6E-409C-BE32-E72D297353CC}">
              <c16:uniqueId val="{00000000-6DD1-C842-9B95-32B20E332775}"/>
            </c:ext>
          </c:extLst>
        </c:ser>
        <c:ser>
          <c:idx val="1"/>
          <c:order val="1"/>
          <c:tx>
            <c:strRef>
              <c:f>Sheet1!$C$1</c:f>
              <c:strCache>
                <c:ptCount val="1"/>
                <c:pt idx="0">
                  <c:v>LDP (ε)</c:v>
                </c:pt>
              </c:strCache>
            </c:strRef>
          </c:tx>
          <c:spPr>
            <a:ln w="31750" cap="flat">
              <a:solidFill>
                <a:srgbClr val="E8A04C"/>
              </a:solidFill>
              <a:prstDash val="solid"/>
              <a:round/>
            </a:ln>
            <a:effectLst/>
          </c:spPr>
          <c:marker>
            <c:symbol val="circle"/>
            <c:size val="6"/>
            <c:spPr>
              <a:solidFill>
                <a:srgbClr val="E8A04C"/>
              </a:solidFill>
              <a:ln w="9525" cap="flat">
                <a:solidFill>
                  <a:srgbClr val="E8A04C"/>
                </a:solidFill>
                <a:prstDash val="solid"/>
                <a:round/>
              </a:ln>
              <a:effectLst/>
            </c:spPr>
          </c:marker>
          <c:cat>
            <c:strRef>
              <c:f>Sheet1!$A$2:$A$11</c:f>
              <c:strCache>
                <c:ptCount val="10"/>
                <c:pt idx="0">
                  <c:v>1</c:v>
                </c:pt>
                <c:pt idx="1">
                  <c:v>2</c:v>
                </c:pt>
                <c:pt idx="2">
                  <c:v>3</c:v>
                </c:pt>
                <c:pt idx="3">
                  <c:v>4</c:v>
                </c:pt>
                <c:pt idx="4">
                  <c:v>5</c:v>
                </c:pt>
                <c:pt idx="5">
                  <c:v>6</c:v>
                </c:pt>
                <c:pt idx="6">
                  <c:v>7</c:v>
                </c:pt>
                <c:pt idx="7">
                  <c:v>8</c:v>
                </c:pt>
                <c:pt idx="8">
                  <c:v>9</c:v>
                </c:pt>
                <c:pt idx="9">
                  <c:v>10</c:v>
                </c:pt>
              </c:strCache>
            </c:strRef>
          </c:cat>
          <c:val>
            <c:numRef>
              <c:f>Sheet1!$C$2:$C$11</c:f>
              <c:numCache>
                <c:formatCode>General</c:formatCode>
                <c:ptCount val="10"/>
                <c:pt idx="0">
                  <c:v>0.55000000000000004</c:v>
                </c:pt>
                <c:pt idx="1">
                  <c:v>0.57999999999999996</c:v>
                </c:pt>
                <c:pt idx="2">
                  <c:v>0.62</c:v>
                </c:pt>
                <c:pt idx="3">
                  <c:v>0.66</c:v>
                </c:pt>
                <c:pt idx="4">
                  <c:v>0.74</c:v>
                </c:pt>
                <c:pt idx="5">
                  <c:v>0.8</c:v>
                </c:pt>
                <c:pt idx="6">
                  <c:v>0.86</c:v>
                </c:pt>
                <c:pt idx="7">
                  <c:v>0.9</c:v>
                </c:pt>
                <c:pt idx="8">
                  <c:v>0.95</c:v>
                </c:pt>
                <c:pt idx="9">
                  <c:v>0.98</c:v>
                </c:pt>
              </c:numCache>
            </c:numRef>
          </c:val>
          <c:smooth val="1"/>
          <c:extLst>
            <c:ext xmlns:c16="http://schemas.microsoft.com/office/drawing/2014/chart" uri="{C3380CC4-5D6E-409C-BE32-E72D297353CC}">
              <c16:uniqueId val="{00000001-6DD1-C842-9B95-32B20E332775}"/>
            </c:ext>
          </c:extLst>
        </c:ser>
        <c:ser>
          <c:idx val="2"/>
          <c:order val="2"/>
          <c:tx>
            <c:strRef>
              <c:f>Sheet1!$D$1</c:f>
              <c:strCache>
                <c:ptCount val="1"/>
                <c:pt idx="0">
                  <c:v>Alt. defense?</c:v>
                </c:pt>
              </c:strCache>
            </c:strRef>
          </c:tx>
          <c:spPr>
            <a:ln w="31750" cap="flat">
              <a:solidFill>
                <a:srgbClr val="0E8C8C"/>
              </a:solidFill>
              <a:prstDash val="solid"/>
              <a:round/>
            </a:ln>
            <a:effectLst/>
          </c:spPr>
          <c:marker>
            <c:symbol val="circle"/>
            <c:size val="6"/>
            <c:spPr>
              <a:solidFill>
                <a:srgbClr val="0E8C8C"/>
              </a:solidFill>
              <a:ln w="9525" cap="flat">
                <a:solidFill>
                  <a:srgbClr val="0E8C8C"/>
                </a:solidFill>
                <a:prstDash val="solid"/>
                <a:round/>
              </a:ln>
              <a:effectLst/>
            </c:spPr>
          </c:marker>
          <c:cat>
            <c:strRef>
              <c:f>Sheet1!$A$2:$A$11</c:f>
              <c:strCache>
                <c:ptCount val="10"/>
                <c:pt idx="0">
                  <c:v>1</c:v>
                </c:pt>
                <c:pt idx="1">
                  <c:v>2</c:v>
                </c:pt>
                <c:pt idx="2">
                  <c:v>3</c:v>
                </c:pt>
                <c:pt idx="3">
                  <c:v>4</c:v>
                </c:pt>
                <c:pt idx="4">
                  <c:v>5</c:v>
                </c:pt>
                <c:pt idx="5">
                  <c:v>6</c:v>
                </c:pt>
                <c:pt idx="6">
                  <c:v>7</c:v>
                </c:pt>
                <c:pt idx="7">
                  <c:v>8</c:v>
                </c:pt>
                <c:pt idx="8">
                  <c:v>9</c:v>
                </c:pt>
                <c:pt idx="9">
                  <c:v>10</c:v>
                </c:pt>
              </c:strCache>
            </c:strRef>
          </c:cat>
          <c:val>
            <c:numRef>
              <c:f>Sheet1!$D$2:$D$11</c:f>
              <c:numCache>
                <c:formatCode>General</c:formatCode>
                <c:ptCount val="10"/>
                <c:pt idx="0">
                  <c:v>0.52</c:v>
                </c:pt>
                <c:pt idx="1">
                  <c:v>0.53</c:v>
                </c:pt>
                <c:pt idx="2">
                  <c:v>0.55000000000000004</c:v>
                </c:pt>
                <c:pt idx="3">
                  <c:v>0.56999999999999995</c:v>
                </c:pt>
                <c:pt idx="4">
                  <c:v>0.6</c:v>
                </c:pt>
                <c:pt idx="5">
                  <c:v>0.63</c:v>
                </c:pt>
                <c:pt idx="6">
                  <c:v>0.66</c:v>
                </c:pt>
                <c:pt idx="7">
                  <c:v>0.7</c:v>
                </c:pt>
                <c:pt idx="8">
                  <c:v>0.74</c:v>
                </c:pt>
                <c:pt idx="9">
                  <c:v>0.78</c:v>
                </c:pt>
              </c:numCache>
            </c:numRef>
          </c:val>
          <c:smooth val="1"/>
          <c:extLst>
            <c:ext xmlns:c16="http://schemas.microsoft.com/office/drawing/2014/chart" uri="{C3380CC4-5D6E-409C-BE32-E72D297353CC}">
              <c16:uniqueId val="{00000002-6DD1-C842-9B95-32B20E332775}"/>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title>
          <c:tx>
            <c:rich>
              <a:bodyPr/>
              <a:lstStyle/>
              <a:p>
                <a:pPr>
                  <a:defRPr sz="900" b="0" i="0" u="none" strike="noStrike">
                    <a:solidFill>
                      <a:srgbClr val="5E6E78"/>
                    </a:solidFill>
                    <a:latin typeface="Arial"/>
                  </a:defRPr>
                </a:pPr>
                <a:r>
                  <a:rPr lang="en-US" sz="900" b="0" i="0" u="none" strike="noStrike">
                    <a:solidFill>
                      <a:srgbClr val="5E6E78"/>
                    </a:solidFill>
                    <a:latin typeface="Arial"/>
                  </a:rPr>
                  <a:t>Privacy budget </a:t>
                </a:r>
                <a:r>
                  <a:rPr lang="el-GR" sz="900" b="0" i="0" u="none" strike="noStrike">
                    <a:solidFill>
                      <a:srgbClr val="5E6E78"/>
                    </a:solidFill>
                    <a:latin typeface="Arial"/>
                  </a:rPr>
                  <a:t>ε</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E6E78"/>
                </a:solidFill>
                <a:latin typeface="Arial"/>
              </a:defRPr>
            </a:pPr>
            <a:endParaRPr lang="en-US"/>
          </a:p>
        </c:txPr>
        <c:crossAx val="2094734552"/>
        <c:crosses val="autoZero"/>
        <c:auto val="1"/>
        <c:lblAlgn val="ctr"/>
        <c:lblOffset val="100"/>
        <c:noMultiLvlLbl val="1"/>
      </c:catAx>
      <c:valAx>
        <c:axId val="2094734552"/>
        <c:scaling>
          <c:orientation val="minMax"/>
          <c:max val="1"/>
          <c:min val="0.5"/>
        </c:scaling>
        <c:delete val="0"/>
        <c:axPos val="l"/>
        <c:majorGridlines>
          <c:spPr>
            <a:ln w="6350" cap="flat">
              <a:solidFill>
                <a:srgbClr val="E2E8F0"/>
              </a:solidFill>
              <a:prstDash val="solid"/>
              <a:round/>
            </a:ln>
          </c:spPr>
        </c:majorGridlines>
        <c:title>
          <c:tx>
            <c:rich>
              <a:bodyPr/>
              <a:lstStyle/>
              <a:p>
                <a:pPr>
                  <a:defRPr sz="900" b="0" i="0" u="none" strike="noStrike">
                    <a:solidFill>
                      <a:srgbClr val="5E6E78"/>
                    </a:solidFill>
                    <a:latin typeface="Arial"/>
                  </a:defRPr>
                </a:pPr>
                <a:r>
                  <a:rPr lang="en-US" sz="900" b="0" i="0" u="none" strike="noStrike">
                    <a:solidFill>
                      <a:srgbClr val="5E6E78"/>
                    </a:solidFill>
                    <a:latin typeface="Arial"/>
                  </a:rPr>
                  <a:t>Attack success</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E6E78"/>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5E6E78"/>
              </a:solidFill>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29542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talk has two jobs. First, an overview of the existing literature across four areas — membership inference attacks, federated learning, local differential privacy, and training large language models in a federated way. Second, a proposed experiment that asks a new question: how accurate is an active membership inference attack when the target large language model is trained through federated learning? Set expectations up front: the literature-review section is a scaffold with clearly marked placeholders, because the detailed findings are still being read. The single paper everything builds on is Nguyen et al., AISTATS 2023 — we summarize it first so the rest of the talk has firm ground. Plain-language promise: every acronym gets unpacked before we lean on it, and the slides stay sparse while these notes carry the teaching.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is purely about the existing paper. Goal: by the end, a non-expert can explain in one breath what the attack does and why a popular privacy defense does not block it. We go theory-first — define each idea before using it.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terms before using them. Membership inference attack (MIA): figuring out whether one particular data record was part of a model's training set — for example, was THIS patient's record used to train this hospital model? Federated learning (FL): many parties train one shared model by sending model updates, not raw data, to a central server. Local Differential Privacy (LDP): each client adds calibrated random noise to its own data before it is ever used, so no single record stands out. The paper's problem: people assumed LDP makes membership inference fail in FL. The authors show that assumption breaks against an ACTIVE — cheating — server. Concrete example: a bank coalition training a fraud model via FL; this attack lets a corrupt coordinating server confirm whether a specific person's transaction was in a given bank's data. The repo on screen is the same one we reuse as our experimental baseline.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it left to right. Step 1: the server is the cheater. Before sending the model out, it secretly sets the weights of one neuron — the chosen neuron — so it lights up ONLY for the target record t and stays dark for everything else. Step 2: the client does nothing unusual; it trains on its private data and returns the averaged gradient, as FL always does. Step 3: the server looks only at that neuron's gradient. If t was in the data, the neuron fired and its gradient is non-zero; if t was absent, the gradient is exactly zero. A numerical signal answers a yes/no membership question. The key-insight strip explains WHY non-linearity is needed: a straight-line boundary cannot fence off a single point, but a ReLU layer can wrap a lasso around just the target. Analogy: a motion-sensor light tuned so precisely that only one specific person's walk sets it off — seeing it flick on tells you that person passed. And it is a tiny, hard-to-notice change made in a single training round.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conceptual heart — go slowly. Why LDP seems to win: the client never uses the raw record t; it adds noise first, producing a fuzzy version. A neuron tuned to the exact t will not recognize the fuzzy one, so the attack appears to fail. The twist: the server is assumed to KNOW the noise recipe — the LDP mechanism and the budget epsilon — which is realistic, because clients usually get privacy settings from the server. So the server simulates the noise itself, makes many fuzzy copies of t, and trains the chosen neuron to fire for the whole fuzzy cloud, not just the sharp point. The right panel is the keeper: the only way to truly hide the record is so much noise (very small epsilon) that the model can no longer learn. Analogy: to make one voice unrecognizable you must add so much static the whole recording is unlistenable. No comfortable middle setting. And the authors prove this with a certified-success guarantee, not just experiments.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numbers are FROM the paper — observed results, not ours. Read success as: 0.5 is a coin flip, 1.0 is perfect. With no privacy noise the attack is essentially perfect, about 100%. The uncomfortable part is the middle and right callouts: at epsilon of 5 or more — the range where the model is still accurate enough to deploy — the attack still succeeds at least 77% of the time, climbing to about 99% at epsilon 9. So budgets people would actually use do not protect anyone. They tested on three standard image datasets over ResNet-18 feature embeddings, with two LDP noise methods, BitRand and OME. The bottom card matters for our experiment: defenders cannot just look at the weights to catch the attack — the malicious weights look completely normal, their Figure 8. Caveat to say aloud: these are image-model results; whether the same holds for large language models is exactly our open question.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bridge from their paper to our work. Make the logic explicit: the paper convincingly shows the attack is dangerous for image classifiers under LDP, but stops there. Two doors are open. First, transfer: large language models — the technology behind chatbots — are enormous, process sequences of words, and train differently from image models, so we genuinely do not know whether the chosen-neuron attack carries over. Second, defense: since LDP does not work, what does? The paper discusses options like noisy-gradient training but shows weaknesses and proposes no validated fix. Our project picks up exactly these two threads. Analogy: they proved one model of door can be picked; we ask whether the same pick opens a very different, newer door — and which better lock to install.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This section is intentionally a scaffold. For each of four fields we give a plain what-it-is so the audience understands the territory, then a clearly-marked placeholder box where specific papers, authors, years, and numbers will go after reading. Nothing in the placeholder boxes is invented — a deliberate integrity choice.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Field A: Active Membership Inference Attacks. Re-anchor: membership inference is the guest-list question — was your record on the training list? ACTIVE is the upgrade — the attacker tampers with the model to force more leakage, like the chosen-neuron trick from the main paper. What the literature adds: Quan Nguyen, Vu, Nguyen and Thai (ICML 2025) generalize the main paper — they prove lower bounds on attack success even when clients use LDP, and crucially extend the analysis from fully-connected layers to self-attention layers, the building block of transformers and LLMs; risk grows with the privacy budget. Zhang et al. (2026) approach from the defense side, showing a single mechanism must stop both passive and active attacks, and propose a distillation-plus-aggregation framework that lowers attack success on four datasets without losing accuracy. Bai et al.'s CoFedMID highlights trajectory-based attacks that use the history of model snapshots over training rounds — these beat defenses applied independently per client, so they argue clients should defend collaboratively. Every claim here traces to those three papers; I have not invented numbers.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Field B: Federated Learning. The group-project analogy: everyone emails edits to one coordinator and keeps private notebooks at home. The promise is privacy because raw data never travels. The catch — and the reason attacks exist — is that the edits themselves, the gradient updates, can leak information. The literature makes this concrete: Abidi et al. survey FL from privacy, security and hardware angles and stress that FL's privacy reputation is undermined by sophisticated attacks, made worse by the tight resource limits of edge devices. Fernandez-de-Retana et al. (2025) demonstrate gradient leakage attacks that actually reconstruct private input images from intercepted gradients in a simulated federated setup — a vivid example that 'we only share updates, not data' is not by itself safe. Both claims trace to those papers.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Field C: Local Differential Privacy. The coin-flip survey analogy: you sometimes randomize your own answer before reporting, so your individual response is deniable but crowd-level statistics survive. The dial is epsilon — small means heavy noise, strong privacy, weaker model; large is the opposite, and LDP is LOCAL: the client protects itself before trusting anyone. The literature sharpens the core tension. Quan Nguyen et al. (ICML 2025) prove that LDP does not eliminate inference risk — attacks retain guaranteed success that depends on the privacy budget, and the noise level needed to truly stop them significantly hurts model utility. Fernandez-de-Retana et al. (2025) study the related gradient-noise defense DP-SGD: it substantially cuts reconstruction attacks but costs some accuracy, while their lighter regularization variant PDP-SGD keeps accuracy but does not actually defend — a reminder to test privacy mechanisms empirically, not just trust their theory. Note the precise attribution: the LDP-specific evidence is Nguyen et al.; the DP-SGD evidence is Fernandez-de-Retana et al.</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Field D: training large language models in a federated way — the newest, least-charted area and the bridge to our experiment. An LLM is the kind of model behind chatbots; federated training lets, say, several hospitals jointly improve a clinical text model without sharing patient notes. Three things differ from images: the models are enormous, inputs are sequences of tokens rather than pixels, and people usually fine-tune a pre-trained model rather than train from scratch. The literature: two broad surveys — Yao et al. (2024) on Federated LLMs and Cheng et al. (IEEE COMST 2025) toward Federated LLMs — agree FL enables privacy-preserving collaborative LLM training but flag heterogeneous-data convergence problems and high communication cost as the central obstacles. Because full federated training is so expensive, the field has converged on federated fine-tuning: Yan et al. compare three framework families — plain FedLLM, knowledge-distillation FedLLM, and split-learning FedLLM — and Wu et al. (TMLR 2026) survey this fine-tuning landscape broadly. Takeaway for us: any AMIA study on a federated LLM will most realistically target a fine-tuning setup, which is exactly the regime our experiment proposes to probe. All sources are cited; nothing fabricated.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to the original contribution. Emphasize twice: this is a PLAN. Every number from here on is illustrative — an expected shape or example target — never measured data. The pipeline has six stages; we see the overview, then group the stages.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experiment as stages; we detail them in pairs next. Stage one: get the original authors' code running unchanged for a trustworthy starting point — reproduce before you innovate. Stage two: change one factor at a time, like a controlled lab experiment, so any effect is attributable. Stage three: measure attack accuracy, now against an LLM trained with federated learning rather than an image model. Stage four: find patterns — which factors move the needle. Stage five: judge results against the baseline and against model usefulness. Stage six: try defenses other than plain LDP and see which actually help. Say clearly: no results exist; everything numeric from here is a labelled illustration of what we expect to plot.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Stages one and two. Stage one is scientific hygiene: before changing anything, get the original code running and confirm we reproduce their published image-model attack — that proves our setup is faithful. Then the one big substitution that defines the project: replace the image classifier target with a large language model trained or fine-tuned through federated learning, and freeze a documented baseline so every later change is measured against the same reference. Stage two lists the knobs, turned one at a time. The most important is epsilon, the privacy-noise dial. Others: which LDP method, how big the model is, the federated setup — how many clients, rounds, and how much data each holds — whether we fine-tune or train fully, and the attacker's own budget: how many chosen neurons and how many noisy copies of the target. Controlled-experiment discipline: change one knob, hold the rest fixed, so any change in attack success is attributable.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Stages three and four. Stage three — scoring. We run a security game: a referee secretly decides whether the target record is inside or outside the client's data, the attacker guesses, repeat many times. The score averages how often it correctly says in when it is in and out when it is out; 0.5 is guessing, 1.0 is perfect. We plot this against epsilon for every factor setting while tracking how accurate the model itself stays — a defense that wrecks the model is no win. Stage four — pattern hunting. The chart is clearly labelled ILLUSTRATIVE; it is a hypothesis of the SHAPE we expect, not data. The story we test: with no defense, success is high everywhere; under plain LDP it stays high wherever the model is usable, mirroring the main paper; a good alternative defense — the teal line — would stay low across the usable range. The experiment finds whether reality matches and which factors bend these curves. No numbers here are measured.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Stages five and six. Evaluation is a two-part test, stated firmly: a defense succeeds only if attack accuracy falls AND the model stays useful. Reporting one without the other misleads — you can always win on privacy by destroying the model. Then we trial defenses beyond plain LDP. Four candidates: DPSGD adds noise to gradients instead of data; the main paper warns a patient attacker can average that away over rounds, so we stress-test it. Gradient clipping or secure aggregation limits or hides any one neuron's contribution, blunting the signal. Behavioural auditing: since malicious weights look normal, we instead watch for a neuron that fires for essentially one input — the chosen-neuron signature. Protocol-level integrity: attestation so a cheating server cannot insert crafted weights at all. Each defense is reported on the same two axes — privacy gain and utility cost. These are candidates to test, not claimed solutions.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transparent about what is settled and what is not. Left, the assumptions baked into this deck: the main paper and baseline repo are the user-confirmed ones; the literature review is deliberately blank where specifics belong, and nothing was invented; every Section 3 number is an illustration; and the talk targets a mixed audience in about fifteen to twenty minutes. Right, the real research questions: does the attack transfer to language models and to fine-tuning; how do scale and client count matter; which alternative defense works without ruining the model; and can behavioural auditing catch what weight-inspection misses. Invite the audience to challenge the assumptions — that is why they are on screen.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work sequence. First, finish the reading and replace the four placeholder boxes with real citations and findings — the literature review is complete only then. Second, stand up the baseline: reproduce the original attack, then swap in a federated-LLM target. Third, run the factor sweeps and record both attack accuracy and model utility. Fourth, test the alternative defenses on those same two axes. Then open the floor. Remind them: today's contribution is the synthesized overview plus a rigorous plan; the experiment's results are future work.</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2.png"/><Relationship Id="rId4" Type="http://schemas.microsoft.com/office/2007/relationships/hdphoto" Target="../media/hdphoto1.wdp"/></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8.png"/><Relationship Id="rId7"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chart" Target="../charts/chart1.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7.png"/><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7.png"/><Relationship Id="rId4"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A3B"/>
        </a:solidFill>
        <a:effectLst/>
      </p:bgPr>
    </p:bg>
    <p:spTree>
      <p:nvGrpSpPr>
        <p:cNvPr id="1" name=""/>
        <p:cNvGrpSpPr/>
        <p:nvPr/>
      </p:nvGrpSpPr>
      <p:grpSpPr>
        <a:xfrm>
          <a:off x="0" y="0"/>
          <a:ext cx="0" cy="0"/>
          <a:chOff x="0" y="0"/>
          <a:chExt cx="0" cy="0"/>
        </a:xfrm>
      </p:grpSpPr>
      <p:sp>
        <p:nvSpPr>
          <p:cNvPr id="2" name="Shape 0"/>
          <p:cNvSpPr/>
          <p:nvPr/>
        </p:nvSpPr>
        <p:spPr>
          <a:xfrm>
            <a:off x="10241280" y="3657600"/>
            <a:ext cx="0" cy="0"/>
          </a:xfrm>
          <a:prstGeom prst="line">
            <a:avLst/>
          </a:prstGeom>
          <a:noFill/>
          <a:ln w="17780">
            <a:solidFill>
              <a:srgbClr val="3FC6BC">
                <a:alpha val="65000"/>
              </a:srgbClr>
            </a:solidFill>
            <a:prstDash val="solid"/>
          </a:ln>
        </p:spPr>
        <p:txBody>
          <a:bodyPr/>
          <a:lstStyle/>
          <a:p>
            <a:endParaRPr lang="en-QA"/>
          </a:p>
        </p:txBody>
      </p:sp>
      <p:sp>
        <p:nvSpPr>
          <p:cNvPr id="3" name="Shape 1"/>
          <p:cNvSpPr/>
          <p:nvPr/>
        </p:nvSpPr>
        <p:spPr>
          <a:xfrm>
            <a:off x="10241280" y="3657600"/>
            <a:ext cx="1108105" cy="0"/>
          </a:xfrm>
          <a:prstGeom prst="line">
            <a:avLst/>
          </a:prstGeom>
          <a:noFill/>
          <a:ln w="17780">
            <a:solidFill>
              <a:srgbClr val="3FC6BC">
                <a:alpha val="65000"/>
              </a:srgbClr>
            </a:solidFill>
            <a:prstDash val="solid"/>
          </a:ln>
        </p:spPr>
        <p:txBody>
          <a:bodyPr/>
          <a:lstStyle/>
          <a:p>
            <a:endParaRPr lang="en-QA"/>
          </a:p>
        </p:txBody>
      </p:sp>
      <p:sp>
        <p:nvSpPr>
          <p:cNvPr id="4" name="Shape 2"/>
          <p:cNvSpPr/>
          <p:nvPr/>
        </p:nvSpPr>
        <p:spPr>
          <a:xfrm>
            <a:off x="10241280" y="3657600"/>
            <a:ext cx="1381785" cy="315383"/>
          </a:xfrm>
          <a:prstGeom prst="line">
            <a:avLst/>
          </a:prstGeom>
          <a:noFill/>
          <a:ln w="17780">
            <a:solidFill>
              <a:srgbClr val="3FC6BC">
                <a:alpha val="65000"/>
              </a:srgbClr>
            </a:solidFill>
            <a:prstDash val="solid"/>
          </a:ln>
        </p:spPr>
        <p:txBody>
          <a:bodyPr/>
          <a:lstStyle/>
          <a:p>
            <a:endParaRPr lang="en-QA"/>
          </a:p>
        </p:txBody>
      </p:sp>
      <p:sp>
        <p:nvSpPr>
          <p:cNvPr id="5" name="Shape 3"/>
          <p:cNvSpPr/>
          <p:nvPr/>
        </p:nvSpPr>
        <p:spPr>
          <a:xfrm>
            <a:off x="10241280" y="3657600"/>
            <a:ext cx="614952" cy="1276961"/>
          </a:xfrm>
          <a:prstGeom prst="line">
            <a:avLst/>
          </a:prstGeom>
          <a:noFill/>
          <a:ln w="17780">
            <a:solidFill>
              <a:srgbClr val="3FC6BC">
                <a:alpha val="65000"/>
              </a:srgbClr>
            </a:solidFill>
            <a:prstDash val="solid"/>
          </a:ln>
        </p:spPr>
        <p:txBody>
          <a:bodyPr/>
          <a:lstStyle/>
          <a:p>
            <a:endParaRPr lang="en-QA"/>
          </a:p>
        </p:txBody>
      </p:sp>
      <p:sp>
        <p:nvSpPr>
          <p:cNvPr id="6" name="Shape 4"/>
          <p:cNvSpPr/>
          <p:nvPr/>
        </p:nvSpPr>
        <p:spPr>
          <a:xfrm>
            <a:off x="10241280" y="3657600"/>
            <a:ext cx="0" cy="1276961"/>
          </a:xfrm>
          <a:prstGeom prst="line">
            <a:avLst/>
          </a:prstGeom>
          <a:noFill/>
          <a:ln w="17780">
            <a:solidFill>
              <a:srgbClr val="3FC6BC">
                <a:alpha val="65000"/>
              </a:srgbClr>
            </a:solidFill>
            <a:prstDash val="solid"/>
          </a:ln>
        </p:spPr>
        <p:txBody>
          <a:bodyPr/>
          <a:lstStyle/>
          <a:p>
            <a:endParaRPr lang="en-QA"/>
          </a:p>
        </p:txBody>
      </p:sp>
      <p:sp>
        <p:nvSpPr>
          <p:cNvPr id="7" name="Shape 5"/>
          <p:cNvSpPr/>
          <p:nvPr/>
        </p:nvSpPr>
        <p:spPr>
          <a:xfrm>
            <a:off x="10241280" y="3657600"/>
            <a:ext cx="0" cy="315383"/>
          </a:xfrm>
          <a:prstGeom prst="line">
            <a:avLst/>
          </a:prstGeom>
          <a:noFill/>
          <a:ln w="17780">
            <a:solidFill>
              <a:srgbClr val="3FC6BC">
                <a:alpha val="65000"/>
              </a:srgbClr>
            </a:solidFill>
            <a:prstDash val="solid"/>
          </a:ln>
        </p:spPr>
        <p:txBody>
          <a:bodyPr/>
          <a:lstStyle/>
          <a:p>
            <a:endParaRPr lang="en-QA"/>
          </a:p>
        </p:txBody>
      </p:sp>
      <p:sp>
        <p:nvSpPr>
          <p:cNvPr id="8" name="Shape 6"/>
          <p:cNvSpPr/>
          <p:nvPr/>
        </p:nvSpPr>
        <p:spPr>
          <a:xfrm>
            <a:off x="10241280" y="3657600"/>
            <a:ext cx="0" cy="0"/>
          </a:xfrm>
          <a:prstGeom prst="line">
            <a:avLst/>
          </a:prstGeom>
          <a:noFill/>
          <a:ln w="17780">
            <a:solidFill>
              <a:srgbClr val="3FC6BC">
                <a:alpha val="65000"/>
              </a:srgbClr>
            </a:solidFill>
            <a:prstDash val="solid"/>
          </a:ln>
        </p:spPr>
        <p:txBody>
          <a:bodyPr/>
          <a:lstStyle/>
          <a:p>
            <a:endParaRPr lang="en-QA"/>
          </a:p>
        </p:txBody>
      </p:sp>
      <p:sp>
        <p:nvSpPr>
          <p:cNvPr id="9" name="Shape 7"/>
          <p:cNvSpPr/>
          <p:nvPr/>
        </p:nvSpPr>
        <p:spPr>
          <a:xfrm>
            <a:off x="10113264" y="2112264"/>
            <a:ext cx="256032" cy="256032"/>
          </a:xfrm>
          <a:prstGeom prst="ellipse">
            <a:avLst/>
          </a:prstGeom>
          <a:solidFill>
            <a:srgbClr val="3FC6BC"/>
          </a:solidFill>
          <a:ln/>
        </p:spPr>
        <p:txBody>
          <a:bodyPr/>
          <a:lstStyle/>
          <a:p>
            <a:endParaRPr lang="en-QA"/>
          </a:p>
        </p:txBody>
      </p:sp>
      <p:sp>
        <p:nvSpPr>
          <p:cNvPr id="10" name="Shape 8"/>
          <p:cNvSpPr/>
          <p:nvPr/>
        </p:nvSpPr>
        <p:spPr>
          <a:xfrm>
            <a:off x="11221369" y="2645899"/>
            <a:ext cx="256032" cy="256032"/>
          </a:xfrm>
          <a:prstGeom prst="ellipse">
            <a:avLst/>
          </a:prstGeom>
          <a:solidFill>
            <a:srgbClr val="3FC6BC"/>
          </a:solidFill>
          <a:ln/>
        </p:spPr>
        <p:txBody>
          <a:bodyPr/>
          <a:lstStyle/>
          <a:p>
            <a:endParaRPr lang="en-QA"/>
          </a:p>
        </p:txBody>
      </p:sp>
      <p:sp>
        <p:nvSpPr>
          <p:cNvPr id="11" name="Shape 9"/>
          <p:cNvSpPr/>
          <p:nvPr/>
        </p:nvSpPr>
        <p:spPr>
          <a:xfrm>
            <a:off x="11495049" y="3844967"/>
            <a:ext cx="256032" cy="256032"/>
          </a:xfrm>
          <a:prstGeom prst="ellipse">
            <a:avLst/>
          </a:prstGeom>
          <a:solidFill>
            <a:srgbClr val="3FC6BC"/>
          </a:solidFill>
          <a:ln/>
        </p:spPr>
        <p:txBody>
          <a:bodyPr/>
          <a:lstStyle/>
          <a:p>
            <a:endParaRPr lang="en-QA"/>
          </a:p>
        </p:txBody>
      </p:sp>
      <p:sp>
        <p:nvSpPr>
          <p:cNvPr id="12" name="Shape 10"/>
          <p:cNvSpPr/>
          <p:nvPr/>
        </p:nvSpPr>
        <p:spPr>
          <a:xfrm>
            <a:off x="10728216" y="4806545"/>
            <a:ext cx="256032" cy="256032"/>
          </a:xfrm>
          <a:prstGeom prst="ellipse">
            <a:avLst/>
          </a:prstGeom>
          <a:solidFill>
            <a:srgbClr val="3FC6BC"/>
          </a:solidFill>
          <a:ln/>
        </p:spPr>
        <p:txBody>
          <a:bodyPr/>
          <a:lstStyle/>
          <a:p>
            <a:endParaRPr lang="en-QA"/>
          </a:p>
        </p:txBody>
      </p:sp>
      <p:sp>
        <p:nvSpPr>
          <p:cNvPr id="13" name="Shape 11"/>
          <p:cNvSpPr/>
          <p:nvPr/>
        </p:nvSpPr>
        <p:spPr>
          <a:xfrm>
            <a:off x="9498312" y="4806545"/>
            <a:ext cx="256032" cy="256032"/>
          </a:xfrm>
          <a:prstGeom prst="ellipse">
            <a:avLst/>
          </a:prstGeom>
          <a:solidFill>
            <a:srgbClr val="3FC6BC"/>
          </a:solidFill>
          <a:ln/>
        </p:spPr>
        <p:txBody>
          <a:bodyPr/>
          <a:lstStyle/>
          <a:p>
            <a:endParaRPr lang="en-QA"/>
          </a:p>
        </p:txBody>
      </p:sp>
      <p:sp>
        <p:nvSpPr>
          <p:cNvPr id="14" name="Shape 12"/>
          <p:cNvSpPr/>
          <p:nvPr/>
        </p:nvSpPr>
        <p:spPr>
          <a:xfrm>
            <a:off x="8731479" y="3844967"/>
            <a:ext cx="256032" cy="256032"/>
          </a:xfrm>
          <a:prstGeom prst="ellipse">
            <a:avLst/>
          </a:prstGeom>
          <a:solidFill>
            <a:srgbClr val="3FC6BC"/>
          </a:solidFill>
          <a:ln/>
        </p:spPr>
        <p:txBody>
          <a:bodyPr/>
          <a:lstStyle/>
          <a:p>
            <a:endParaRPr lang="en-QA"/>
          </a:p>
        </p:txBody>
      </p:sp>
      <p:sp>
        <p:nvSpPr>
          <p:cNvPr id="15" name="Shape 13"/>
          <p:cNvSpPr/>
          <p:nvPr/>
        </p:nvSpPr>
        <p:spPr>
          <a:xfrm>
            <a:off x="9005159" y="2645899"/>
            <a:ext cx="256032" cy="256032"/>
          </a:xfrm>
          <a:prstGeom prst="ellipse">
            <a:avLst/>
          </a:prstGeom>
          <a:solidFill>
            <a:srgbClr val="3FC6BC"/>
          </a:solidFill>
          <a:ln/>
        </p:spPr>
        <p:txBody>
          <a:bodyPr/>
          <a:lstStyle/>
          <a:p>
            <a:endParaRPr lang="en-QA"/>
          </a:p>
        </p:txBody>
      </p:sp>
      <p:sp>
        <p:nvSpPr>
          <p:cNvPr id="16" name="Shape 14"/>
          <p:cNvSpPr/>
          <p:nvPr/>
        </p:nvSpPr>
        <p:spPr>
          <a:xfrm>
            <a:off x="9994392" y="3410712"/>
            <a:ext cx="493776" cy="493776"/>
          </a:xfrm>
          <a:prstGeom prst="ellipse">
            <a:avLst/>
          </a:prstGeom>
          <a:solidFill>
            <a:srgbClr val="E8A04C"/>
          </a:solidFill>
          <a:ln/>
          <a:effectLst>
            <a:outerShdw blurRad="88900" dist="38100" dir="5400000" algn="bl" rotWithShape="0">
              <a:srgbClr val="000000">
                <a:alpha val="16000"/>
              </a:srgbClr>
            </a:outerShdw>
          </a:effectLst>
        </p:spPr>
        <p:txBody>
          <a:bodyPr/>
          <a:lstStyle/>
          <a:p>
            <a:endParaRPr lang="en-QA"/>
          </a:p>
        </p:txBody>
      </p:sp>
      <p:sp>
        <p:nvSpPr>
          <p:cNvPr id="17" name="Text 15"/>
          <p:cNvSpPr/>
          <p:nvPr/>
        </p:nvSpPr>
        <p:spPr>
          <a:xfrm>
            <a:off x="640080" y="1371600"/>
            <a:ext cx="7772400" cy="365760"/>
          </a:xfrm>
          <a:prstGeom prst="rect">
            <a:avLst/>
          </a:prstGeom>
          <a:noFill/>
          <a:ln/>
        </p:spPr>
        <p:txBody>
          <a:bodyPr wrap="square" lIns="0" tIns="0" rIns="0" bIns="0" rtlCol="0" anchor="ctr"/>
          <a:lstStyle/>
          <a:p>
            <a:pPr marL="0" indent="0">
              <a:buNone/>
            </a:pPr>
            <a:r>
              <a:rPr lang="en-US" sz="1300" b="1" kern="0" spc="200" dirty="0">
                <a:solidFill>
                  <a:srgbClr val="3FC6BC"/>
                </a:solidFill>
                <a:latin typeface="Calibri" pitchFamily="34" charset="0"/>
                <a:ea typeface="Calibri" pitchFamily="34" charset="-122"/>
                <a:cs typeface="Calibri" pitchFamily="34" charset="-120"/>
              </a:rPr>
              <a:t>RESEARCH OVERVIEW  ·  LITERATURE + PROPOSED STUDY</a:t>
            </a:r>
            <a:endParaRPr lang="en-US" sz="1300" dirty="0"/>
          </a:p>
        </p:txBody>
      </p:sp>
      <p:sp>
        <p:nvSpPr>
          <p:cNvPr id="18" name="Text 16"/>
          <p:cNvSpPr/>
          <p:nvPr/>
        </p:nvSpPr>
        <p:spPr>
          <a:xfrm>
            <a:off x="640080" y="1828800"/>
            <a:ext cx="7498080" cy="2103120"/>
          </a:xfrm>
          <a:prstGeom prst="rect">
            <a:avLst/>
          </a:prstGeom>
          <a:noFill/>
          <a:ln/>
        </p:spPr>
        <p:txBody>
          <a:bodyPr wrap="square" lIns="0" tIns="0" rIns="0" bIns="0" rtlCol="0" anchor="ctr"/>
          <a:lstStyle/>
          <a:p>
            <a:pPr marL="0" indent="0">
              <a:lnSpc>
                <a:spcPct val="104000"/>
              </a:lnSpc>
              <a:buNone/>
            </a:pPr>
            <a:r>
              <a:rPr lang="en-US" sz="3400" b="1" dirty="0">
                <a:solidFill>
                  <a:srgbClr val="FFFFFF"/>
                </a:solidFill>
                <a:latin typeface="Cambria" pitchFamily="34" charset="0"/>
                <a:ea typeface="Cambria" pitchFamily="34" charset="-122"/>
                <a:cs typeface="Cambria" pitchFamily="34" charset="-120"/>
              </a:rPr>
              <a:t>Active Membership Inference Attacks on Large Language Models Trained via Federated Learning</a:t>
            </a:r>
            <a:endParaRPr lang="en-US" sz="3400" dirty="0"/>
          </a:p>
        </p:txBody>
      </p:sp>
      <p:sp>
        <p:nvSpPr>
          <p:cNvPr id="19" name="Text 17"/>
          <p:cNvSpPr/>
          <p:nvPr/>
        </p:nvSpPr>
        <p:spPr>
          <a:xfrm>
            <a:off x="640080" y="4114800"/>
            <a:ext cx="7680960" cy="822960"/>
          </a:xfrm>
          <a:prstGeom prst="rect">
            <a:avLst/>
          </a:prstGeom>
          <a:noFill/>
          <a:ln/>
        </p:spPr>
        <p:txBody>
          <a:bodyPr wrap="square" lIns="0" tIns="0" rIns="0" bIns="0" rtlCol="0" anchor="ctr"/>
          <a:lstStyle/>
          <a:p>
            <a:pPr marL="0" indent="0">
              <a:lnSpc>
                <a:spcPct val="105000"/>
              </a:lnSpc>
              <a:buNone/>
            </a:pPr>
            <a:r>
              <a:rPr lang="en-US" sz="1300" b="1" dirty="0">
                <a:solidFill>
                  <a:srgbClr val="5E6E78"/>
                </a:solidFill>
                <a:latin typeface="Calibri" pitchFamily="34" charset="0"/>
                <a:ea typeface="Calibri" pitchFamily="34" charset="-122"/>
                <a:cs typeface="Calibri" pitchFamily="34" charset="-120"/>
              </a:rPr>
              <a:t>Builds on:  </a:t>
            </a:r>
            <a:r>
              <a:rPr lang="en-US" sz="1300" dirty="0">
                <a:solidFill>
                  <a:srgbClr val="C5D3D8"/>
                </a:solidFill>
                <a:latin typeface="Calibri" pitchFamily="34" charset="0"/>
                <a:ea typeface="Calibri" pitchFamily="34" charset="-122"/>
                <a:cs typeface="Calibri" pitchFamily="34" charset="-120"/>
              </a:rPr>
              <a:t>Nguyen, Lai, Tran, Phan &amp; Thai — “Active Membership Inference Attack under Local Differential Privacy in Federated Learning,” AISTATS 2023 (PMLR 206).</a:t>
            </a:r>
            <a:endParaRPr lang="en-US" sz="1300" dirty="0"/>
          </a:p>
        </p:txBody>
      </p:sp>
      <p:sp>
        <p:nvSpPr>
          <p:cNvPr id="20" name="Shape 18"/>
          <p:cNvSpPr/>
          <p:nvPr/>
        </p:nvSpPr>
        <p:spPr>
          <a:xfrm>
            <a:off x="640080" y="5212080"/>
            <a:ext cx="128016" cy="128016"/>
          </a:xfrm>
          <a:prstGeom prst="ellipse">
            <a:avLst/>
          </a:prstGeom>
          <a:solidFill>
            <a:srgbClr val="0E8C8C"/>
          </a:solidFill>
          <a:ln/>
        </p:spPr>
        <p:txBody>
          <a:bodyPr/>
          <a:lstStyle/>
          <a:p>
            <a:endParaRPr lang="en-QA"/>
          </a:p>
        </p:txBody>
      </p:sp>
      <p:sp>
        <p:nvSpPr>
          <p:cNvPr id="21" name="Shape 19"/>
          <p:cNvSpPr/>
          <p:nvPr/>
        </p:nvSpPr>
        <p:spPr>
          <a:xfrm>
            <a:off x="868680" y="5212080"/>
            <a:ext cx="128016" cy="128016"/>
          </a:xfrm>
          <a:prstGeom prst="ellipse">
            <a:avLst/>
          </a:prstGeom>
          <a:solidFill>
            <a:srgbClr val="E8A04C"/>
          </a:solidFill>
          <a:ln/>
        </p:spPr>
        <p:txBody>
          <a:bodyPr/>
          <a:lstStyle/>
          <a:p>
            <a:endParaRPr lang="en-QA"/>
          </a:p>
        </p:txBody>
      </p:sp>
      <p:sp>
        <p:nvSpPr>
          <p:cNvPr id="22" name="Shape 20"/>
          <p:cNvSpPr/>
          <p:nvPr/>
        </p:nvSpPr>
        <p:spPr>
          <a:xfrm>
            <a:off x="1097280" y="5212080"/>
            <a:ext cx="128016" cy="128016"/>
          </a:xfrm>
          <a:prstGeom prst="ellipse">
            <a:avLst/>
          </a:prstGeom>
          <a:solidFill>
            <a:srgbClr val="3FC6BC"/>
          </a:solidFill>
          <a:ln/>
        </p:spPr>
        <p:txBody>
          <a:bodyPr/>
          <a:lstStyle/>
          <a:p>
            <a:endParaRPr lang="en-QA"/>
          </a:p>
        </p:txBody>
      </p:sp>
      <p:sp>
        <p:nvSpPr>
          <p:cNvPr id="24" name="Shape 21"/>
          <p:cNvSpPr/>
          <p:nvPr/>
        </p:nvSpPr>
        <p:spPr>
          <a:xfrm>
            <a:off x="548640" y="6464808"/>
            <a:ext cx="109728" cy="109728"/>
          </a:xfrm>
          <a:prstGeom prst="ellipse">
            <a:avLst/>
          </a:prstGeom>
          <a:solidFill>
            <a:srgbClr val="0E8C8C"/>
          </a:solidFill>
          <a:ln/>
        </p:spPr>
        <p:txBody>
          <a:bodyPr/>
          <a:lstStyle/>
          <a:p>
            <a:endParaRPr lang="en-QA"/>
          </a:p>
        </p:txBody>
      </p:sp>
      <p:sp>
        <p:nvSpPr>
          <p:cNvPr id="25" name="Text 22"/>
          <p:cNvSpPr/>
          <p:nvPr/>
        </p:nvSpPr>
        <p:spPr>
          <a:xfrm>
            <a:off x="749808" y="6355080"/>
            <a:ext cx="8229600" cy="320040"/>
          </a:xfrm>
          <a:prstGeom prst="rect">
            <a:avLst/>
          </a:prstGeom>
          <a:noFill/>
          <a:ln/>
        </p:spPr>
        <p:txBody>
          <a:bodyPr wrap="square" lIns="0" tIns="0" rIns="0" bIns="0" rtlCol="0" anchor="ctr"/>
          <a:lstStyle/>
          <a:p>
            <a:pPr marL="0" indent="0">
              <a:buNone/>
            </a:pPr>
            <a:r>
              <a:rPr lang="en-US" sz="900" dirty="0">
                <a:solidFill>
                  <a:srgbClr val="5E6E78"/>
                </a:solidFill>
                <a:latin typeface="Calibri" pitchFamily="34" charset="0"/>
                <a:ea typeface="Calibri" pitchFamily="34" charset="-122"/>
                <a:cs typeface="Calibri" pitchFamily="34" charset="-120"/>
              </a:rPr>
              <a:t>AMIA × Federated Learning × LDP  —  Literature &amp; Proposed Study</a:t>
            </a:r>
            <a:endParaRPr lang="en-US" sz="900" dirty="0"/>
          </a:p>
        </p:txBody>
      </p:sp>
      <p:sp>
        <p:nvSpPr>
          <p:cNvPr id="26" name="Text 23"/>
          <p:cNvSpPr/>
          <p:nvPr/>
        </p:nvSpPr>
        <p:spPr>
          <a:xfrm>
            <a:off x="11338560" y="6355080"/>
            <a:ext cx="457200" cy="320040"/>
          </a:xfrm>
          <a:prstGeom prst="rect">
            <a:avLst/>
          </a:prstGeom>
          <a:noFill/>
          <a:ln/>
        </p:spPr>
        <p:txBody>
          <a:bodyPr wrap="square" rtlCol="0" anchor="ctr"/>
          <a:lstStyle/>
          <a:p>
            <a:pPr marL="0" indent="0" algn="r">
              <a:buNone/>
            </a:pPr>
            <a:r>
              <a:rPr lang="en-US" sz="1000" dirty="0">
                <a:solidFill>
                  <a:srgbClr val="5E6E78"/>
                </a:solidFill>
                <a:latin typeface="Calibri" pitchFamily="34" charset="0"/>
                <a:ea typeface="Calibri" pitchFamily="34" charset="-122"/>
                <a:cs typeface="Calibri" pitchFamily="34" charset="-120"/>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0E2A3B"/>
        </a:solidFill>
        <a:effectLst/>
      </p:bgPr>
    </p:bg>
    <p:spTree>
      <p:nvGrpSpPr>
        <p:cNvPr id="1" name=""/>
        <p:cNvGrpSpPr/>
        <p:nvPr/>
      </p:nvGrpSpPr>
      <p:grpSpPr>
        <a:xfrm>
          <a:off x="0" y="0"/>
          <a:ext cx="0" cy="0"/>
          <a:chOff x="0" y="0"/>
          <a:chExt cx="0" cy="0"/>
        </a:xfrm>
      </p:grpSpPr>
      <p:sp>
        <p:nvSpPr>
          <p:cNvPr id="2" name="Shape 0"/>
          <p:cNvSpPr/>
          <p:nvPr/>
        </p:nvSpPr>
        <p:spPr>
          <a:xfrm>
            <a:off x="10149840" y="3429000"/>
            <a:ext cx="0" cy="0"/>
          </a:xfrm>
          <a:prstGeom prst="line">
            <a:avLst/>
          </a:prstGeom>
          <a:noFill/>
          <a:ln w="17780">
            <a:solidFill>
              <a:srgbClr val="3FC6BC">
                <a:alpha val="65000"/>
              </a:srgbClr>
            </a:solidFill>
            <a:prstDash val="solid"/>
          </a:ln>
        </p:spPr>
        <p:txBody>
          <a:bodyPr/>
          <a:lstStyle/>
          <a:p>
            <a:endParaRPr lang="en-QA"/>
          </a:p>
        </p:txBody>
      </p:sp>
      <p:sp>
        <p:nvSpPr>
          <p:cNvPr id="3" name="Shape 1"/>
          <p:cNvSpPr/>
          <p:nvPr/>
        </p:nvSpPr>
        <p:spPr>
          <a:xfrm>
            <a:off x="10149840" y="3429000"/>
            <a:ext cx="1215341" cy="0"/>
          </a:xfrm>
          <a:prstGeom prst="line">
            <a:avLst/>
          </a:prstGeom>
          <a:noFill/>
          <a:ln w="17780">
            <a:solidFill>
              <a:srgbClr val="3FC6BC">
                <a:alpha val="65000"/>
              </a:srgbClr>
            </a:solidFill>
            <a:prstDash val="solid"/>
          </a:ln>
        </p:spPr>
        <p:txBody>
          <a:bodyPr/>
          <a:lstStyle/>
          <a:p>
            <a:endParaRPr lang="en-QA"/>
          </a:p>
        </p:txBody>
      </p:sp>
      <p:sp>
        <p:nvSpPr>
          <p:cNvPr id="4" name="Shape 2"/>
          <p:cNvSpPr/>
          <p:nvPr/>
        </p:nvSpPr>
        <p:spPr>
          <a:xfrm>
            <a:off x="10149840" y="3429000"/>
            <a:ext cx="1515506" cy="345904"/>
          </a:xfrm>
          <a:prstGeom prst="line">
            <a:avLst/>
          </a:prstGeom>
          <a:noFill/>
          <a:ln w="17780">
            <a:solidFill>
              <a:srgbClr val="3FC6BC">
                <a:alpha val="65000"/>
              </a:srgbClr>
            </a:solidFill>
            <a:prstDash val="solid"/>
          </a:ln>
        </p:spPr>
        <p:txBody>
          <a:bodyPr/>
          <a:lstStyle/>
          <a:p>
            <a:endParaRPr lang="en-QA"/>
          </a:p>
        </p:txBody>
      </p:sp>
      <p:sp>
        <p:nvSpPr>
          <p:cNvPr id="5" name="Shape 3"/>
          <p:cNvSpPr/>
          <p:nvPr/>
        </p:nvSpPr>
        <p:spPr>
          <a:xfrm>
            <a:off x="10149840" y="3429000"/>
            <a:ext cx="674464" cy="1400538"/>
          </a:xfrm>
          <a:prstGeom prst="line">
            <a:avLst/>
          </a:prstGeom>
          <a:noFill/>
          <a:ln w="17780">
            <a:solidFill>
              <a:srgbClr val="3FC6BC">
                <a:alpha val="65000"/>
              </a:srgbClr>
            </a:solidFill>
            <a:prstDash val="solid"/>
          </a:ln>
        </p:spPr>
        <p:txBody>
          <a:bodyPr/>
          <a:lstStyle/>
          <a:p>
            <a:endParaRPr lang="en-QA"/>
          </a:p>
        </p:txBody>
      </p:sp>
      <p:sp>
        <p:nvSpPr>
          <p:cNvPr id="6" name="Shape 4"/>
          <p:cNvSpPr/>
          <p:nvPr/>
        </p:nvSpPr>
        <p:spPr>
          <a:xfrm>
            <a:off x="10149840" y="3429000"/>
            <a:ext cx="0" cy="1400538"/>
          </a:xfrm>
          <a:prstGeom prst="line">
            <a:avLst/>
          </a:prstGeom>
          <a:noFill/>
          <a:ln w="17780">
            <a:solidFill>
              <a:srgbClr val="3FC6BC">
                <a:alpha val="65000"/>
              </a:srgbClr>
            </a:solidFill>
            <a:prstDash val="solid"/>
          </a:ln>
        </p:spPr>
        <p:txBody>
          <a:bodyPr/>
          <a:lstStyle/>
          <a:p>
            <a:endParaRPr lang="en-QA"/>
          </a:p>
        </p:txBody>
      </p:sp>
      <p:sp>
        <p:nvSpPr>
          <p:cNvPr id="7" name="Shape 5"/>
          <p:cNvSpPr/>
          <p:nvPr/>
        </p:nvSpPr>
        <p:spPr>
          <a:xfrm>
            <a:off x="10149840" y="3429000"/>
            <a:ext cx="0" cy="345904"/>
          </a:xfrm>
          <a:prstGeom prst="line">
            <a:avLst/>
          </a:prstGeom>
          <a:noFill/>
          <a:ln w="17780">
            <a:solidFill>
              <a:srgbClr val="3FC6BC">
                <a:alpha val="65000"/>
              </a:srgbClr>
            </a:solidFill>
            <a:prstDash val="solid"/>
          </a:ln>
        </p:spPr>
        <p:txBody>
          <a:bodyPr/>
          <a:lstStyle/>
          <a:p>
            <a:endParaRPr lang="en-QA"/>
          </a:p>
        </p:txBody>
      </p:sp>
      <p:sp>
        <p:nvSpPr>
          <p:cNvPr id="8" name="Shape 6"/>
          <p:cNvSpPr/>
          <p:nvPr/>
        </p:nvSpPr>
        <p:spPr>
          <a:xfrm>
            <a:off x="10149840" y="3429000"/>
            <a:ext cx="0" cy="0"/>
          </a:xfrm>
          <a:prstGeom prst="line">
            <a:avLst/>
          </a:prstGeom>
          <a:noFill/>
          <a:ln w="17780">
            <a:solidFill>
              <a:srgbClr val="3FC6BC">
                <a:alpha val="65000"/>
              </a:srgbClr>
            </a:solidFill>
            <a:prstDash val="solid"/>
          </a:ln>
        </p:spPr>
        <p:txBody>
          <a:bodyPr/>
          <a:lstStyle/>
          <a:p>
            <a:endParaRPr lang="en-QA"/>
          </a:p>
        </p:txBody>
      </p:sp>
      <p:sp>
        <p:nvSpPr>
          <p:cNvPr id="9" name="Shape 7"/>
          <p:cNvSpPr/>
          <p:nvPr/>
        </p:nvSpPr>
        <p:spPr>
          <a:xfrm>
            <a:off x="10021824" y="1746504"/>
            <a:ext cx="256032" cy="256032"/>
          </a:xfrm>
          <a:prstGeom prst="ellipse">
            <a:avLst/>
          </a:prstGeom>
          <a:solidFill>
            <a:srgbClr val="3FC6BC"/>
          </a:solidFill>
          <a:ln/>
        </p:spPr>
        <p:txBody>
          <a:bodyPr/>
          <a:lstStyle/>
          <a:p>
            <a:endParaRPr lang="en-QA"/>
          </a:p>
        </p:txBody>
      </p:sp>
      <p:sp>
        <p:nvSpPr>
          <p:cNvPr id="10" name="Shape 8"/>
          <p:cNvSpPr/>
          <p:nvPr/>
        </p:nvSpPr>
        <p:spPr>
          <a:xfrm>
            <a:off x="11237165" y="2331782"/>
            <a:ext cx="256032" cy="256032"/>
          </a:xfrm>
          <a:prstGeom prst="ellipse">
            <a:avLst/>
          </a:prstGeom>
          <a:solidFill>
            <a:srgbClr val="3FC6BC"/>
          </a:solidFill>
          <a:ln/>
        </p:spPr>
        <p:txBody>
          <a:bodyPr/>
          <a:lstStyle/>
          <a:p>
            <a:endParaRPr lang="en-QA"/>
          </a:p>
        </p:txBody>
      </p:sp>
      <p:sp>
        <p:nvSpPr>
          <p:cNvPr id="11" name="Shape 9"/>
          <p:cNvSpPr/>
          <p:nvPr/>
        </p:nvSpPr>
        <p:spPr>
          <a:xfrm>
            <a:off x="11537330" y="3646888"/>
            <a:ext cx="256032" cy="256032"/>
          </a:xfrm>
          <a:prstGeom prst="ellipse">
            <a:avLst/>
          </a:prstGeom>
          <a:solidFill>
            <a:srgbClr val="3FC6BC"/>
          </a:solidFill>
          <a:ln/>
        </p:spPr>
        <p:txBody>
          <a:bodyPr/>
          <a:lstStyle/>
          <a:p>
            <a:endParaRPr lang="en-QA"/>
          </a:p>
        </p:txBody>
      </p:sp>
      <p:sp>
        <p:nvSpPr>
          <p:cNvPr id="12" name="Shape 10"/>
          <p:cNvSpPr/>
          <p:nvPr/>
        </p:nvSpPr>
        <p:spPr>
          <a:xfrm>
            <a:off x="10696288" y="4701522"/>
            <a:ext cx="256032" cy="256032"/>
          </a:xfrm>
          <a:prstGeom prst="ellipse">
            <a:avLst/>
          </a:prstGeom>
          <a:solidFill>
            <a:srgbClr val="3FC6BC"/>
          </a:solidFill>
          <a:ln/>
        </p:spPr>
        <p:txBody>
          <a:bodyPr/>
          <a:lstStyle/>
          <a:p>
            <a:endParaRPr lang="en-QA"/>
          </a:p>
        </p:txBody>
      </p:sp>
      <p:sp>
        <p:nvSpPr>
          <p:cNvPr id="13" name="Shape 11"/>
          <p:cNvSpPr/>
          <p:nvPr/>
        </p:nvSpPr>
        <p:spPr>
          <a:xfrm>
            <a:off x="9347360" y="4701522"/>
            <a:ext cx="256032" cy="256032"/>
          </a:xfrm>
          <a:prstGeom prst="ellipse">
            <a:avLst/>
          </a:prstGeom>
          <a:solidFill>
            <a:srgbClr val="3FC6BC"/>
          </a:solidFill>
          <a:ln/>
        </p:spPr>
        <p:txBody>
          <a:bodyPr/>
          <a:lstStyle/>
          <a:p>
            <a:endParaRPr lang="en-QA"/>
          </a:p>
        </p:txBody>
      </p:sp>
      <p:sp>
        <p:nvSpPr>
          <p:cNvPr id="14" name="Shape 12"/>
          <p:cNvSpPr/>
          <p:nvPr/>
        </p:nvSpPr>
        <p:spPr>
          <a:xfrm>
            <a:off x="8506318" y="3646888"/>
            <a:ext cx="256032" cy="256032"/>
          </a:xfrm>
          <a:prstGeom prst="ellipse">
            <a:avLst/>
          </a:prstGeom>
          <a:solidFill>
            <a:srgbClr val="3FC6BC"/>
          </a:solidFill>
          <a:ln/>
        </p:spPr>
        <p:txBody>
          <a:bodyPr/>
          <a:lstStyle/>
          <a:p>
            <a:endParaRPr lang="en-QA"/>
          </a:p>
        </p:txBody>
      </p:sp>
      <p:sp>
        <p:nvSpPr>
          <p:cNvPr id="15" name="Shape 13"/>
          <p:cNvSpPr/>
          <p:nvPr/>
        </p:nvSpPr>
        <p:spPr>
          <a:xfrm>
            <a:off x="8806483" y="2331782"/>
            <a:ext cx="256032" cy="256032"/>
          </a:xfrm>
          <a:prstGeom prst="ellipse">
            <a:avLst/>
          </a:prstGeom>
          <a:solidFill>
            <a:srgbClr val="3FC6BC"/>
          </a:solidFill>
          <a:ln/>
        </p:spPr>
        <p:txBody>
          <a:bodyPr/>
          <a:lstStyle/>
          <a:p>
            <a:endParaRPr lang="en-QA"/>
          </a:p>
        </p:txBody>
      </p:sp>
      <p:sp>
        <p:nvSpPr>
          <p:cNvPr id="16" name="Shape 14"/>
          <p:cNvSpPr/>
          <p:nvPr/>
        </p:nvSpPr>
        <p:spPr>
          <a:xfrm>
            <a:off x="9902952" y="3182112"/>
            <a:ext cx="493776" cy="493776"/>
          </a:xfrm>
          <a:prstGeom prst="ellipse">
            <a:avLst/>
          </a:prstGeom>
          <a:solidFill>
            <a:srgbClr val="E8A04C"/>
          </a:solidFill>
          <a:ln/>
          <a:effectLst>
            <a:outerShdw blurRad="88900" dist="38100" dir="5400000" algn="bl" rotWithShape="0">
              <a:srgbClr val="000000">
                <a:alpha val="16000"/>
              </a:srgbClr>
            </a:outerShdw>
          </a:effectLst>
        </p:spPr>
        <p:txBody>
          <a:bodyPr/>
          <a:lstStyle/>
          <a:p>
            <a:endParaRPr lang="en-QA"/>
          </a:p>
        </p:txBody>
      </p:sp>
      <p:sp>
        <p:nvSpPr>
          <p:cNvPr id="17" name="Text 15"/>
          <p:cNvSpPr/>
          <p:nvPr/>
        </p:nvSpPr>
        <p:spPr>
          <a:xfrm>
            <a:off x="731520" y="2286000"/>
            <a:ext cx="5486400" cy="457200"/>
          </a:xfrm>
          <a:prstGeom prst="rect">
            <a:avLst/>
          </a:prstGeom>
          <a:noFill/>
          <a:ln/>
        </p:spPr>
        <p:txBody>
          <a:bodyPr wrap="square" lIns="0" tIns="0" rIns="0" bIns="0" rtlCol="0" anchor="ctr"/>
          <a:lstStyle/>
          <a:p>
            <a:pPr marL="0" indent="0">
              <a:buNone/>
            </a:pPr>
            <a:r>
              <a:rPr lang="en-US" sz="1500" b="1" kern="0" spc="300" dirty="0">
                <a:solidFill>
                  <a:srgbClr val="3FC6BC"/>
                </a:solidFill>
                <a:latin typeface="Calibri" pitchFamily="34" charset="0"/>
                <a:ea typeface="Calibri" pitchFamily="34" charset="-122"/>
                <a:cs typeface="Calibri" pitchFamily="34" charset="-120"/>
              </a:rPr>
              <a:t>SECTION 1</a:t>
            </a:r>
            <a:endParaRPr lang="en-US" sz="1500" dirty="0"/>
          </a:p>
        </p:txBody>
      </p:sp>
      <p:sp>
        <p:nvSpPr>
          <p:cNvPr id="18" name="Text 16"/>
          <p:cNvSpPr/>
          <p:nvPr/>
        </p:nvSpPr>
        <p:spPr>
          <a:xfrm>
            <a:off x="731520" y="2743200"/>
            <a:ext cx="7863840" cy="1463040"/>
          </a:xfrm>
          <a:prstGeom prst="rect">
            <a:avLst/>
          </a:prstGeom>
          <a:noFill/>
          <a:ln/>
        </p:spPr>
        <p:txBody>
          <a:bodyPr wrap="square" lIns="0" tIns="0" rIns="0" bIns="0" rtlCol="0" anchor="ctr"/>
          <a:lstStyle/>
          <a:p>
            <a:pPr marL="0" indent="0">
              <a:lnSpc>
                <a:spcPct val="100000"/>
              </a:lnSpc>
              <a:buNone/>
            </a:pPr>
            <a:r>
              <a:rPr lang="en-US" sz="4000" b="1" dirty="0">
                <a:solidFill>
                  <a:srgbClr val="FFFFFF"/>
                </a:solidFill>
                <a:latin typeface="Cambria" pitchFamily="34" charset="0"/>
                <a:ea typeface="Cambria" pitchFamily="34" charset="-122"/>
                <a:cs typeface="Cambria" pitchFamily="34" charset="-120"/>
              </a:rPr>
              <a:t>Summary of the Main Paper</a:t>
            </a:r>
            <a:endParaRPr lang="en-US" sz="4000" dirty="0"/>
          </a:p>
        </p:txBody>
      </p:sp>
      <p:sp>
        <p:nvSpPr>
          <p:cNvPr id="19" name="Text 17"/>
          <p:cNvSpPr/>
          <p:nvPr/>
        </p:nvSpPr>
        <p:spPr>
          <a:xfrm>
            <a:off x="749808" y="4160520"/>
            <a:ext cx="7498080" cy="914400"/>
          </a:xfrm>
          <a:prstGeom prst="rect">
            <a:avLst/>
          </a:prstGeom>
          <a:noFill/>
          <a:ln/>
        </p:spPr>
        <p:txBody>
          <a:bodyPr wrap="square" lIns="0" tIns="0" rIns="0" bIns="0" rtlCol="0" anchor="ctr"/>
          <a:lstStyle/>
          <a:p>
            <a:pPr marL="0" indent="0">
              <a:lnSpc>
                <a:spcPct val="105000"/>
              </a:lnSpc>
              <a:buNone/>
            </a:pPr>
            <a:r>
              <a:rPr lang="en-US" sz="1500" dirty="0">
                <a:solidFill>
                  <a:srgbClr val="C5D3D8"/>
                </a:solidFill>
                <a:latin typeface="Calibri" pitchFamily="34" charset="0"/>
                <a:ea typeface="Calibri" pitchFamily="34" charset="-122"/>
                <a:cs typeface="Calibri" pitchFamily="34" charset="-120"/>
              </a:rPr>
              <a:t>Nguyen et al., AISTATS 2023 — Active Membership Inference under Local Differential Privacy in Federated Learning.</a:t>
            </a:r>
            <a:endParaRPr lang="en-US" sz="1500" dirty="0"/>
          </a:p>
        </p:txBody>
      </p:sp>
      <p:sp>
        <p:nvSpPr>
          <p:cNvPr id="20" name="Shape 18"/>
          <p:cNvSpPr/>
          <p:nvPr/>
        </p:nvSpPr>
        <p:spPr>
          <a:xfrm>
            <a:off x="731520" y="1371600"/>
            <a:ext cx="731520" cy="731520"/>
          </a:xfrm>
          <a:prstGeom prst="ellipse">
            <a:avLst/>
          </a:prstGeom>
          <a:solidFill>
            <a:srgbClr val="0E8C8C"/>
          </a:solidFill>
          <a:ln/>
          <a:effectLst>
            <a:outerShdw blurRad="88900" dist="38100" dir="5400000" algn="bl" rotWithShape="0">
              <a:srgbClr val="000000">
                <a:alpha val="16000"/>
              </a:srgbClr>
            </a:outerShdw>
          </a:effectLst>
        </p:spPr>
        <p:txBody>
          <a:bodyPr/>
          <a:lstStyle/>
          <a:p>
            <a:endParaRPr lang="en-QA"/>
          </a:p>
        </p:txBody>
      </p:sp>
      <p:pic>
        <p:nvPicPr>
          <p:cNvPr id="21" name="Image 0" descr="preencoded.png"/>
          <p:cNvPicPr>
            <a:picLocks noChangeAspect="1"/>
          </p:cNvPicPr>
          <p:nvPr/>
        </p:nvPicPr>
        <p:blipFill>
          <a:blip r:embed="rId3"/>
          <a:stretch>
            <a:fillRect/>
          </a:stretch>
        </p:blipFill>
        <p:spPr>
          <a:xfrm>
            <a:off x="921715" y="1561795"/>
            <a:ext cx="351130" cy="351130"/>
          </a:xfrm>
          <a:prstGeom prst="rect">
            <a:avLst/>
          </a:prstGeom>
        </p:spPr>
      </p:pic>
      <p:sp>
        <p:nvSpPr>
          <p:cNvPr id="23" name="Shape 19"/>
          <p:cNvSpPr/>
          <p:nvPr/>
        </p:nvSpPr>
        <p:spPr>
          <a:xfrm>
            <a:off x="548640" y="6464808"/>
            <a:ext cx="109728" cy="109728"/>
          </a:xfrm>
          <a:prstGeom prst="ellipse">
            <a:avLst/>
          </a:prstGeom>
          <a:solidFill>
            <a:srgbClr val="0E8C8C"/>
          </a:solidFill>
          <a:ln/>
        </p:spPr>
        <p:txBody>
          <a:bodyPr/>
          <a:lstStyle/>
          <a:p>
            <a:endParaRPr lang="en-QA"/>
          </a:p>
        </p:txBody>
      </p:sp>
      <p:sp>
        <p:nvSpPr>
          <p:cNvPr id="24" name="Text 20"/>
          <p:cNvSpPr/>
          <p:nvPr/>
        </p:nvSpPr>
        <p:spPr>
          <a:xfrm>
            <a:off x="749808" y="6355080"/>
            <a:ext cx="8229600" cy="320040"/>
          </a:xfrm>
          <a:prstGeom prst="rect">
            <a:avLst/>
          </a:prstGeom>
          <a:noFill/>
          <a:ln/>
        </p:spPr>
        <p:txBody>
          <a:bodyPr wrap="square" lIns="0" tIns="0" rIns="0" bIns="0" rtlCol="0" anchor="ctr"/>
          <a:lstStyle/>
          <a:p>
            <a:pPr marL="0" indent="0">
              <a:buNone/>
            </a:pPr>
            <a:r>
              <a:rPr lang="en-US" sz="900" dirty="0">
                <a:solidFill>
                  <a:srgbClr val="5E6E78"/>
                </a:solidFill>
                <a:latin typeface="Calibri" pitchFamily="34" charset="0"/>
                <a:ea typeface="Calibri" pitchFamily="34" charset="-122"/>
                <a:cs typeface="Calibri" pitchFamily="34" charset="-120"/>
              </a:rPr>
              <a:t>AMIA × Federated Learning × LDP  —  Literature &amp; Proposed Study</a:t>
            </a:r>
            <a:endParaRPr lang="en-US" sz="900" dirty="0"/>
          </a:p>
        </p:txBody>
      </p:sp>
      <p:sp>
        <p:nvSpPr>
          <p:cNvPr id="25" name="Text 21"/>
          <p:cNvSpPr/>
          <p:nvPr/>
        </p:nvSpPr>
        <p:spPr>
          <a:xfrm>
            <a:off x="11338560" y="6355080"/>
            <a:ext cx="457200" cy="320040"/>
          </a:xfrm>
          <a:prstGeom prst="rect">
            <a:avLst/>
          </a:prstGeom>
          <a:noFill/>
          <a:ln/>
        </p:spPr>
        <p:txBody>
          <a:bodyPr wrap="square" rtlCol="0" anchor="ctr"/>
          <a:lstStyle/>
          <a:p>
            <a:pPr marL="0" indent="0" algn="r">
              <a:buNone/>
            </a:pPr>
            <a:r>
              <a:rPr lang="en-US" sz="1000" dirty="0">
                <a:solidFill>
                  <a:srgbClr val="5E6E78"/>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566928"/>
            <a:ext cx="128016" cy="128016"/>
          </a:xfrm>
          <a:prstGeom prst="ellipse">
            <a:avLst/>
          </a:prstGeom>
          <a:solidFill>
            <a:srgbClr val="0E8C8C"/>
          </a:solidFill>
          <a:ln/>
        </p:spPr>
        <p:txBody>
          <a:bodyPr/>
          <a:lstStyle/>
          <a:p>
            <a:endParaRPr lang="en-QA"/>
          </a:p>
        </p:txBody>
      </p:sp>
      <p:sp>
        <p:nvSpPr>
          <p:cNvPr id="3" name="Text 1"/>
          <p:cNvSpPr/>
          <p:nvPr/>
        </p:nvSpPr>
        <p:spPr>
          <a:xfrm>
            <a:off x="777240" y="457200"/>
            <a:ext cx="10515600" cy="320040"/>
          </a:xfrm>
          <a:prstGeom prst="rect">
            <a:avLst/>
          </a:prstGeom>
          <a:noFill/>
          <a:ln/>
        </p:spPr>
        <p:txBody>
          <a:bodyPr wrap="square" lIns="0" tIns="0" rIns="0" bIns="0" rtlCol="0" anchor="ctr"/>
          <a:lstStyle/>
          <a:p>
            <a:pPr marL="0" indent="0">
              <a:buNone/>
            </a:pPr>
            <a:r>
              <a:rPr lang="en-US" sz="1200" b="1" kern="0" spc="200" dirty="0">
                <a:solidFill>
                  <a:srgbClr val="0E8C8C"/>
                </a:solidFill>
                <a:latin typeface="Calibri" pitchFamily="34" charset="0"/>
                <a:ea typeface="Calibri" pitchFamily="34" charset="-122"/>
                <a:cs typeface="Calibri" pitchFamily="34" charset="-120"/>
              </a:rPr>
              <a:t>SECTION 1 · THE PAPER</a:t>
            </a:r>
            <a:endParaRPr lang="en-US" sz="1200" dirty="0"/>
          </a:p>
        </p:txBody>
      </p:sp>
      <p:sp>
        <p:nvSpPr>
          <p:cNvPr id="4" name="Text 2"/>
          <p:cNvSpPr/>
          <p:nvPr/>
        </p:nvSpPr>
        <p:spPr>
          <a:xfrm>
            <a:off x="548640" y="768096"/>
            <a:ext cx="11064240" cy="868680"/>
          </a:xfrm>
          <a:prstGeom prst="rect">
            <a:avLst/>
          </a:prstGeom>
          <a:noFill/>
          <a:ln/>
        </p:spPr>
        <p:txBody>
          <a:bodyPr wrap="square" lIns="0" tIns="0" rIns="0" bIns="0" rtlCol="0" anchor="ctr"/>
          <a:lstStyle/>
          <a:p>
            <a:pPr marL="0" indent="0">
              <a:buNone/>
            </a:pPr>
            <a:r>
              <a:rPr lang="en-US" sz="3000" b="1" dirty="0">
                <a:solidFill>
                  <a:srgbClr val="1A2733"/>
                </a:solidFill>
                <a:latin typeface="Cambria" pitchFamily="34" charset="0"/>
                <a:ea typeface="Cambria" pitchFamily="34" charset="-122"/>
                <a:cs typeface="Cambria" pitchFamily="34" charset="-120"/>
              </a:rPr>
              <a:t>The paper at a glance — and the problem it attacks</a:t>
            </a:r>
            <a:endParaRPr lang="en-US" sz="3000" dirty="0"/>
          </a:p>
        </p:txBody>
      </p:sp>
      <p:sp>
        <p:nvSpPr>
          <p:cNvPr id="5" name="Shape 3"/>
          <p:cNvSpPr/>
          <p:nvPr/>
        </p:nvSpPr>
        <p:spPr>
          <a:xfrm>
            <a:off x="640080" y="1828800"/>
            <a:ext cx="5120640" cy="4023360"/>
          </a:xfrm>
          <a:prstGeom prst="roundRect">
            <a:avLst>
              <a:gd name="adj" fmla="val 1591"/>
            </a:avLst>
          </a:prstGeom>
          <a:solidFill>
            <a:srgbClr val="FFFFFF"/>
          </a:solidFill>
          <a:ln w="12700">
            <a:solidFill>
              <a:srgbClr val="C9D8DC"/>
            </a:solidFill>
            <a:prstDash val="solid"/>
          </a:ln>
          <a:effectLst>
            <a:outerShdw blurRad="88900" dist="38100" dir="5400000" algn="bl" rotWithShape="0">
              <a:srgbClr val="000000">
                <a:alpha val="16000"/>
              </a:srgbClr>
            </a:outerShdw>
          </a:effectLst>
        </p:spPr>
        <p:txBody>
          <a:bodyPr/>
          <a:lstStyle/>
          <a:p>
            <a:endParaRPr lang="en-QA"/>
          </a:p>
        </p:txBody>
      </p:sp>
      <p:sp>
        <p:nvSpPr>
          <p:cNvPr id="6" name="Shape 4"/>
          <p:cNvSpPr/>
          <p:nvPr/>
        </p:nvSpPr>
        <p:spPr>
          <a:xfrm>
            <a:off x="868680" y="2057400"/>
            <a:ext cx="566928" cy="566928"/>
          </a:xfrm>
          <a:prstGeom prst="ellipse">
            <a:avLst/>
          </a:prstGeom>
          <a:solidFill>
            <a:srgbClr val="0E8C8C"/>
          </a:solidFill>
          <a:ln/>
          <a:effectLst>
            <a:outerShdw blurRad="88900" dist="38100" dir="5400000" algn="bl" rotWithShape="0">
              <a:srgbClr val="000000">
                <a:alpha val="16000"/>
              </a:srgbClr>
            </a:outerShdw>
          </a:effectLst>
        </p:spPr>
        <p:txBody>
          <a:bodyPr/>
          <a:lstStyle/>
          <a:p>
            <a:endParaRPr lang="en-QA"/>
          </a:p>
        </p:txBody>
      </p:sp>
      <p:pic>
        <p:nvPicPr>
          <p:cNvPr id="7" name="Image 0" descr="preencoded.png"/>
          <p:cNvPicPr>
            <a:picLocks noChangeAspect="1"/>
          </p:cNvPicPr>
          <p:nvPr/>
        </p:nvPicPr>
        <p:blipFill>
          <a:blip r:embed="rId3"/>
          <a:stretch>
            <a:fillRect/>
          </a:stretch>
        </p:blipFill>
        <p:spPr>
          <a:xfrm>
            <a:off x="1016081" y="2204801"/>
            <a:ext cx="272125" cy="272125"/>
          </a:xfrm>
          <a:prstGeom prst="rect">
            <a:avLst/>
          </a:prstGeom>
        </p:spPr>
      </p:pic>
      <p:sp>
        <p:nvSpPr>
          <p:cNvPr id="8" name="Text 5"/>
          <p:cNvSpPr/>
          <p:nvPr/>
        </p:nvSpPr>
        <p:spPr>
          <a:xfrm>
            <a:off x="1572768" y="2084832"/>
            <a:ext cx="4023360" cy="502920"/>
          </a:xfrm>
          <a:prstGeom prst="rect">
            <a:avLst/>
          </a:prstGeom>
          <a:noFill/>
          <a:ln/>
        </p:spPr>
        <p:txBody>
          <a:bodyPr wrap="square" lIns="0" tIns="0" rIns="0" bIns="0" rtlCol="0" anchor="ctr"/>
          <a:lstStyle/>
          <a:p>
            <a:pPr marL="0" indent="0">
              <a:buNone/>
            </a:pPr>
            <a:r>
              <a:rPr lang="en-US" sz="1550" b="1" dirty="0">
                <a:solidFill>
                  <a:srgbClr val="1A2733"/>
                </a:solidFill>
                <a:latin typeface="Cambria" pitchFamily="34" charset="0"/>
                <a:ea typeface="Cambria" pitchFamily="34" charset="-122"/>
                <a:cs typeface="Cambria" pitchFamily="34" charset="-120"/>
              </a:rPr>
              <a:t>Nguyen et al. (2023)</a:t>
            </a:r>
            <a:endParaRPr lang="en-US" sz="1550" dirty="0"/>
          </a:p>
        </p:txBody>
      </p:sp>
      <p:sp>
        <p:nvSpPr>
          <p:cNvPr id="9" name="Text 6"/>
          <p:cNvSpPr/>
          <p:nvPr/>
        </p:nvSpPr>
        <p:spPr>
          <a:xfrm>
            <a:off x="896112" y="2788920"/>
            <a:ext cx="4617720" cy="2971800"/>
          </a:xfrm>
          <a:prstGeom prst="rect">
            <a:avLst/>
          </a:prstGeom>
          <a:noFill/>
          <a:ln/>
        </p:spPr>
        <p:txBody>
          <a:bodyPr wrap="square" lIns="0" tIns="0" rIns="0" bIns="0" rtlCol="0" anchor="ctr"/>
          <a:lstStyle/>
          <a:p>
            <a:pPr marL="0" indent="0">
              <a:lnSpc>
                <a:spcPct val="112000"/>
              </a:lnSpc>
              <a:buNone/>
            </a:pPr>
            <a:r>
              <a:rPr lang="en-US" sz="1250" b="1" dirty="0">
                <a:solidFill>
                  <a:srgbClr val="1A2733"/>
                </a:solidFill>
                <a:latin typeface="Calibri" pitchFamily="34" charset="0"/>
                <a:ea typeface="Calibri" pitchFamily="34" charset="-122"/>
                <a:cs typeface="Calibri" pitchFamily="34" charset="-120"/>
              </a:rPr>
              <a:t>Venue:  </a:t>
            </a:r>
            <a:r>
              <a:rPr lang="en-US" sz="1250" dirty="0">
                <a:solidFill>
                  <a:srgbClr val="5E6E78"/>
                </a:solidFill>
                <a:latin typeface="Calibri" pitchFamily="34" charset="0"/>
                <a:ea typeface="Calibri" pitchFamily="34" charset="-122"/>
                <a:cs typeface="Calibri" pitchFamily="34" charset="-120"/>
              </a:rPr>
              <a:t>AISTATS 2023 (PMLR vol. 206)
</a:t>
            </a:r>
            <a:r>
              <a:rPr lang="en-US" sz="1250" b="1" dirty="0">
                <a:solidFill>
                  <a:srgbClr val="1A2733"/>
                </a:solidFill>
                <a:latin typeface="Calibri" pitchFamily="34" charset="0"/>
                <a:ea typeface="Calibri" pitchFamily="34" charset="-122"/>
                <a:cs typeface="Calibri" pitchFamily="34" charset="-120"/>
              </a:rPr>
              <a:t>Authors:  </a:t>
            </a:r>
            <a:r>
              <a:rPr lang="en-US" sz="1250" dirty="0">
                <a:solidFill>
                  <a:srgbClr val="5E6E78"/>
                </a:solidFill>
                <a:latin typeface="Calibri" pitchFamily="34" charset="0"/>
                <a:ea typeface="Calibri" pitchFamily="34" charset="-122"/>
                <a:cs typeface="Calibri" pitchFamily="34" charset="-120"/>
              </a:rPr>
              <a:t>T. Nguyen, P. Lai, K. Tran, N. Phan, M. T. Thai
</a:t>
            </a:r>
            <a:r>
              <a:rPr lang="en-US" sz="1250" b="1" dirty="0">
                <a:solidFill>
                  <a:srgbClr val="1A2733"/>
                </a:solidFill>
                <a:latin typeface="Calibri" pitchFamily="34" charset="0"/>
                <a:ea typeface="Calibri" pitchFamily="34" charset="-122"/>
                <a:cs typeface="Calibri" pitchFamily="34" charset="-120"/>
              </a:rPr>
              <a:t>Code:  </a:t>
            </a:r>
            <a:r>
              <a:rPr lang="en-US" sz="1250" dirty="0">
                <a:solidFill>
                  <a:srgbClr val="0E8C8C"/>
                </a:solidFill>
                <a:latin typeface="Calibri" pitchFamily="34" charset="0"/>
                <a:ea typeface="Calibri" pitchFamily="34" charset="-122"/>
                <a:cs typeface="Calibri" pitchFamily="34" charset="-120"/>
              </a:rPr>
              <a:t>github.com/trucndt/ami
</a:t>
            </a:r>
            <a:r>
              <a:rPr lang="en-US" sz="1250" b="1" dirty="0">
                <a:solidFill>
                  <a:srgbClr val="1A2733"/>
                </a:solidFill>
                <a:latin typeface="Calibri" pitchFamily="34" charset="0"/>
                <a:ea typeface="Calibri" pitchFamily="34" charset="-122"/>
                <a:cs typeface="Calibri" pitchFamily="34" charset="-120"/>
              </a:rPr>
              <a:t>Claim:  </a:t>
            </a:r>
            <a:r>
              <a:rPr lang="en-US" sz="1250" dirty="0">
                <a:solidFill>
                  <a:srgbClr val="5E6E78"/>
                </a:solidFill>
                <a:latin typeface="Calibri" pitchFamily="34" charset="0"/>
                <a:ea typeface="Calibri" pitchFamily="34" charset="-122"/>
                <a:cs typeface="Calibri" pitchFamily="34" charset="-120"/>
              </a:rPr>
              <a:t>A malicious federated-learning server can tell whether a specific record was in a client’s private training data — even when the client protects it with Local Differential Privacy.</a:t>
            </a:r>
            <a:endParaRPr lang="en-US" sz="1250" dirty="0"/>
          </a:p>
        </p:txBody>
      </p:sp>
      <p:sp>
        <p:nvSpPr>
          <p:cNvPr id="10" name="Text 7"/>
          <p:cNvSpPr/>
          <p:nvPr/>
        </p:nvSpPr>
        <p:spPr>
          <a:xfrm>
            <a:off x="6126480" y="1874520"/>
            <a:ext cx="5486400" cy="457200"/>
          </a:xfrm>
          <a:prstGeom prst="rect">
            <a:avLst/>
          </a:prstGeom>
          <a:noFill/>
          <a:ln/>
        </p:spPr>
        <p:txBody>
          <a:bodyPr wrap="square" lIns="0" tIns="0" rIns="0" bIns="0" rtlCol="0" anchor="ctr"/>
          <a:lstStyle/>
          <a:p>
            <a:pPr marL="0" indent="0">
              <a:buNone/>
            </a:pPr>
            <a:r>
              <a:rPr lang="en-US" sz="1800" b="1" dirty="0">
                <a:solidFill>
                  <a:srgbClr val="1A2733"/>
                </a:solidFill>
                <a:latin typeface="Cambria" pitchFamily="34" charset="0"/>
                <a:ea typeface="Cambria" pitchFamily="34" charset="-122"/>
                <a:cs typeface="Cambria" pitchFamily="34" charset="-120"/>
              </a:rPr>
              <a:t>The gap it targets</a:t>
            </a:r>
            <a:endParaRPr lang="en-US" sz="1800" dirty="0"/>
          </a:p>
        </p:txBody>
      </p:sp>
      <p:sp>
        <p:nvSpPr>
          <p:cNvPr id="11" name="Shape 8"/>
          <p:cNvSpPr/>
          <p:nvPr/>
        </p:nvSpPr>
        <p:spPr>
          <a:xfrm>
            <a:off x="6126480" y="2423160"/>
            <a:ext cx="548640" cy="548640"/>
          </a:xfrm>
          <a:prstGeom prst="ellipse">
            <a:avLst/>
          </a:prstGeom>
          <a:solidFill>
            <a:srgbClr val="E8A04C"/>
          </a:solidFill>
          <a:ln/>
          <a:effectLst>
            <a:outerShdw blurRad="88900" dist="38100" dir="5400000" algn="bl" rotWithShape="0">
              <a:srgbClr val="000000">
                <a:alpha val="16000"/>
              </a:srgbClr>
            </a:outerShdw>
          </a:effectLst>
        </p:spPr>
        <p:txBody>
          <a:bodyPr/>
          <a:lstStyle/>
          <a:p>
            <a:endParaRPr lang="en-QA"/>
          </a:p>
        </p:txBody>
      </p:sp>
      <p:pic>
        <p:nvPicPr>
          <p:cNvPr id="12" name="Image 1" descr="preencoded.png"/>
          <p:cNvPicPr>
            <a:picLocks noChangeAspect="1"/>
          </p:cNvPicPr>
          <p:nvPr/>
        </p:nvPicPr>
        <p:blipFill>
          <a:blip r:embed="rId4"/>
          <a:stretch>
            <a:fillRect/>
          </a:stretch>
        </p:blipFill>
        <p:spPr>
          <a:xfrm>
            <a:off x="6269126" y="2565806"/>
            <a:ext cx="263347" cy="263347"/>
          </a:xfrm>
          <a:prstGeom prst="rect">
            <a:avLst/>
          </a:prstGeom>
        </p:spPr>
      </p:pic>
      <p:sp>
        <p:nvSpPr>
          <p:cNvPr id="13" name="Text 9"/>
          <p:cNvSpPr/>
          <p:nvPr/>
        </p:nvSpPr>
        <p:spPr>
          <a:xfrm>
            <a:off x="6812280" y="2404872"/>
            <a:ext cx="4754880" cy="365760"/>
          </a:xfrm>
          <a:prstGeom prst="rect">
            <a:avLst/>
          </a:prstGeom>
          <a:noFill/>
          <a:ln/>
        </p:spPr>
        <p:txBody>
          <a:bodyPr wrap="square" lIns="0" tIns="0" rIns="0" bIns="0" rtlCol="0" anchor="ctr"/>
          <a:lstStyle/>
          <a:p>
            <a:pPr marL="0" indent="0">
              <a:buNone/>
            </a:pPr>
            <a:r>
              <a:rPr lang="en-US" sz="1400" b="1" dirty="0">
                <a:solidFill>
                  <a:srgbClr val="1A2733"/>
                </a:solidFill>
                <a:latin typeface="Calibri" pitchFamily="34" charset="0"/>
                <a:ea typeface="Calibri" pitchFamily="34" charset="-122"/>
                <a:cs typeface="Calibri" pitchFamily="34" charset="-120"/>
              </a:rPr>
              <a:t>LDP was assumed to be a defense</a:t>
            </a:r>
            <a:endParaRPr lang="en-US" sz="1400" dirty="0"/>
          </a:p>
        </p:txBody>
      </p:sp>
      <p:sp>
        <p:nvSpPr>
          <p:cNvPr id="14" name="Text 10"/>
          <p:cNvSpPr/>
          <p:nvPr/>
        </p:nvSpPr>
        <p:spPr>
          <a:xfrm>
            <a:off x="6812280" y="2770632"/>
            <a:ext cx="4754880" cy="731520"/>
          </a:xfrm>
          <a:prstGeom prst="rect">
            <a:avLst/>
          </a:prstGeom>
          <a:noFill/>
          <a:ln/>
        </p:spPr>
        <p:txBody>
          <a:bodyPr wrap="square" lIns="0" tIns="0" rIns="0" bIns="0" rtlCol="0" anchor="ctr"/>
          <a:lstStyle/>
          <a:p>
            <a:pPr marL="0" indent="0">
              <a:lnSpc>
                <a:spcPct val="104000"/>
              </a:lnSpc>
              <a:buNone/>
            </a:pPr>
            <a:r>
              <a:rPr lang="en-US" sz="1200" dirty="0">
                <a:solidFill>
                  <a:srgbClr val="5E6E78"/>
                </a:solidFill>
                <a:latin typeface="Calibri" pitchFamily="34" charset="0"/>
                <a:ea typeface="Calibri" pitchFamily="34" charset="-122"/>
                <a:cs typeface="Calibri" pitchFamily="34" charset="-120"/>
              </a:rPr>
              <a:t>Prior work suggested Local Differential Privacy blocks membership-inference attacks in federated learning.</a:t>
            </a:r>
            <a:endParaRPr lang="en-US" sz="1200" dirty="0"/>
          </a:p>
        </p:txBody>
      </p:sp>
      <p:sp>
        <p:nvSpPr>
          <p:cNvPr id="15" name="Shape 11"/>
          <p:cNvSpPr/>
          <p:nvPr/>
        </p:nvSpPr>
        <p:spPr>
          <a:xfrm>
            <a:off x="6126480" y="3630168"/>
            <a:ext cx="548640" cy="548640"/>
          </a:xfrm>
          <a:prstGeom prst="ellipse">
            <a:avLst/>
          </a:prstGeom>
          <a:solidFill>
            <a:srgbClr val="E8A04C"/>
          </a:solidFill>
          <a:ln/>
          <a:effectLst>
            <a:outerShdw blurRad="88900" dist="38100" dir="5400000" algn="bl" rotWithShape="0">
              <a:srgbClr val="000000">
                <a:alpha val="16000"/>
              </a:srgbClr>
            </a:outerShdw>
          </a:effectLst>
        </p:spPr>
        <p:txBody>
          <a:bodyPr/>
          <a:lstStyle/>
          <a:p>
            <a:endParaRPr lang="en-QA"/>
          </a:p>
        </p:txBody>
      </p:sp>
      <p:pic>
        <p:nvPicPr>
          <p:cNvPr id="16" name="Image 2" descr="preencoded.png"/>
          <p:cNvPicPr>
            <a:picLocks noChangeAspect="1"/>
          </p:cNvPicPr>
          <p:nvPr/>
        </p:nvPicPr>
        <p:blipFill>
          <a:blip r:embed="rId5"/>
          <a:stretch>
            <a:fillRect/>
          </a:stretch>
        </p:blipFill>
        <p:spPr>
          <a:xfrm>
            <a:off x="6269126" y="3772814"/>
            <a:ext cx="263347" cy="263347"/>
          </a:xfrm>
          <a:prstGeom prst="rect">
            <a:avLst/>
          </a:prstGeom>
        </p:spPr>
      </p:pic>
      <p:sp>
        <p:nvSpPr>
          <p:cNvPr id="17" name="Text 12"/>
          <p:cNvSpPr/>
          <p:nvPr/>
        </p:nvSpPr>
        <p:spPr>
          <a:xfrm>
            <a:off x="6812280" y="3611880"/>
            <a:ext cx="4754880" cy="365760"/>
          </a:xfrm>
          <a:prstGeom prst="rect">
            <a:avLst/>
          </a:prstGeom>
          <a:noFill/>
          <a:ln/>
        </p:spPr>
        <p:txBody>
          <a:bodyPr wrap="square" lIns="0" tIns="0" rIns="0" bIns="0" rtlCol="0" anchor="ctr"/>
          <a:lstStyle/>
          <a:p>
            <a:pPr marL="0" indent="0">
              <a:buNone/>
            </a:pPr>
            <a:r>
              <a:rPr lang="en-US" sz="1400" b="1" dirty="0">
                <a:solidFill>
                  <a:srgbClr val="1A2733"/>
                </a:solidFill>
                <a:latin typeface="Calibri" pitchFamily="34" charset="0"/>
                <a:ea typeface="Calibri" pitchFamily="34" charset="-122"/>
                <a:cs typeface="Calibri" pitchFamily="34" charset="-120"/>
              </a:rPr>
              <a:t>The assumption is too optimistic</a:t>
            </a:r>
            <a:endParaRPr lang="en-US" sz="1400" dirty="0"/>
          </a:p>
        </p:txBody>
      </p:sp>
      <p:sp>
        <p:nvSpPr>
          <p:cNvPr id="18" name="Text 13"/>
          <p:cNvSpPr/>
          <p:nvPr/>
        </p:nvSpPr>
        <p:spPr>
          <a:xfrm>
            <a:off x="6812280" y="3977640"/>
            <a:ext cx="4754880" cy="731520"/>
          </a:xfrm>
          <a:prstGeom prst="rect">
            <a:avLst/>
          </a:prstGeom>
          <a:noFill/>
          <a:ln/>
        </p:spPr>
        <p:txBody>
          <a:bodyPr wrap="square" lIns="0" tIns="0" rIns="0" bIns="0" rtlCol="0" anchor="ctr"/>
          <a:lstStyle/>
          <a:p>
            <a:pPr marL="0" indent="0">
              <a:lnSpc>
                <a:spcPct val="104000"/>
              </a:lnSpc>
              <a:buNone/>
            </a:pPr>
            <a:r>
              <a:rPr lang="en-US" sz="1200" dirty="0">
                <a:solidFill>
                  <a:srgbClr val="5E6E78"/>
                </a:solidFill>
                <a:latin typeface="Calibri" pitchFamily="34" charset="0"/>
                <a:ea typeface="Calibri" pitchFamily="34" charset="-122"/>
                <a:cs typeface="Calibri" pitchFamily="34" charset="-120"/>
              </a:rPr>
              <a:t>Earlier attacks under-exploited correlations among input features, so they understated the real privacy risk.</a:t>
            </a:r>
            <a:endParaRPr lang="en-US" sz="1200" dirty="0"/>
          </a:p>
        </p:txBody>
      </p:sp>
      <p:sp>
        <p:nvSpPr>
          <p:cNvPr id="19" name="Shape 14"/>
          <p:cNvSpPr/>
          <p:nvPr/>
        </p:nvSpPr>
        <p:spPr>
          <a:xfrm>
            <a:off x="6126480" y="4837176"/>
            <a:ext cx="548640" cy="548640"/>
          </a:xfrm>
          <a:prstGeom prst="ellipse">
            <a:avLst/>
          </a:prstGeom>
          <a:solidFill>
            <a:srgbClr val="E8A04C"/>
          </a:solidFill>
          <a:ln/>
          <a:effectLst>
            <a:outerShdw blurRad="88900" dist="38100" dir="5400000" algn="bl" rotWithShape="0">
              <a:srgbClr val="000000">
                <a:alpha val="16000"/>
              </a:srgbClr>
            </a:outerShdw>
          </a:effectLst>
        </p:spPr>
        <p:txBody>
          <a:bodyPr/>
          <a:lstStyle/>
          <a:p>
            <a:endParaRPr lang="en-QA"/>
          </a:p>
        </p:txBody>
      </p:sp>
      <p:pic>
        <p:nvPicPr>
          <p:cNvPr id="20" name="Image 3" descr="preencoded.png"/>
          <p:cNvPicPr>
            <a:picLocks noChangeAspect="1"/>
          </p:cNvPicPr>
          <p:nvPr/>
        </p:nvPicPr>
        <p:blipFill>
          <a:blip r:embed="rId6"/>
          <a:stretch>
            <a:fillRect/>
          </a:stretch>
        </p:blipFill>
        <p:spPr>
          <a:xfrm>
            <a:off x="6269126" y="4979822"/>
            <a:ext cx="263347" cy="263347"/>
          </a:xfrm>
          <a:prstGeom prst="rect">
            <a:avLst/>
          </a:prstGeom>
        </p:spPr>
      </p:pic>
      <p:sp>
        <p:nvSpPr>
          <p:cNvPr id="21" name="Text 15"/>
          <p:cNvSpPr/>
          <p:nvPr/>
        </p:nvSpPr>
        <p:spPr>
          <a:xfrm>
            <a:off x="6812280" y="4818888"/>
            <a:ext cx="4754880" cy="365760"/>
          </a:xfrm>
          <a:prstGeom prst="rect">
            <a:avLst/>
          </a:prstGeom>
          <a:noFill/>
          <a:ln/>
        </p:spPr>
        <p:txBody>
          <a:bodyPr wrap="square" lIns="0" tIns="0" rIns="0" bIns="0" rtlCol="0" anchor="ctr"/>
          <a:lstStyle/>
          <a:p>
            <a:pPr marL="0" indent="0">
              <a:buNone/>
            </a:pPr>
            <a:r>
              <a:rPr lang="en-US" sz="1400" b="1" dirty="0">
                <a:solidFill>
                  <a:srgbClr val="1A2733"/>
                </a:solidFill>
                <a:latin typeface="Calibri" pitchFamily="34" charset="0"/>
                <a:ea typeface="Calibri" pitchFamily="34" charset="-122"/>
                <a:cs typeface="Calibri" pitchFamily="34" charset="-120"/>
              </a:rPr>
              <a:t>A stronger, active attacker</a:t>
            </a:r>
            <a:endParaRPr lang="en-US" sz="1400" dirty="0"/>
          </a:p>
        </p:txBody>
      </p:sp>
      <p:sp>
        <p:nvSpPr>
          <p:cNvPr id="22" name="Text 16"/>
          <p:cNvSpPr/>
          <p:nvPr/>
        </p:nvSpPr>
        <p:spPr>
          <a:xfrm>
            <a:off x="6812280" y="5184648"/>
            <a:ext cx="4754880" cy="731520"/>
          </a:xfrm>
          <a:prstGeom prst="rect">
            <a:avLst/>
          </a:prstGeom>
          <a:noFill/>
          <a:ln/>
        </p:spPr>
        <p:txBody>
          <a:bodyPr wrap="square" lIns="0" tIns="0" rIns="0" bIns="0" rtlCol="0" anchor="ctr"/>
          <a:lstStyle/>
          <a:p>
            <a:pPr marL="0" indent="0">
              <a:lnSpc>
                <a:spcPct val="104000"/>
              </a:lnSpc>
              <a:buNone/>
            </a:pPr>
            <a:r>
              <a:rPr lang="en-US" sz="1200" dirty="0">
                <a:solidFill>
                  <a:srgbClr val="5E6E78"/>
                </a:solidFill>
                <a:latin typeface="Calibri" pitchFamily="34" charset="0"/>
                <a:ea typeface="Calibri" pitchFamily="34" charset="-122"/>
                <a:cs typeface="Calibri" pitchFamily="34" charset="-120"/>
              </a:rPr>
              <a:t>A dishonest server that edits the model can still infer membership at any privacy budget mild enough to keep the model useful.</a:t>
            </a:r>
            <a:endParaRPr lang="en-US" sz="1200" dirty="0"/>
          </a:p>
        </p:txBody>
      </p:sp>
      <p:sp>
        <p:nvSpPr>
          <p:cNvPr id="24" name="Shape 17"/>
          <p:cNvSpPr/>
          <p:nvPr/>
        </p:nvSpPr>
        <p:spPr>
          <a:xfrm>
            <a:off x="548640" y="6464808"/>
            <a:ext cx="109728" cy="109728"/>
          </a:xfrm>
          <a:prstGeom prst="ellipse">
            <a:avLst/>
          </a:prstGeom>
          <a:solidFill>
            <a:srgbClr val="0E8C8C"/>
          </a:solidFill>
          <a:ln/>
        </p:spPr>
        <p:txBody>
          <a:bodyPr/>
          <a:lstStyle/>
          <a:p>
            <a:endParaRPr lang="en-QA"/>
          </a:p>
        </p:txBody>
      </p:sp>
      <p:sp>
        <p:nvSpPr>
          <p:cNvPr id="25" name="Text 18"/>
          <p:cNvSpPr/>
          <p:nvPr/>
        </p:nvSpPr>
        <p:spPr>
          <a:xfrm>
            <a:off x="749808" y="6355080"/>
            <a:ext cx="8229600" cy="320040"/>
          </a:xfrm>
          <a:prstGeom prst="rect">
            <a:avLst/>
          </a:prstGeom>
          <a:noFill/>
          <a:ln/>
        </p:spPr>
        <p:txBody>
          <a:bodyPr wrap="square" lIns="0" tIns="0" rIns="0" bIns="0" rtlCol="0" anchor="ctr"/>
          <a:lstStyle/>
          <a:p>
            <a:pPr marL="0" indent="0">
              <a:buNone/>
            </a:pPr>
            <a:r>
              <a:rPr lang="en-US" sz="900" dirty="0">
                <a:solidFill>
                  <a:srgbClr val="5E6E78"/>
                </a:solidFill>
                <a:latin typeface="Calibri" pitchFamily="34" charset="0"/>
                <a:ea typeface="Calibri" pitchFamily="34" charset="-122"/>
                <a:cs typeface="Calibri" pitchFamily="34" charset="-120"/>
              </a:rPr>
              <a:t>AMIA × Federated Learning × LDP  —  Literature &amp; Proposed Study</a:t>
            </a:r>
            <a:endParaRPr lang="en-US" sz="900" dirty="0"/>
          </a:p>
        </p:txBody>
      </p:sp>
      <p:sp>
        <p:nvSpPr>
          <p:cNvPr id="26" name="Text 19"/>
          <p:cNvSpPr/>
          <p:nvPr/>
        </p:nvSpPr>
        <p:spPr>
          <a:xfrm>
            <a:off x="11338560" y="6355080"/>
            <a:ext cx="457200" cy="320040"/>
          </a:xfrm>
          <a:prstGeom prst="rect">
            <a:avLst/>
          </a:prstGeom>
          <a:noFill/>
          <a:ln/>
        </p:spPr>
        <p:txBody>
          <a:bodyPr wrap="square" rtlCol="0" anchor="ctr"/>
          <a:lstStyle/>
          <a:p>
            <a:pPr marL="0" indent="0" algn="r">
              <a:buNone/>
            </a:pPr>
            <a:r>
              <a:rPr lang="en-US" sz="1000" dirty="0">
                <a:solidFill>
                  <a:srgbClr val="5E6E78"/>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566928"/>
            <a:ext cx="128016" cy="128016"/>
          </a:xfrm>
          <a:prstGeom prst="ellipse">
            <a:avLst/>
          </a:prstGeom>
          <a:solidFill>
            <a:srgbClr val="0E8C8C"/>
          </a:solidFill>
          <a:ln/>
        </p:spPr>
        <p:txBody>
          <a:bodyPr/>
          <a:lstStyle/>
          <a:p>
            <a:endParaRPr lang="en-QA"/>
          </a:p>
        </p:txBody>
      </p:sp>
      <p:sp>
        <p:nvSpPr>
          <p:cNvPr id="3" name="Text 1"/>
          <p:cNvSpPr/>
          <p:nvPr/>
        </p:nvSpPr>
        <p:spPr>
          <a:xfrm>
            <a:off x="777240" y="457200"/>
            <a:ext cx="10515600" cy="320040"/>
          </a:xfrm>
          <a:prstGeom prst="rect">
            <a:avLst/>
          </a:prstGeom>
          <a:noFill/>
          <a:ln/>
        </p:spPr>
        <p:txBody>
          <a:bodyPr wrap="square" lIns="0" tIns="0" rIns="0" bIns="0" rtlCol="0" anchor="ctr"/>
          <a:lstStyle/>
          <a:p>
            <a:pPr marL="0" indent="0">
              <a:buNone/>
            </a:pPr>
            <a:r>
              <a:rPr lang="en-US" sz="1200" b="1" kern="0" spc="200" dirty="0">
                <a:solidFill>
                  <a:srgbClr val="0E8C8C"/>
                </a:solidFill>
                <a:latin typeface="Calibri" pitchFamily="34" charset="0"/>
                <a:ea typeface="Calibri" pitchFamily="34" charset="-122"/>
                <a:cs typeface="Calibri" pitchFamily="34" charset="-120"/>
              </a:rPr>
              <a:t>SECTION 1 · MECHANISM</a:t>
            </a:r>
            <a:endParaRPr lang="en-US" sz="1200" dirty="0"/>
          </a:p>
        </p:txBody>
      </p:sp>
      <p:sp>
        <p:nvSpPr>
          <p:cNvPr id="4" name="Text 2"/>
          <p:cNvSpPr/>
          <p:nvPr/>
        </p:nvSpPr>
        <p:spPr>
          <a:xfrm>
            <a:off x="548640" y="768096"/>
            <a:ext cx="11064240" cy="868680"/>
          </a:xfrm>
          <a:prstGeom prst="rect">
            <a:avLst/>
          </a:prstGeom>
          <a:noFill/>
          <a:ln/>
        </p:spPr>
        <p:txBody>
          <a:bodyPr wrap="square" lIns="0" tIns="0" rIns="0" bIns="0" rtlCol="0" anchor="ctr"/>
          <a:lstStyle/>
          <a:p>
            <a:pPr marL="0" indent="0">
              <a:buNone/>
            </a:pPr>
            <a:r>
              <a:rPr lang="en-US" sz="3000" b="1" dirty="0">
                <a:solidFill>
                  <a:srgbClr val="1A2733"/>
                </a:solidFill>
                <a:latin typeface="Cambria" pitchFamily="34" charset="0"/>
                <a:ea typeface="Cambria" pitchFamily="34" charset="-122"/>
                <a:cs typeface="Cambria" pitchFamily="34" charset="-120"/>
              </a:rPr>
              <a:t>How the attack works: a neuron that fires for one record</a:t>
            </a:r>
            <a:endParaRPr lang="en-US" sz="3000" dirty="0"/>
          </a:p>
        </p:txBody>
      </p:sp>
      <p:sp>
        <p:nvSpPr>
          <p:cNvPr id="5" name="Shape 3"/>
          <p:cNvSpPr/>
          <p:nvPr/>
        </p:nvSpPr>
        <p:spPr>
          <a:xfrm>
            <a:off x="640080" y="2011680"/>
            <a:ext cx="3383280" cy="2286000"/>
          </a:xfrm>
          <a:prstGeom prst="roundRect">
            <a:avLst>
              <a:gd name="adj" fmla="val 2800"/>
            </a:avLst>
          </a:prstGeom>
          <a:solidFill>
            <a:srgbClr val="FFFFFF"/>
          </a:solidFill>
          <a:ln w="12700">
            <a:solidFill>
              <a:srgbClr val="C9D8DC"/>
            </a:solidFill>
            <a:prstDash val="solid"/>
          </a:ln>
          <a:effectLst>
            <a:outerShdw blurRad="88900" dist="38100" dir="5400000" algn="bl" rotWithShape="0">
              <a:srgbClr val="000000">
                <a:alpha val="16000"/>
              </a:srgbClr>
            </a:outerShdw>
          </a:effectLst>
        </p:spPr>
        <p:txBody>
          <a:bodyPr/>
          <a:lstStyle/>
          <a:p>
            <a:endParaRPr lang="en-QA"/>
          </a:p>
        </p:txBody>
      </p:sp>
      <p:sp>
        <p:nvSpPr>
          <p:cNvPr id="6" name="Shape 4"/>
          <p:cNvSpPr/>
          <p:nvPr/>
        </p:nvSpPr>
        <p:spPr>
          <a:xfrm>
            <a:off x="868680" y="2240280"/>
            <a:ext cx="566928" cy="566928"/>
          </a:xfrm>
          <a:prstGeom prst="ellipse">
            <a:avLst/>
          </a:prstGeom>
          <a:solidFill>
            <a:srgbClr val="0E8C8C"/>
          </a:solidFill>
          <a:ln/>
          <a:effectLst>
            <a:outerShdw blurRad="88900" dist="38100" dir="5400000" algn="bl" rotWithShape="0">
              <a:srgbClr val="000000">
                <a:alpha val="16000"/>
              </a:srgbClr>
            </a:outerShdw>
          </a:effectLst>
        </p:spPr>
        <p:txBody>
          <a:bodyPr/>
          <a:lstStyle/>
          <a:p>
            <a:endParaRPr lang="en-QA"/>
          </a:p>
        </p:txBody>
      </p:sp>
      <p:pic>
        <p:nvPicPr>
          <p:cNvPr id="7" name="Image 0" descr="preencoded.png"/>
          <p:cNvPicPr>
            <a:picLocks noChangeAspect="1"/>
          </p:cNvPicPr>
          <p:nvPr/>
        </p:nvPicPr>
        <p:blipFill>
          <a:blip r:embed="rId3"/>
          <a:stretch>
            <a:fillRect/>
          </a:stretch>
        </p:blipFill>
        <p:spPr>
          <a:xfrm>
            <a:off x="1016081" y="2387681"/>
            <a:ext cx="272125" cy="272125"/>
          </a:xfrm>
          <a:prstGeom prst="rect">
            <a:avLst/>
          </a:prstGeom>
        </p:spPr>
      </p:pic>
      <p:sp>
        <p:nvSpPr>
          <p:cNvPr id="8" name="Text 5"/>
          <p:cNvSpPr/>
          <p:nvPr/>
        </p:nvSpPr>
        <p:spPr>
          <a:xfrm>
            <a:off x="1572768" y="2267712"/>
            <a:ext cx="2286000" cy="502920"/>
          </a:xfrm>
          <a:prstGeom prst="rect">
            <a:avLst/>
          </a:prstGeom>
          <a:noFill/>
          <a:ln/>
        </p:spPr>
        <p:txBody>
          <a:bodyPr wrap="square" lIns="0" tIns="0" rIns="0" bIns="0" rtlCol="0" anchor="ctr"/>
          <a:lstStyle/>
          <a:p>
            <a:pPr marL="0" indent="0">
              <a:buNone/>
            </a:pPr>
            <a:r>
              <a:rPr lang="en-US" sz="1550" b="1" dirty="0">
                <a:solidFill>
                  <a:srgbClr val="1A2733"/>
                </a:solidFill>
                <a:latin typeface="Cambria" pitchFamily="34" charset="0"/>
                <a:ea typeface="Cambria" pitchFamily="34" charset="-122"/>
                <a:cs typeface="Cambria" pitchFamily="34" charset="-120"/>
              </a:rPr>
              <a:t>Server crafts weights</a:t>
            </a:r>
            <a:endParaRPr lang="en-US" sz="1550" dirty="0"/>
          </a:p>
        </p:txBody>
      </p:sp>
      <p:sp>
        <p:nvSpPr>
          <p:cNvPr id="9" name="Text 6"/>
          <p:cNvSpPr/>
          <p:nvPr/>
        </p:nvSpPr>
        <p:spPr>
          <a:xfrm>
            <a:off x="896112" y="2834640"/>
            <a:ext cx="2871216" cy="1325880"/>
          </a:xfrm>
          <a:prstGeom prst="rect">
            <a:avLst/>
          </a:prstGeom>
          <a:noFill/>
          <a:ln/>
        </p:spPr>
        <p:txBody>
          <a:bodyPr wrap="square" lIns="0" tIns="0" rIns="0" bIns="0" rtlCol="0" anchor="t"/>
          <a:lstStyle/>
          <a:p>
            <a:pPr marL="0" indent="0">
              <a:lnSpc>
                <a:spcPct val="105000"/>
              </a:lnSpc>
              <a:buNone/>
            </a:pPr>
            <a:r>
              <a:rPr lang="en-US" sz="1250" dirty="0">
                <a:solidFill>
                  <a:srgbClr val="5E6E78"/>
                </a:solidFill>
                <a:latin typeface="Calibri" pitchFamily="34" charset="0"/>
                <a:ea typeface="Calibri" pitchFamily="34" charset="-122"/>
                <a:cs typeface="Calibri" pitchFamily="34" charset="-120"/>
              </a:rPr>
              <a:t>A dishonest server trains ONE “chosen” neuron so it activates only for the target record t.</a:t>
            </a:r>
            <a:endParaRPr lang="en-US" sz="1250" dirty="0"/>
          </a:p>
        </p:txBody>
      </p:sp>
      <p:sp>
        <p:nvSpPr>
          <p:cNvPr id="10" name="Shape 7"/>
          <p:cNvSpPr/>
          <p:nvPr/>
        </p:nvSpPr>
        <p:spPr>
          <a:xfrm>
            <a:off x="4069080" y="2990088"/>
            <a:ext cx="292608" cy="329184"/>
          </a:xfrm>
          <a:prstGeom prst="rtTriangle">
            <a:avLst/>
          </a:prstGeom>
          <a:solidFill>
            <a:srgbClr val="E8A04C"/>
          </a:solidFill>
          <a:ln/>
        </p:spPr>
        <p:txBody>
          <a:bodyPr/>
          <a:lstStyle/>
          <a:p>
            <a:endParaRPr lang="en-QA"/>
          </a:p>
        </p:txBody>
      </p:sp>
      <p:sp>
        <p:nvSpPr>
          <p:cNvPr id="11" name="Shape 8"/>
          <p:cNvSpPr/>
          <p:nvPr/>
        </p:nvSpPr>
        <p:spPr>
          <a:xfrm>
            <a:off x="4617720" y="2011680"/>
            <a:ext cx="3383280" cy="2286000"/>
          </a:xfrm>
          <a:prstGeom prst="roundRect">
            <a:avLst>
              <a:gd name="adj" fmla="val 2800"/>
            </a:avLst>
          </a:prstGeom>
          <a:solidFill>
            <a:srgbClr val="FFFFFF"/>
          </a:solidFill>
          <a:ln w="12700">
            <a:solidFill>
              <a:srgbClr val="C9D8DC"/>
            </a:solidFill>
            <a:prstDash val="solid"/>
          </a:ln>
          <a:effectLst>
            <a:outerShdw blurRad="88900" dist="38100" dir="5400000" algn="bl" rotWithShape="0">
              <a:srgbClr val="000000">
                <a:alpha val="16000"/>
              </a:srgbClr>
            </a:outerShdw>
          </a:effectLst>
        </p:spPr>
        <p:txBody>
          <a:bodyPr/>
          <a:lstStyle/>
          <a:p>
            <a:endParaRPr lang="en-QA"/>
          </a:p>
        </p:txBody>
      </p:sp>
      <p:sp>
        <p:nvSpPr>
          <p:cNvPr id="12" name="Shape 9"/>
          <p:cNvSpPr/>
          <p:nvPr/>
        </p:nvSpPr>
        <p:spPr>
          <a:xfrm>
            <a:off x="4846320" y="2240280"/>
            <a:ext cx="566928" cy="566928"/>
          </a:xfrm>
          <a:prstGeom prst="ellipse">
            <a:avLst/>
          </a:prstGeom>
          <a:solidFill>
            <a:srgbClr val="0E8C8C"/>
          </a:solidFill>
          <a:ln/>
          <a:effectLst>
            <a:outerShdw blurRad="88900" dist="38100" dir="5400000" algn="bl" rotWithShape="0">
              <a:srgbClr val="000000">
                <a:alpha val="16000"/>
              </a:srgbClr>
            </a:outerShdw>
          </a:effectLst>
        </p:spPr>
        <p:txBody>
          <a:bodyPr/>
          <a:lstStyle/>
          <a:p>
            <a:endParaRPr lang="en-QA"/>
          </a:p>
        </p:txBody>
      </p:sp>
      <p:pic>
        <p:nvPicPr>
          <p:cNvPr id="13" name="Image 1" descr="preencoded.png"/>
          <p:cNvPicPr>
            <a:picLocks noChangeAspect="1"/>
          </p:cNvPicPr>
          <p:nvPr/>
        </p:nvPicPr>
        <p:blipFill>
          <a:blip r:embed="rId4"/>
          <a:stretch>
            <a:fillRect/>
          </a:stretch>
        </p:blipFill>
        <p:spPr>
          <a:xfrm>
            <a:off x="4993721" y="2387681"/>
            <a:ext cx="272125" cy="272125"/>
          </a:xfrm>
          <a:prstGeom prst="rect">
            <a:avLst/>
          </a:prstGeom>
        </p:spPr>
      </p:pic>
      <p:sp>
        <p:nvSpPr>
          <p:cNvPr id="14" name="Text 10"/>
          <p:cNvSpPr/>
          <p:nvPr/>
        </p:nvSpPr>
        <p:spPr>
          <a:xfrm>
            <a:off x="5550408" y="2267712"/>
            <a:ext cx="2286000" cy="502920"/>
          </a:xfrm>
          <a:prstGeom prst="rect">
            <a:avLst/>
          </a:prstGeom>
          <a:noFill/>
          <a:ln/>
        </p:spPr>
        <p:txBody>
          <a:bodyPr wrap="square" lIns="0" tIns="0" rIns="0" bIns="0" rtlCol="0" anchor="ctr"/>
          <a:lstStyle/>
          <a:p>
            <a:pPr marL="0" indent="0">
              <a:buNone/>
            </a:pPr>
            <a:r>
              <a:rPr lang="en-US" sz="1550" b="1" dirty="0">
                <a:solidFill>
                  <a:srgbClr val="1A2733"/>
                </a:solidFill>
                <a:latin typeface="Cambria" pitchFamily="34" charset="0"/>
                <a:ea typeface="Cambria" pitchFamily="34" charset="-122"/>
                <a:cs typeface="Cambria" pitchFamily="34" charset="-120"/>
              </a:rPr>
              <a:t>Client computes gradient</a:t>
            </a:r>
            <a:endParaRPr lang="en-US" sz="1550" dirty="0"/>
          </a:p>
        </p:txBody>
      </p:sp>
      <p:sp>
        <p:nvSpPr>
          <p:cNvPr id="15" name="Text 11"/>
          <p:cNvSpPr/>
          <p:nvPr/>
        </p:nvSpPr>
        <p:spPr>
          <a:xfrm>
            <a:off x="4873752" y="2834640"/>
            <a:ext cx="2871216" cy="1325880"/>
          </a:xfrm>
          <a:prstGeom prst="rect">
            <a:avLst/>
          </a:prstGeom>
          <a:noFill/>
          <a:ln/>
        </p:spPr>
        <p:txBody>
          <a:bodyPr wrap="square" lIns="0" tIns="0" rIns="0" bIns="0" rtlCol="0" anchor="t"/>
          <a:lstStyle/>
          <a:p>
            <a:pPr marL="0" indent="0">
              <a:lnSpc>
                <a:spcPct val="105000"/>
              </a:lnSpc>
              <a:buNone/>
            </a:pPr>
            <a:r>
              <a:rPr lang="en-US" sz="1250" dirty="0">
                <a:solidFill>
                  <a:srgbClr val="5E6E78"/>
                </a:solidFill>
                <a:latin typeface="Calibri" pitchFamily="34" charset="0"/>
                <a:ea typeface="Calibri" pitchFamily="34" charset="-122"/>
                <a:cs typeface="Calibri" pitchFamily="34" charset="-120"/>
              </a:rPr>
              <a:t>The client runs FL normally on its private batch and returns an averaged gradient.</a:t>
            </a:r>
            <a:endParaRPr lang="en-US" sz="1250" dirty="0"/>
          </a:p>
        </p:txBody>
      </p:sp>
      <p:sp>
        <p:nvSpPr>
          <p:cNvPr id="16" name="Shape 12"/>
          <p:cNvSpPr/>
          <p:nvPr/>
        </p:nvSpPr>
        <p:spPr>
          <a:xfrm>
            <a:off x="8046720" y="2990088"/>
            <a:ext cx="292608" cy="329184"/>
          </a:xfrm>
          <a:prstGeom prst="rtTriangle">
            <a:avLst/>
          </a:prstGeom>
          <a:solidFill>
            <a:srgbClr val="E8A04C"/>
          </a:solidFill>
          <a:ln/>
        </p:spPr>
        <p:txBody>
          <a:bodyPr/>
          <a:lstStyle/>
          <a:p>
            <a:endParaRPr lang="en-QA"/>
          </a:p>
        </p:txBody>
      </p:sp>
      <p:sp>
        <p:nvSpPr>
          <p:cNvPr id="17" name="Shape 13"/>
          <p:cNvSpPr/>
          <p:nvPr/>
        </p:nvSpPr>
        <p:spPr>
          <a:xfrm>
            <a:off x="8595360" y="2011680"/>
            <a:ext cx="3383280" cy="2286000"/>
          </a:xfrm>
          <a:prstGeom prst="roundRect">
            <a:avLst>
              <a:gd name="adj" fmla="val 2800"/>
            </a:avLst>
          </a:prstGeom>
          <a:solidFill>
            <a:srgbClr val="FFFFFF"/>
          </a:solidFill>
          <a:ln w="12700">
            <a:solidFill>
              <a:srgbClr val="C9D8DC"/>
            </a:solidFill>
            <a:prstDash val="solid"/>
          </a:ln>
          <a:effectLst>
            <a:outerShdw blurRad="88900" dist="38100" dir="5400000" algn="bl" rotWithShape="0">
              <a:srgbClr val="000000">
                <a:alpha val="16000"/>
              </a:srgbClr>
            </a:outerShdw>
          </a:effectLst>
        </p:spPr>
        <p:txBody>
          <a:bodyPr/>
          <a:lstStyle/>
          <a:p>
            <a:endParaRPr lang="en-QA"/>
          </a:p>
        </p:txBody>
      </p:sp>
      <p:sp>
        <p:nvSpPr>
          <p:cNvPr id="18" name="Shape 14"/>
          <p:cNvSpPr/>
          <p:nvPr/>
        </p:nvSpPr>
        <p:spPr>
          <a:xfrm>
            <a:off x="8823960" y="2240280"/>
            <a:ext cx="566928" cy="566928"/>
          </a:xfrm>
          <a:prstGeom prst="ellipse">
            <a:avLst/>
          </a:prstGeom>
          <a:solidFill>
            <a:srgbClr val="D9694C"/>
          </a:solidFill>
          <a:ln/>
          <a:effectLst>
            <a:outerShdw blurRad="88900" dist="38100" dir="5400000" algn="bl" rotWithShape="0">
              <a:srgbClr val="000000">
                <a:alpha val="16000"/>
              </a:srgbClr>
            </a:outerShdw>
          </a:effectLst>
        </p:spPr>
        <p:txBody>
          <a:bodyPr/>
          <a:lstStyle/>
          <a:p>
            <a:endParaRPr lang="en-QA"/>
          </a:p>
        </p:txBody>
      </p:sp>
      <p:pic>
        <p:nvPicPr>
          <p:cNvPr id="19" name="Image 2" descr="preencoded.png"/>
          <p:cNvPicPr>
            <a:picLocks noChangeAspect="1"/>
          </p:cNvPicPr>
          <p:nvPr/>
        </p:nvPicPr>
        <p:blipFill>
          <a:blip r:embed="rId5"/>
          <a:stretch>
            <a:fillRect/>
          </a:stretch>
        </p:blipFill>
        <p:spPr>
          <a:xfrm>
            <a:off x="8971361" y="2387681"/>
            <a:ext cx="272125" cy="272125"/>
          </a:xfrm>
          <a:prstGeom prst="rect">
            <a:avLst/>
          </a:prstGeom>
        </p:spPr>
      </p:pic>
      <p:sp>
        <p:nvSpPr>
          <p:cNvPr id="20" name="Text 15"/>
          <p:cNvSpPr/>
          <p:nvPr/>
        </p:nvSpPr>
        <p:spPr>
          <a:xfrm>
            <a:off x="9528048" y="2267712"/>
            <a:ext cx="2286000" cy="502920"/>
          </a:xfrm>
          <a:prstGeom prst="rect">
            <a:avLst/>
          </a:prstGeom>
          <a:noFill/>
          <a:ln/>
        </p:spPr>
        <p:txBody>
          <a:bodyPr wrap="square" lIns="0" tIns="0" rIns="0" bIns="0" rtlCol="0" anchor="ctr"/>
          <a:lstStyle/>
          <a:p>
            <a:pPr marL="0" indent="0">
              <a:buNone/>
            </a:pPr>
            <a:r>
              <a:rPr lang="en-US" sz="1550" b="1" dirty="0">
                <a:solidFill>
                  <a:srgbClr val="1A2733"/>
                </a:solidFill>
                <a:latin typeface="Cambria" pitchFamily="34" charset="0"/>
                <a:ea typeface="Cambria" pitchFamily="34" charset="-122"/>
                <a:cs typeface="Cambria" pitchFamily="34" charset="-120"/>
              </a:rPr>
              <a:t>Server reads the signal</a:t>
            </a:r>
            <a:endParaRPr lang="en-US" sz="1550" dirty="0"/>
          </a:p>
        </p:txBody>
      </p:sp>
      <p:sp>
        <p:nvSpPr>
          <p:cNvPr id="21" name="Text 16"/>
          <p:cNvSpPr/>
          <p:nvPr/>
        </p:nvSpPr>
        <p:spPr>
          <a:xfrm>
            <a:off x="8851392" y="2834640"/>
            <a:ext cx="2871216" cy="1325880"/>
          </a:xfrm>
          <a:prstGeom prst="rect">
            <a:avLst/>
          </a:prstGeom>
          <a:noFill/>
          <a:ln/>
        </p:spPr>
        <p:txBody>
          <a:bodyPr wrap="square" lIns="0" tIns="0" rIns="0" bIns="0" rtlCol="0" anchor="t"/>
          <a:lstStyle/>
          <a:p>
            <a:pPr marL="0" indent="0">
              <a:lnSpc>
                <a:spcPct val="105000"/>
              </a:lnSpc>
              <a:buNone/>
            </a:pPr>
            <a:r>
              <a:rPr lang="en-US" sz="1250" dirty="0">
                <a:solidFill>
                  <a:srgbClr val="5E6E78"/>
                </a:solidFill>
                <a:latin typeface="Calibri" pitchFamily="34" charset="0"/>
                <a:ea typeface="Calibri" pitchFamily="34" charset="-122"/>
                <a:cs typeface="Calibri" pitchFamily="34" charset="-120"/>
              </a:rPr>
              <a:t>It inspects the chosen neuron’s gradient: non-zero ⇒ t was present; zero ⇒ t was absent.</a:t>
            </a:r>
            <a:endParaRPr lang="en-US" sz="1250" dirty="0"/>
          </a:p>
        </p:txBody>
      </p:sp>
      <p:sp>
        <p:nvSpPr>
          <p:cNvPr id="22" name="Shape 17"/>
          <p:cNvSpPr/>
          <p:nvPr/>
        </p:nvSpPr>
        <p:spPr>
          <a:xfrm>
            <a:off x="640080" y="4617720"/>
            <a:ext cx="10881360" cy="1325880"/>
          </a:xfrm>
          <a:prstGeom prst="roundRect">
            <a:avLst>
              <a:gd name="adj" fmla="val 5517"/>
            </a:avLst>
          </a:prstGeom>
          <a:solidFill>
            <a:srgbClr val="0E2A3B"/>
          </a:solidFill>
          <a:ln/>
        </p:spPr>
        <p:txBody>
          <a:bodyPr/>
          <a:lstStyle/>
          <a:p>
            <a:endParaRPr lang="en-QA"/>
          </a:p>
        </p:txBody>
      </p:sp>
      <p:sp>
        <p:nvSpPr>
          <p:cNvPr id="23" name="Shape 18"/>
          <p:cNvSpPr/>
          <p:nvPr/>
        </p:nvSpPr>
        <p:spPr>
          <a:xfrm>
            <a:off x="868680" y="4864608"/>
            <a:ext cx="822960" cy="822960"/>
          </a:xfrm>
          <a:prstGeom prst="ellipse">
            <a:avLst/>
          </a:prstGeom>
          <a:solidFill>
            <a:srgbClr val="E8A04C"/>
          </a:solidFill>
          <a:ln/>
          <a:effectLst>
            <a:outerShdw blurRad="88900" dist="38100" dir="5400000" algn="bl" rotWithShape="0">
              <a:srgbClr val="000000">
                <a:alpha val="16000"/>
              </a:srgbClr>
            </a:outerShdw>
          </a:effectLst>
        </p:spPr>
        <p:txBody>
          <a:bodyPr/>
          <a:lstStyle/>
          <a:p>
            <a:endParaRPr lang="en-QA"/>
          </a:p>
        </p:txBody>
      </p:sp>
      <p:pic>
        <p:nvPicPr>
          <p:cNvPr id="24" name="Image 3" descr="preencoded.png"/>
          <p:cNvPicPr>
            <a:picLocks noChangeAspect="1"/>
          </p:cNvPicPr>
          <p:nvPr/>
        </p:nvPicPr>
        <p:blipFill>
          <a:blip r:embed="rId6"/>
          <a:stretch>
            <a:fillRect/>
          </a:stretch>
        </p:blipFill>
        <p:spPr>
          <a:xfrm>
            <a:off x="1082650" y="5078578"/>
            <a:ext cx="395021" cy="395021"/>
          </a:xfrm>
          <a:prstGeom prst="rect">
            <a:avLst/>
          </a:prstGeom>
        </p:spPr>
      </p:pic>
      <p:sp>
        <p:nvSpPr>
          <p:cNvPr id="25" name="Text 19"/>
          <p:cNvSpPr/>
          <p:nvPr/>
        </p:nvSpPr>
        <p:spPr>
          <a:xfrm>
            <a:off x="1874520" y="4754880"/>
            <a:ext cx="9418320" cy="365760"/>
          </a:xfrm>
          <a:prstGeom prst="rect">
            <a:avLst/>
          </a:prstGeom>
          <a:noFill/>
          <a:ln/>
        </p:spPr>
        <p:txBody>
          <a:bodyPr wrap="square" lIns="0" tIns="0" rIns="0" bIns="0" rtlCol="0" anchor="ctr"/>
          <a:lstStyle/>
          <a:p>
            <a:pPr marL="0" indent="0">
              <a:buNone/>
            </a:pPr>
            <a:r>
              <a:rPr lang="en-US" sz="1200" b="1" kern="0" spc="150" dirty="0">
                <a:solidFill>
                  <a:srgbClr val="3FC6BC"/>
                </a:solidFill>
                <a:latin typeface="Calibri" pitchFamily="34" charset="0"/>
                <a:ea typeface="Calibri" pitchFamily="34" charset="-122"/>
                <a:cs typeface="Calibri" pitchFamily="34" charset="-120"/>
              </a:rPr>
              <a:t>Key insight</a:t>
            </a:r>
            <a:endParaRPr lang="en-US" sz="1200" dirty="0"/>
          </a:p>
        </p:txBody>
      </p:sp>
      <p:sp>
        <p:nvSpPr>
          <p:cNvPr id="26" name="Text 20"/>
          <p:cNvSpPr/>
          <p:nvPr/>
        </p:nvSpPr>
        <p:spPr>
          <a:xfrm>
            <a:off x="1874520" y="5074920"/>
            <a:ext cx="9418320" cy="777240"/>
          </a:xfrm>
          <a:prstGeom prst="rect">
            <a:avLst/>
          </a:prstGeom>
          <a:noFill/>
          <a:ln/>
        </p:spPr>
        <p:txBody>
          <a:bodyPr wrap="square" lIns="0" tIns="0" rIns="0" bIns="0" rtlCol="0" anchor="ctr"/>
          <a:lstStyle/>
          <a:p>
            <a:pPr marL="0" indent="0">
              <a:lnSpc>
                <a:spcPct val="104000"/>
              </a:lnSpc>
              <a:buNone/>
            </a:pPr>
            <a:r>
              <a:rPr lang="en-US" sz="1250" dirty="0">
                <a:solidFill>
                  <a:srgbClr val="DCE7EA"/>
                </a:solidFill>
                <a:latin typeface="Calibri" pitchFamily="34" charset="0"/>
                <a:ea typeface="Calibri" pitchFamily="34" charset="-122"/>
                <a:cs typeface="Calibri" pitchFamily="34" charset="-120"/>
              </a:rPr>
              <a:t>A single linear neuron cannot isolate one record. Stacking a non-linear (ReLU) layer beneath the chosen neuron creates a decision boundary that wraps the target alone — turning “did this neuron fire?” into a near-perfect membership test, with a minimal one-iteration edit.</a:t>
            </a:r>
            <a:endParaRPr lang="en-US" sz="1250" dirty="0"/>
          </a:p>
        </p:txBody>
      </p:sp>
      <p:sp>
        <p:nvSpPr>
          <p:cNvPr id="28" name="Shape 21"/>
          <p:cNvSpPr/>
          <p:nvPr/>
        </p:nvSpPr>
        <p:spPr>
          <a:xfrm>
            <a:off x="548640" y="6464808"/>
            <a:ext cx="109728" cy="109728"/>
          </a:xfrm>
          <a:prstGeom prst="ellipse">
            <a:avLst/>
          </a:prstGeom>
          <a:solidFill>
            <a:srgbClr val="0E8C8C"/>
          </a:solidFill>
          <a:ln/>
        </p:spPr>
        <p:txBody>
          <a:bodyPr/>
          <a:lstStyle/>
          <a:p>
            <a:endParaRPr lang="en-QA"/>
          </a:p>
        </p:txBody>
      </p:sp>
      <p:sp>
        <p:nvSpPr>
          <p:cNvPr id="29" name="Text 22"/>
          <p:cNvSpPr/>
          <p:nvPr/>
        </p:nvSpPr>
        <p:spPr>
          <a:xfrm>
            <a:off x="749808" y="6355080"/>
            <a:ext cx="8229600" cy="320040"/>
          </a:xfrm>
          <a:prstGeom prst="rect">
            <a:avLst/>
          </a:prstGeom>
          <a:noFill/>
          <a:ln/>
        </p:spPr>
        <p:txBody>
          <a:bodyPr wrap="square" lIns="0" tIns="0" rIns="0" bIns="0" rtlCol="0" anchor="ctr"/>
          <a:lstStyle/>
          <a:p>
            <a:pPr marL="0" indent="0">
              <a:buNone/>
            </a:pPr>
            <a:r>
              <a:rPr lang="en-US" sz="900" dirty="0">
                <a:solidFill>
                  <a:srgbClr val="5E6E78"/>
                </a:solidFill>
                <a:latin typeface="Calibri" pitchFamily="34" charset="0"/>
                <a:ea typeface="Calibri" pitchFamily="34" charset="-122"/>
                <a:cs typeface="Calibri" pitchFamily="34" charset="-120"/>
              </a:rPr>
              <a:t>AMIA × Federated Learning × LDP  —  Literature &amp; Proposed Study</a:t>
            </a:r>
            <a:endParaRPr lang="en-US" sz="900" dirty="0"/>
          </a:p>
        </p:txBody>
      </p:sp>
      <p:sp>
        <p:nvSpPr>
          <p:cNvPr id="30" name="Text 23"/>
          <p:cNvSpPr/>
          <p:nvPr/>
        </p:nvSpPr>
        <p:spPr>
          <a:xfrm>
            <a:off x="11338560" y="6355080"/>
            <a:ext cx="457200" cy="320040"/>
          </a:xfrm>
          <a:prstGeom prst="rect">
            <a:avLst/>
          </a:prstGeom>
          <a:noFill/>
          <a:ln/>
        </p:spPr>
        <p:txBody>
          <a:bodyPr wrap="square" rtlCol="0" anchor="ctr"/>
          <a:lstStyle/>
          <a:p>
            <a:pPr marL="0" indent="0" algn="r">
              <a:buNone/>
            </a:pPr>
            <a:r>
              <a:rPr lang="en-US" sz="1000" dirty="0">
                <a:solidFill>
                  <a:srgbClr val="5E6E78"/>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566928"/>
            <a:ext cx="128016" cy="128016"/>
          </a:xfrm>
          <a:prstGeom prst="ellipse">
            <a:avLst/>
          </a:prstGeom>
          <a:solidFill>
            <a:srgbClr val="0E8C8C"/>
          </a:solidFill>
          <a:ln/>
        </p:spPr>
        <p:txBody>
          <a:bodyPr/>
          <a:lstStyle/>
          <a:p>
            <a:endParaRPr lang="en-QA"/>
          </a:p>
        </p:txBody>
      </p:sp>
      <p:sp>
        <p:nvSpPr>
          <p:cNvPr id="3" name="Text 1"/>
          <p:cNvSpPr/>
          <p:nvPr/>
        </p:nvSpPr>
        <p:spPr>
          <a:xfrm>
            <a:off x="777240" y="457200"/>
            <a:ext cx="10515600" cy="320040"/>
          </a:xfrm>
          <a:prstGeom prst="rect">
            <a:avLst/>
          </a:prstGeom>
          <a:noFill/>
          <a:ln/>
        </p:spPr>
        <p:txBody>
          <a:bodyPr wrap="square" lIns="0" tIns="0" rIns="0" bIns="0" rtlCol="0" anchor="ctr"/>
          <a:lstStyle/>
          <a:p>
            <a:pPr marL="0" indent="0">
              <a:buNone/>
            </a:pPr>
            <a:r>
              <a:rPr lang="en-US" sz="1200" b="1" kern="0" spc="200" dirty="0">
                <a:solidFill>
                  <a:srgbClr val="0E8C8C"/>
                </a:solidFill>
                <a:latin typeface="Calibri" pitchFamily="34" charset="0"/>
                <a:ea typeface="Calibri" pitchFamily="34" charset="-122"/>
                <a:cs typeface="Calibri" pitchFamily="34" charset="-120"/>
              </a:rPr>
              <a:t>SECTION 1 · THE TWIST</a:t>
            </a:r>
            <a:endParaRPr lang="en-US" sz="1200" dirty="0"/>
          </a:p>
        </p:txBody>
      </p:sp>
      <p:sp>
        <p:nvSpPr>
          <p:cNvPr id="4" name="Text 2"/>
          <p:cNvSpPr/>
          <p:nvPr/>
        </p:nvSpPr>
        <p:spPr>
          <a:xfrm>
            <a:off x="548640" y="768096"/>
            <a:ext cx="11064240" cy="868680"/>
          </a:xfrm>
          <a:prstGeom prst="rect">
            <a:avLst/>
          </a:prstGeom>
          <a:noFill/>
          <a:ln/>
        </p:spPr>
        <p:txBody>
          <a:bodyPr wrap="square" lIns="0" tIns="0" rIns="0" bIns="0" rtlCol="0" anchor="ctr"/>
          <a:lstStyle/>
          <a:p>
            <a:pPr marL="0" indent="0">
              <a:buNone/>
            </a:pPr>
            <a:r>
              <a:rPr lang="en-US" sz="3000" b="1" dirty="0">
                <a:solidFill>
                  <a:srgbClr val="1A2733"/>
                </a:solidFill>
                <a:latin typeface="Cambria" pitchFamily="34" charset="0"/>
                <a:ea typeface="Cambria" pitchFamily="34" charset="-122"/>
                <a:cs typeface="Cambria" pitchFamily="34" charset="-120"/>
              </a:rPr>
              <a:t>Why Local Differential Privacy does not stop it</a:t>
            </a:r>
            <a:endParaRPr lang="en-US" sz="3000" dirty="0"/>
          </a:p>
        </p:txBody>
      </p:sp>
      <p:sp>
        <p:nvSpPr>
          <p:cNvPr id="5" name="Shape 3"/>
          <p:cNvSpPr/>
          <p:nvPr/>
        </p:nvSpPr>
        <p:spPr>
          <a:xfrm>
            <a:off x="640080" y="1874520"/>
            <a:ext cx="5257800" cy="1874520"/>
          </a:xfrm>
          <a:prstGeom prst="roundRect">
            <a:avLst>
              <a:gd name="adj" fmla="val 3415"/>
            </a:avLst>
          </a:prstGeom>
          <a:solidFill>
            <a:srgbClr val="FFFFFF"/>
          </a:solidFill>
          <a:ln w="12700">
            <a:solidFill>
              <a:srgbClr val="C9D8DC"/>
            </a:solidFill>
            <a:prstDash val="solid"/>
          </a:ln>
          <a:effectLst>
            <a:outerShdw blurRad="88900" dist="38100" dir="5400000" algn="bl" rotWithShape="0">
              <a:srgbClr val="000000">
                <a:alpha val="16000"/>
              </a:srgbClr>
            </a:outerShdw>
          </a:effectLst>
        </p:spPr>
        <p:txBody>
          <a:bodyPr/>
          <a:lstStyle/>
          <a:p>
            <a:endParaRPr lang="en-QA"/>
          </a:p>
        </p:txBody>
      </p:sp>
      <p:sp>
        <p:nvSpPr>
          <p:cNvPr id="6" name="Shape 4"/>
          <p:cNvSpPr/>
          <p:nvPr/>
        </p:nvSpPr>
        <p:spPr>
          <a:xfrm>
            <a:off x="868680" y="2103120"/>
            <a:ext cx="566928" cy="566928"/>
          </a:xfrm>
          <a:prstGeom prst="ellipse">
            <a:avLst/>
          </a:prstGeom>
          <a:solidFill>
            <a:srgbClr val="E8A04C"/>
          </a:solidFill>
          <a:ln/>
          <a:effectLst>
            <a:outerShdw blurRad="88900" dist="38100" dir="5400000" algn="bl" rotWithShape="0">
              <a:srgbClr val="000000">
                <a:alpha val="16000"/>
              </a:srgbClr>
            </a:outerShdw>
          </a:effectLst>
        </p:spPr>
        <p:txBody>
          <a:bodyPr/>
          <a:lstStyle/>
          <a:p>
            <a:endParaRPr lang="en-QA"/>
          </a:p>
        </p:txBody>
      </p:sp>
      <p:pic>
        <p:nvPicPr>
          <p:cNvPr id="7" name="Image 0" descr="preencoded.png"/>
          <p:cNvPicPr>
            <a:picLocks noChangeAspect="1"/>
          </p:cNvPicPr>
          <p:nvPr/>
        </p:nvPicPr>
        <p:blipFill>
          <a:blip r:embed="rId3"/>
          <a:stretch>
            <a:fillRect/>
          </a:stretch>
        </p:blipFill>
        <p:spPr>
          <a:xfrm>
            <a:off x="1016081" y="2250521"/>
            <a:ext cx="272125" cy="272125"/>
          </a:xfrm>
          <a:prstGeom prst="rect">
            <a:avLst/>
          </a:prstGeom>
        </p:spPr>
      </p:pic>
      <p:sp>
        <p:nvSpPr>
          <p:cNvPr id="8" name="Text 5"/>
          <p:cNvSpPr/>
          <p:nvPr/>
        </p:nvSpPr>
        <p:spPr>
          <a:xfrm>
            <a:off x="1572768" y="2130552"/>
            <a:ext cx="4160520" cy="502920"/>
          </a:xfrm>
          <a:prstGeom prst="rect">
            <a:avLst/>
          </a:prstGeom>
          <a:noFill/>
          <a:ln/>
        </p:spPr>
        <p:txBody>
          <a:bodyPr wrap="square" lIns="0" tIns="0" rIns="0" bIns="0" rtlCol="0" anchor="ctr"/>
          <a:lstStyle/>
          <a:p>
            <a:pPr marL="0" indent="0">
              <a:buNone/>
            </a:pPr>
            <a:r>
              <a:rPr lang="en-US" sz="1550" b="1" dirty="0">
                <a:solidFill>
                  <a:srgbClr val="1A2733"/>
                </a:solidFill>
                <a:latin typeface="Cambria" pitchFamily="34" charset="0"/>
                <a:ea typeface="Cambria" pitchFamily="34" charset="-122"/>
                <a:cs typeface="Cambria" pitchFamily="34" charset="-120"/>
              </a:rPr>
              <a:t>The naïve defense</a:t>
            </a:r>
            <a:endParaRPr lang="en-US" sz="1550" dirty="0"/>
          </a:p>
        </p:txBody>
      </p:sp>
      <p:sp>
        <p:nvSpPr>
          <p:cNvPr id="9" name="Text 6"/>
          <p:cNvSpPr/>
          <p:nvPr/>
        </p:nvSpPr>
        <p:spPr>
          <a:xfrm>
            <a:off x="896112" y="2697480"/>
            <a:ext cx="4745736" cy="914400"/>
          </a:xfrm>
          <a:prstGeom prst="rect">
            <a:avLst/>
          </a:prstGeom>
          <a:noFill/>
          <a:ln/>
        </p:spPr>
        <p:txBody>
          <a:bodyPr wrap="square" lIns="0" tIns="0" rIns="0" bIns="0" rtlCol="0" anchor="t"/>
          <a:lstStyle/>
          <a:p>
            <a:pPr marL="0" indent="0">
              <a:lnSpc>
                <a:spcPct val="105000"/>
              </a:lnSpc>
              <a:buNone/>
            </a:pPr>
            <a:r>
              <a:rPr lang="en-US" sz="1250" dirty="0">
                <a:solidFill>
                  <a:srgbClr val="5E6E78"/>
                </a:solidFill>
                <a:latin typeface="Calibri" pitchFamily="34" charset="0"/>
                <a:ea typeface="Calibri" pitchFamily="34" charset="-122"/>
                <a:cs typeface="Calibri" pitchFamily="34" charset="-120"/>
              </a:rPr>
              <a:t>Under LDP the client perturbs t into a noisy version. A neuron trained on the exact t now misses — so LDP looks like it works.</a:t>
            </a:r>
            <a:endParaRPr lang="en-US" sz="1250" dirty="0"/>
          </a:p>
        </p:txBody>
      </p:sp>
      <p:sp>
        <p:nvSpPr>
          <p:cNvPr id="10" name="Shape 7"/>
          <p:cNvSpPr/>
          <p:nvPr/>
        </p:nvSpPr>
        <p:spPr>
          <a:xfrm>
            <a:off x="640080" y="3931920"/>
            <a:ext cx="5257800" cy="1920240"/>
          </a:xfrm>
          <a:prstGeom prst="roundRect">
            <a:avLst>
              <a:gd name="adj" fmla="val 3333"/>
            </a:avLst>
          </a:prstGeom>
          <a:solidFill>
            <a:srgbClr val="FFFFFF"/>
          </a:solidFill>
          <a:ln w="12700">
            <a:solidFill>
              <a:srgbClr val="C9D8DC"/>
            </a:solidFill>
            <a:prstDash val="solid"/>
          </a:ln>
          <a:effectLst>
            <a:outerShdw blurRad="88900" dist="38100" dir="5400000" algn="bl" rotWithShape="0">
              <a:srgbClr val="000000">
                <a:alpha val="16000"/>
              </a:srgbClr>
            </a:outerShdw>
          </a:effectLst>
        </p:spPr>
        <p:txBody>
          <a:bodyPr/>
          <a:lstStyle/>
          <a:p>
            <a:endParaRPr lang="en-QA"/>
          </a:p>
        </p:txBody>
      </p:sp>
      <p:sp>
        <p:nvSpPr>
          <p:cNvPr id="11" name="Shape 8"/>
          <p:cNvSpPr/>
          <p:nvPr/>
        </p:nvSpPr>
        <p:spPr>
          <a:xfrm>
            <a:off x="868680" y="4160520"/>
            <a:ext cx="566928" cy="566928"/>
          </a:xfrm>
          <a:prstGeom prst="ellipse">
            <a:avLst/>
          </a:prstGeom>
          <a:solidFill>
            <a:srgbClr val="D9694C"/>
          </a:solidFill>
          <a:ln/>
          <a:effectLst>
            <a:outerShdw blurRad="88900" dist="38100" dir="5400000" algn="bl" rotWithShape="0">
              <a:srgbClr val="000000">
                <a:alpha val="16000"/>
              </a:srgbClr>
            </a:outerShdw>
          </a:effectLst>
        </p:spPr>
        <p:txBody>
          <a:bodyPr/>
          <a:lstStyle/>
          <a:p>
            <a:endParaRPr lang="en-QA"/>
          </a:p>
        </p:txBody>
      </p:sp>
      <p:pic>
        <p:nvPicPr>
          <p:cNvPr id="12" name="Image 1" descr="preencoded.png"/>
          <p:cNvPicPr>
            <a:picLocks noChangeAspect="1"/>
          </p:cNvPicPr>
          <p:nvPr/>
        </p:nvPicPr>
        <p:blipFill>
          <a:blip r:embed="rId4"/>
          <a:stretch>
            <a:fillRect/>
          </a:stretch>
        </p:blipFill>
        <p:spPr>
          <a:xfrm>
            <a:off x="1016081" y="4307921"/>
            <a:ext cx="272125" cy="272125"/>
          </a:xfrm>
          <a:prstGeom prst="rect">
            <a:avLst/>
          </a:prstGeom>
        </p:spPr>
      </p:pic>
      <p:sp>
        <p:nvSpPr>
          <p:cNvPr id="13" name="Text 9"/>
          <p:cNvSpPr/>
          <p:nvPr/>
        </p:nvSpPr>
        <p:spPr>
          <a:xfrm>
            <a:off x="1572768" y="4187952"/>
            <a:ext cx="4160520" cy="502920"/>
          </a:xfrm>
          <a:prstGeom prst="rect">
            <a:avLst/>
          </a:prstGeom>
          <a:noFill/>
          <a:ln/>
        </p:spPr>
        <p:txBody>
          <a:bodyPr wrap="square" lIns="0" tIns="0" rIns="0" bIns="0" rtlCol="0" anchor="ctr"/>
          <a:lstStyle/>
          <a:p>
            <a:pPr marL="0" indent="0">
              <a:buNone/>
            </a:pPr>
            <a:r>
              <a:rPr lang="en-US" sz="1550" b="1" dirty="0">
                <a:solidFill>
                  <a:srgbClr val="1A2733"/>
                </a:solidFill>
                <a:latin typeface="Cambria" pitchFamily="34" charset="0"/>
                <a:ea typeface="Cambria" pitchFamily="34" charset="-122"/>
                <a:cs typeface="Cambria" pitchFamily="34" charset="-120"/>
              </a:rPr>
              <a:t>The adaptive attack</a:t>
            </a:r>
            <a:endParaRPr lang="en-US" sz="1550" dirty="0"/>
          </a:p>
        </p:txBody>
      </p:sp>
      <p:sp>
        <p:nvSpPr>
          <p:cNvPr id="14" name="Text 10"/>
          <p:cNvSpPr/>
          <p:nvPr/>
        </p:nvSpPr>
        <p:spPr>
          <a:xfrm>
            <a:off x="896112" y="4754880"/>
            <a:ext cx="4745736" cy="960120"/>
          </a:xfrm>
          <a:prstGeom prst="rect">
            <a:avLst/>
          </a:prstGeom>
          <a:noFill/>
          <a:ln/>
        </p:spPr>
        <p:txBody>
          <a:bodyPr wrap="square" lIns="0" tIns="0" rIns="0" bIns="0" rtlCol="0" anchor="t"/>
          <a:lstStyle/>
          <a:p>
            <a:pPr marL="0" indent="0">
              <a:lnSpc>
                <a:spcPct val="105000"/>
              </a:lnSpc>
              <a:buNone/>
            </a:pPr>
            <a:r>
              <a:rPr lang="en-US" sz="1250" dirty="0">
                <a:solidFill>
                  <a:srgbClr val="5E6E78"/>
                </a:solidFill>
                <a:latin typeface="Calibri" pitchFamily="34" charset="0"/>
                <a:ea typeface="Calibri" pitchFamily="34" charset="-122"/>
                <a:cs typeface="Calibri" pitchFamily="34" charset="-120"/>
              </a:rPr>
              <a:t>The server knows the LDP mechanism and ε, so it trains the chosen neuron on many noisy copies of t. The neuron fires for the noisy target too.</a:t>
            </a:r>
            <a:endParaRPr lang="en-US" sz="1250" dirty="0"/>
          </a:p>
        </p:txBody>
      </p:sp>
      <p:sp>
        <p:nvSpPr>
          <p:cNvPr id="15" name="Shape 11"/>
          <p:cNvSpPr/>
          <p:nvPr/>
        </p:nvSpPr>
        <p:spPr>
          <a:xfrm>
            <a:off x="6172200" y="1874520"/>
            <a:ext cx="5349240" cy="3977640"/>
          </a:xfrm>
          <a:prstGeom prst="roundRect">
            <a:avLst>
              <a:gd name="adj" fmla="val 1839"/>
            </a:avLst>
          </a:prstGeom>
          <a:solidFill>
            <a:srgbClr val="0E2A3B"/>
          </a:solidFill>
          <a:ln/>
        </p:spPr>
        <p:txBody>
          <a:bodyPr/>
          <a:lstStyle/>
          <a:p>
            <a:endParaRPr lang="en-QA"/>
          </a:p>
        </p:txBody>
      </p:sp>
      <p:sp>
        <p:nvSpPr>
          <p:cNvPr id="16" name="Shape 12"/>
          <p:cNvSpPr/>
          <p:nvPr/>
        </p:nvSpPr>
        <p:spPr>
          <a:xfrm>
            <a:off x="6446520" y="2148840"/>
            <a:ext cx="777240" cy="777240"/>
          </a:xfrm>
          <a:prstGeom prst="ellipse">
            <a:avLst/>
          </a:prstGeom>
          <a:solidFill>
            <a:srgbClr val="0E8C8C"/>
          </a:solidFill>
          <a:ln/>
          <a:effectLst>
            <a:outerShdw blurRad="88900" dist="38100" dir="5400000" algn="bl" rotWithShape="0">
              <a:srgbClr val="000000">
                <a:alpha val="16000"/>
              </a:srgbClr>
            </a:outerShdw>
          </a:effectLst>
        </p:spPr>
        <p:txBody>
          <a:bodyPr/>
          <a:lstStyle/>
          <a:p>
            <a:endParaRPr lang="en-QA"/>
          </a:p>
        </p:txBody>
      </p:sp>
      <p:pic>
        <p:nvPicPr>
          <p:cNvPr id="17" name="Image 2" descr="preencoded.png"/>
          <p:cNvPicPr>
            <a:picLocks noChangeAspect="1"/>
          </p:cNvPicPr>
          <p:nvPr/>
        </p:nvPicPr>
        <p:blipFill>
          <a:blip r:embed="rId5"/>
          <a:stretch>
            <a:fillRect/>
          </a:stretch>
        </p:blipFill>
        <p:spPr>
          <a:xfrm>
            <a:off x="6648602" y="2350922"/>
            <a:ext cx="373075" cy="373075"/>
          </a:xfrm>
          <a:prstGeom prst="rect">
            <a:avLst/>
          </a:prstGeom>
        </p:spPr>
      </p:pic>
      <p:sp>
        <p:nvSpPr>
          <p:cNvPr id="18" name="Text 13"/>
          <p:cNvSpPr/>
          <p:nvPr/>
        </p:nvSpPr>
        <p:spPr>
          <a:xfrm>
            <a:off x="7406640" y="2240280"/>
            <a:ext cx="3931920" cy="548640"/>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The fundamental trade-off</a:t>
            </a:r>
            <a:endParaRPr lang="en-US" sz="1700" dirty="0"/>
          </a:p>
        </p:txBody>
      </p:sp>
      <p:sp>
        <p:nvSpPr>
          <p:cNvPr id="19" name="Text 14"/>
          <p:cNvSpPr/>
          <p:nvPr/>
        </p:nvSpPr>
        <p:spPr>
          <a:xfrm>
            <a:off x="6446520" y="3063240"/>
            <a:ext cx="4846320" cy="2651760"/>
          </a:xfrm>
          <a:prstGeom prst="rect">
            <a:avLst/>
          </a:prstGeom>
          <a:noFill/>
          <a:ln/>
        </p:spPr>
        <p:txBody>
          <a:bodyPr wrap="square" lIns="0" tIns="0" rIns="0" bIns="0" rtlCol="0" anchor="ctr"/>
          <a:lstStyle/>
          <a:p>
            <a:pPr marL="0" indent="0">
              <a:lnSpc>
                <a:spcPct val="112000"/>
              </a:lnSpc>
              <a:buNone/>
            </a:pPr>
            <a:r>
              <a:rPr lang="en-US" sz="1300" dirty="0">
                <a:solidFill>
                  <a:srgbClr val="DCE7EA"/>
                </a:solidFill>
                <a:latin typeface="Calibri" pitchFamily="34" charset="0"/>
                <a:ea typeface="Calibri" pitchFamily="34" charset="-122"/>
                <a:cs typeface="Calibri" pitchFamily="34" charset="-120"/>
              </a:rPr>
              <a:t>The attack exploits correlations among input features through a non-linear boundary.
To break that correlation you need large noise → small ε → </a:t>
            </a:r>
            <a:r>
              <a:rPr lang="en-US" sz="1300" b="1" dirty="0">
                <a:solidFill>
                  <a:srgbClr val="3FC6BC"/>
                </a:solidFill>
                <a:latin typeface="Calibri" pitchFamily="34" charset="0"/>
                <a:ea typeface="Calibri" pitchFamily="34" charset="-122"/>
                <a:cs typeface="Calibri" pitchFamily="34" charset="-120"/>
              </a:rPr>
              <a:t>the model becomes useless.
</a:t>
            </a:r>
            <a:r>
              <a:rPr lang="en-US" sz="1300" dirty="0">
                <a:solidFill>
                  <a:srgbClr val="DCE7EA"/>
                </a:solidFill>
                <a:latin typeface="Calibri" pitchFamily="34" charset="0"/>
                <a:ea typeface="Calibri" pitchFamily="34" charset="-122"/>
                <a:cs typeface="Calibri" pitchFamily="34" charset="-120"/>
              </a:rPr>
              <a:t>Any ε big enough to keep a usable model leaves the correlation — and the attack — intact. The paper even gives a </a:t>
            </a:r>
            <a:r>
              <a:rPr lang="en-US" sz="1300" b="1" dirty="0">
                <a:solidFill>
                  <a:srgbClr val="E8A04C"/>
                </a:solidFill>
                <a:latin typeface="Calibri" pitchFamily="34" charset="0"/>
                <a:ea typeface="Calibri" pitchFamily="34" charset="-122"/>
                <a:cs typeface="Calibri" pitchFamily="34" charset="-120"/>
              </a:rPr>
              <a:t>certified guarantee</a:t>
            </a:r>
            <a:r>
              <a:rPr lang="en-US" sz="1300" dirty="0">
                <a:solidFill>
                  <a:srgbClr val="DCE7EA"/>
                </a:solidFill>
                <a:latin typeface="Calibri" pitchFamily="34" charset="0"/>
                <a:ea typeface="Calibri" pitchFamily="34" charset="-122"/>
                <a:cs typeface="Calibri" pitchFamily="34" charset="-120"/>
              </a:rPr>
              <a:t> of success (Theorem 1).</a:t>
            </a:r>
            <a:endParaRPr lang="en-US" sz="1300" dirty="0"/>
          </a:p>
        </p:txBody>
      </p:sp>
      <p:sp>
        <p:nvSpPr>
          <p:cNvPr id="21" name="Shape 15"/>
          <p:cNvSpPr/>
          <p:nvPr/>
        </p:nvSpPr>
        <p:spPr>
          <a:xfrm>
            <a:off x="548640" y="6464808"/>
            <a:ext cx="109728" cy="109728"/>
          </a:xfrm>
          <a:prstGeom prst="ellipse">
            <a:avLst/>
          </a:prstGeom>
          <a:solidFill>
            <a:srgbClr val="0E8C8C"/>
          </a:solidFill>
          <a:ln/>
        </p:spPr>
        <p:txBody>
          <a:bodyPr/>
          <a:lstStyle/>
          <a:p>
            <a:endParaRPr lang="en-QA"/>
          </a:p>
        </p:txBody>
      </p:sp>
      <p:sp>
        <p:nvSpPr>
          <p:cNvPr id="22" name="Text 16"/>
          <p:cNvSpPr/>
          <p:nvPr/>
        </p:nvSpPr>
        <p:spPr>
          <a:xfrm>
            <a:off x="749808" y="6355080"/>
            <a:ext cx="8229600" cy="320040"/>
          </a:xfrm>
          <a:prstGeom prst="rect">
            <a:avLst/>
          </a:prstGeom>
          <a:noFill/>
          <a:ln/>
        </p:spPr>
        <p:txBody>
          <a:bodyPr wrap="square" lIns="0" tIns="0" rIns="0" bIns="0" rtlCol="0" anchor="ctr"/>
          <a:lstStyle/>
          <a:p>
            <a:pPr marL="0" indent="0">
              <a:buNone/>
            </a:pPr>
            <a:r>
              <a:rPr lang="en-US" sz="900" dirty="0">
                <a:solidFill>
                  <a:srgbClr val="5E6E78"/>
                </a:solidFill>
                <a:latin typeface="Calibri" pitchFamily="34" charset="0"/>
                <a:ea typeface="Calibri" pitchFamily="34" charset="-122"/>
                <a:cs typeface="Calibri" pitchFamily="34" charset="-120"/>
              </a:rPr>
              <a:t>AMIA × Federated Learning × LDP  —  Literature &amp; Proposed Study</a:t>
            </a:r>
            <a:endParaRPr lang="en-US" sz="900" dirty="0"/>
          </a:p>
        </p:txBody>
      </p:sp>
      <p:sp>
        <p:nvSpPr>
          <p:cNvPr id="23" name="Text 17"/>
          <p:cNvSpPr/>
          <p:nvPr/>
        </p:nvSpPr>
        <p:spPr>
          <a:xfrm>
            <a:off x="11338560" y="6355080"/>
            <a:ext cx="457200" cy="320040"/>
          </a:xfrm>
          <a:prstGeom prst="rect">
            <a:avLst/>
          </a:prstGeom>
          <a:noFill/>
          <a:ln/>
        </p:spPr>
        <p:txBody>
          <a:bodyPr wrap="square" rtlCol="0" anchor="ctr"/>
          <a:lstStyle/>
          <a:p>
            <a:pPr marL="0" indent="0" algn="r">
              <a:buNone/>
            </a:pPr>
            <a:r>
              <a:rPr lang="en-US" sz="1000" dirty="0">
                <a:solidFill>
                  <a:srgbClr val="5E6E78"/>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566928"/>
            <a:ext cx="128016" cy="128016"/>
          </a:xfrm>
          <a:prstGeom prst="ellipse">
            <a:avLst/>
          </a:prstGeom>
          <a:solidFill>
            <a:srgbClr val="0E8C8C"/>
          </a:solidFill>
          <a:ln/>
        </p:spPr>
        <p:txBody>
          <a:bodyPr/>
          <a:lstStyle/>
          <a:p>
            <a:endParaRPr lang="en-QA"/>
          </a:p>
        </p:txBody>
      </p:sp>
      <p:sp>
        <p:nvSpPr>
          <p:cNvPr id="3" name="Text 1"/>
          <p:cNvSpPr/>
          <p:nvPr/>
        </p:nvSpPr>
        <p:spPr>
          <a:xfrm>
            <a:off x="777240" y="457200"/>
            <a:ext cx="10515600" cy="320040"/>
          </a:xfrm>
          <a:prstGeom prst="rect">
            <a:avLst/>
          </a:prstGeom>
          <a:noFill/>
          <a:ln/>
        </p:spPr>
        <p:txBody>
          <a:bodyPr wrap="square" lIns="0" tIns="0" rIns="0" bIns="0" rtlCol="0" anchor="ctr"/>
          <a:lstStyle/>
          <a:p>
            <a:pPr marL="0" indent="0">
              <a:buNone/>
            </a:pPr>
            <a:r>
              <a:rPr lang="en-US" sz="1200" b="1" kern="0" spc="200" dirty="0">
                <a:solidFill>
                  <a:srgbClr val="0E8C8C"/>
                </a:solidFill>
                <a:latin typeface="Calibri" pitchFamily="34" charset="0"/>
                <a:ea typeface="Calibri" pitchFamily="34" charset="-122"/>
                <a:cs typeface="Calibri" pitchFamily="34" charset="-120"/>
              </a:rPr>
              <a:t>SECTION 1 · EVIDENCE</a:t>
            </a:r>
            <a:endParaRPr lang="en-US" sz="1200" dirty="0"/>
          </a:p>
        </p:txBody>
      </p:sp>
      <p:sp>
        <p:nvSpPr>
          <p:cNvPr id="4" name="Text 2"/>
          <p:cNvSpPr/>
          <p:nvPr/>
        </p:nvSpPr>
        <p:spPr>
          <a:xfrm>
            <a:off x="548640" y="768096"/>
            <a:ext cx="11064240" cy="868680"/>
          </a:xfrm>
          <a:prstGeom prst="rect">
            <a:avLst/>
          </a:prstGeom>
          <a:noFill/>
          <a:ln/>
        </p:spPr>
        <p:txBody>
          <a:bodyPr wrap="square" lIns="0" tIns="0" rIns="0" bIns="0" rtlCol="0" anchor="ctr"/>
          <a:lstStyle/>
          <a:p>
            <a:pPr marL="0" indent="0">
              <a:buNone/>
            </a:pPr>
            <a:r>
              <a:rPr lang="en-US" sz="3000" b="1" dirty="0">
                <a:solidFill>
                  <a:srgbClr val="1A2733"/>
                </a:solidFill>
                <a:latin typeface="Cambria" pitchFamily="34" charset="0"/>
                <a:ea typeface="Cambria" pitchFamily="34" charset="-122"/>
                <a:cs typeface="Cambria" pitchFamily="34" charset="-120"/>
              </a:rPr>
              <a:t>Headline results (as reported in the paper)</a:t>
            </a:r>
            <a:endParaRPr lang="en-US" sz="3000" dirty="0"/>
          </a:p>
        </p:txBody>
      </p:sp>
      <p:sp>
        <p:nvSpPr>
          <p:cNvPr id="5" name="Shape 3"/>
          <p:cNvSpPr/>
          <p:nvPr/>
        </p:nvSpPr>
        <p:spPr>
          <a:xfrm>
            <a:off x="640080" y="1874520"/>
            <a:ext cx="3502152" cy="1828800"/>
          </a:xfrm>
          <a:prstGeom prst="roundRect">
            <a:avLst>
              <a:gd name="adj" fmla="val 4000"/>
            </a:avLst>
          </a:prstGeom>
          <a:solidFill>
            <a:srgbClr val="EAF2F3"/>
          </a:solidFill>
          <a:ln/>
          <a:effectLst>
            <a:outerShdw blurRad="88900" dist="38100" dir="5400000" algn="bl" rotWithShape="0">
              <a:srgbClr val="000000">
                <a:alpha val="16000"/>
              </a:srgbClr>
            </a:outerShdw>
          </a:effectLst>
        </p:spPr>
        <p:txBody>
          <a:bodyPr/>
          <a:lstStyle/>
          <a:p>
            <a:endParaRPr lang="en-QA"/>
          </a:p>
        </p:txBody>
      </p:sp>
      <p:sp>
        <p:nvSpPr>
          <p:cNvPr id="6" name="Text 4"/>
          <p:cNvSpPr/>
          <p:nvPr/>
        </p:nvSpPr>
        <p:spPr>
          <a:xfrm>
            <a:off x="822960" y="2057400"/>
            <a:ext cx="3136392" cy="868680"/>
          </a:xfrm>
          <a:prstGeom prst="rect">
            <a:avLst/>
          </a:prstGeom>
          <a:noFill/>
          <a:ln/>
        </p:spPr>
        <p:txBody>
          <a:bodyPr wrap="square" lIns="0" tIns="0" rIns="0" bIns="0" rtlCol="0" anchor="ctr"/>
          <a:lstStyle/>
          <a:p>
            <a:pPr marL="0" indent="0" algn="ctr">
              <a:buNone/>
            </a:pPr>
            <a:r>
              <a:rPr lang="en-US" sz="4400" b="1" dirty="0">
                <a:solidFill>
                  <a:srgbClr val="0E8C8C"/>
                </a:solidFill>
                <a:latin typeface="Cambria" pitchFamily="34" charset="0"/>
                <a:ea typeface="Cambria" pitchFamily="34" charset="-122"/>
                <a:cs typeface="Cambria" pitchFamily="34" charset="-120"/>
              </a:rPr>
              <a:t>≈100%</a:t>
            </a:r>
            <a:endParaRPr lang="en-US" sz="4400" dirty="0"/>
          </a:p>
        </p:txBody>
      </p:sp>
      <p:sp>
        <p:nvSpPr>
          <p:cNvPr id="7" name="Text 5"/>
          <p:cNvSpPr/>
          <p:nvPr/>
        </p:nvSpPr>
        <p:spPr>
          <a:xfrm>
            <a:off x="868680" y="2971800"/>
            <a:ext cx="3044952" cy="640080"/>
          </a:xfrm>
          <a:prstGeom prst="rect">
            <a:avLst/>
          </a:prstGeom>
          <a:noFill/>
          <a:ln/>
        </p:spPr>
        <p:txBody>
          <a:bodyPr wrap="square" lIns="0" tIns="0" rIns="0" bIns="0" rtlCol="0" anchor="ctr"/>
          <a:lstStyle/>
          <a:p>
            <a:pPr marL="0" indent="0" algn="ctr">
              <a:lnSpc>
                <a:spcPct val="103000"/>
              </a:lnSpc>
              <a:buNone/>
            </a:pPr>
            <a:r>
              <a:rPr lang="en-US" sz="1200" dirty="0">
                <a:solidFill>
                  <a:srgbClr val="5E6E78"/>
                </a:solidFill>
                <a:latin typeface="Calibri" pitchFamily="34" charset="0"/>
                <a:ea typeface="Calibri" pitchFamily="34" charset="-122"/>
                <a:cs typeface="Calibri" pitchFamily="34" charset="-120"/>
              </a:rPr>
              <a:t>attack success with NO privacy noise applied</a:t>
            </a:r>
            <a:endParaRPr lang="en-US" sz="1200" dirty="0"/>
          </a:p>
        </p:txBody>
      </p:sp>
      <p:sp>
        <p:nvSpPr>
          <p:cNvPr id="8" name="Shape 6"/>
          <p:cNvSpPr/>
          <p:nvPr/>
        </p:nvSpPr>
        <p:spPr>
          <a:xfrm>
            <a:off x="4325112" y="1874520"/>
            <a:ext cx="3502152" cy="1828800"/>
          </a:xfrm>
          <a:prstGeom prst="roundRect">
            <a:avLst>
              <a:gd name="adj" fmla="val 4000"/>
            </a:avLst>
          </a:prstGeom>
          <a:solidFill>
            <a:srgbClr val="EAF2F3"/>
          </a:solidFill>
          <a:ln/>
          <a:effectLst>
            <a:outerShdw blurRad="88900" dist="38100" dir="5400000" algn="bl" rotWithShape="0">
              <a:srgbClr val="000000">
                <a:alpha val="16000"/>
              </a:srgbClr>
            </a:outerShdw>
          </a:effectLst>
        </p:spPr>
        <p:txBody>
          <a:bodyPr/>
          <a:lstStyle/>
          <a:p>
            <a:endParaRPr lang="en-QA"/>
          </a:p>
        </p:txBody>
      </p:sp>
      <p:sp>
        <p:nvSpPr>
          <p:cNvPr id="9" name="Text 7"/>
          <p:cNvSpPr/>
          <p:nvPr/>
        </p:nvSpPr>
        <p:spPr>
          <a:xfrm>
            <a:off x="4507992" y="2057400"/>
            <a:ext cx="3136392" cy="868680"/>
          </a:xfrm>
          <a:prstGeom prst="rect">
            <a:avLst/>
          </a:prstGeom>
          <a:noFill/>
          <a:ln/>
        </p:spPr>
        <p:txBody>
          <a:bodyPr wrap="square" lIns="0" tIns="0" rIns="0" bIns="0" rtlCol="0" anchor="ctr"/>
          <a:lstStyle/>
          <a:p>
            <a:pPr marL="0" indent="0" algn="ctr">
              <a:buNone/>
            </a:pPr>
            <a:r>
              <a:rPr lang="en-US" sz="4400" b="1" dirty="0">
                <a:solidFill>
                  <a:srgbClr val="E8A04C"/>
                </a:solidFill>
                <a:latin typeface="Cambria" pitchFamily="34" charset="0"/>
                <a:ea typeface="Cambria" pitchFamily="34" charset="-122"/>
                <a:cs typeface="Cambria" pitchFamily="34" charset="-120"/>
              </a:rPr>
              <a:t>≥ 0.77</a:t>
            </a:r>
            <a:endParaRPr lang="en-US" sz="4400" dirty="0"/>
          </a:p>
        </p:txBody>
      </p:sp>
      <p:sp>
        <p:nvSpPr>
          <p:cNvPr id="10" name="Text 8"/>
          <p:cNvSpPr/>
          <p:nvPr/>
        </p:nvSpPr>
        <p:spPr>
          <a:xfrm>
            <a:off x="4553712" y="2971800"/>
            <a:ext cx="3044952" cy="640080"/>
          </a:xfrm>
          <a:prstGeom prst="rect">
            <a:avLst/>
          </a:prstGeom>
          <a:noFill/>
          <a:ln/>
        </p:spPr>
        <p:txBody>
          <a:bodyPr wrap="square" lIns="0" tIns="0" rIns="0" bIns="0" rtlCol="0" anchor="ctr"/>
          <a:lstStyle/>
          <a:p>
            <a:pPr marL="0" indent="0" algn="ctr">
              <a:lnSpc>
                <a:spcPct val="103000"/>
              </a:lnSpc>
              <a:buNone/>
            </a:pPr>
            <a:r>
              <a:rPr lang="en-US" sz="1200" dirty="0">
                <a:solidFill>
                  <a:srgbClr val="5E6E78"/>
                </a:solidFill>
                <a:latin typeface="Calibri" pitchFamily="34" charset="0"/>
                <a:ea typeface="Calibri" pitchFamily="34" charset="-122"/>
                <a:cs typeface="Calibri" pitchFamily="34" charset="-120"/>
              </a:rPr>
              <a:t>success at ε ≥ 5, where the model is still accurate</a:t>
            </a:r>
            <a:endParaRPr lang="en-US" sz="1200" dirty="0"/>
          </a:p>
        </p:txBody>
      </p:sp>
      <p:sp>
        <p:nvSpPr>
          <p:cNvPr id="11" name="Shape 9"/>
          <p:cNvSpPr/>
          <p:nvPr/>
        </p:nvSpPr>
        <p:spPr>
          <a:xfrm>
            <a:off x="8010144" y="1874520"/>
            <a:ext cx="3502152" cy="1828800"/>
          </a:xfrm>
          <a:prstGeom prst="roundRect">
            <a:avLst>
              <a:gd name="adj" fmla="val 4000"/>
            </a:avLst>
          </a:prstGeom>
          <a:solidFill>
            <a:srgbClr val="EAF2F3"/>
          </a:solidFill>
          <a:ln/>
          <a:effectLst>
            <a:outerShdw blurRad="88900" dist="38100" dir="5400000" algn="bl" rotWithShape="0">
              <a:srgbClr val="000000">
                <a:alpha val="16000"/>
              </a:srgbClr>
            </a:outerShdw>
          </a:effectLst>
        </p:spPr>
        <p:txBody>
          <a:bodyPr/>
          <a:lstStyle/>
          <a:p>
            <a:endParaRPr lang="en-QA"/>
          </a:p>
        </p:txBody>
      </p:sp>
      <p:sp>
        <p:nvSpPr>
          <p:cNvPr id="12" name="Text 10"/>
          <p:cNvSpPr/>
          <p:nvPr/>
        </p:nvSpPr>
        <p:spPr>
          <a:xfrm>
            <a:off x="8193024" y="2057400"/>
            <a:ext cx="3136392" cy="868680"/>
          </a:xfrm>
          <a:prstGeom prst="rect">
            <a:avLst/>
          </a:prstGeom>
          <a:noFill/>
          <a:ln/>
        </p:spPr>
        <p:txBody>
          <a:bodyPr wrap="square" lIns="0" tIns="0" rIns="0" bIns="0" rtlCol="0" anchor="ctr"/>
          <a:lstStyle/>
          <a:p>
            <a:pPr marL="0" indent="0" algn="ctr">
              <a:buNone/>
            </a:pPr>
            <a:r>
              <a:rPr lang="en-US" sz="4400" b="1" dirty="0">
                <a:solidFill>
                  <a:srgbClr val="D9694C"/>
                </a:solidFill>
                <a:latin typeface="Cambria" pitchFamily="34" charset="0"/>
                <a:ea typeface="Cambria" pitchFamily="34" charset="-122"/>
                <a:cs typeface="Cambria" pitchFamily="34" charset="-120"/>
              </a:rPr>
              <a:t>≈ 0.99</a:t>
            </a:r>
            <a:endParaRPr lang="en-US" sz="4400" dirty="0"/>
          </a:p>
        </p:txBody>
      </p:sp>
      <p:sp>
        <p:nvSpPr>
          <p:cNvPr id="13" name="Text 11"/>
          <p:cNvSpPr/>
          <p:nvPr/>
        </p:nvSpPr>
        <p:spPr>
          <a:xfrm>
            <a:off x="8238744" y="2971800"/>
            <a:ext cx="3044952" cy="640080"/>
          </a:xfrm>
          <a:prstGeom prst="rect">
            <a:avLst/>
          </a:prstGeom>
          <a:noFill/>
          <a:ln/>
        </p:spPr>
        <p:txBody>
          <a:bodyPr wrap="square" lIns="0" tIns="0" rIns="0" bIns="0" rtlCol="0" anchor="ctr"/>
          <a:lstStyle/>
          <a:p>
            <a:pPr marL="0" indent="0" algn="ctr">
              <a:lnSpc>
                <a:spcPct val="103000"/>
              </a:lnSpc>
              <a:buNone/>
            </a:pPr>
            <a:r>
              <a:rPr lang="en-US" sz="1200" dirty="0">
                <a:solidFill>
                  <a:srgbClr val="5E6E78"/>
                </a:solidFill>
                <a:latin typeface="Calibri" pitchFamily="34" charset="0"/>
                <a:ea typeface="Calibri" pitchFamily="34" charset="-122"/>
                <a:cs typeface="Calibri" pitchFamily="34" charset="-120"/>
              </a:rPr>
              <a:t>success at ε ≥ 9 (Fig. 5)</a:t>
            </a:r>
            <a:endParaRPr lang="en-US" sz="1200" dirty="0"/>
          </a:p>
        </p:txBody>
      </p:sp>
      <p:sp>
        <p:nvSpPr>
          <p:cNvPr id="14" name="Text 12"/>
          <p:cNvSpPr/>
          <p:nvPr/>
        </p:nvSpPr>
        <p:spPr>
          <a:xfrm>
            <a:off x="640080" y="4069080"/>
            <a:ext cx="10881360" cy="365760"/>
          </a:xfrm>
          <a:prstGeom prst="rect">
            <a:avLst/>
          </a:prstGeom>
          <a:noFill/>
          <a:ln/>
        </p:spPr>
        <p:txBody>
          <a:bodyPr wrap="square" lIns="0" tIns="0" rIns="0" bIns="0" rtlCol="0" anchor="ctr"/>
          <a:lstStyle/>
          <a:p>
            <a:pPr marL="0" indent="0">
              <a:buNone/>
            </a:pPr>
            <a:r>
              <a:rPr lang="en-US" sz="1300" b="1" dirty="0">
                <a:solidFill>
                  <a:srgbClr val="1A2733"/>
                </a:solidFill>
                <a:latin typeface="Calibri" pitchFamily="34" charset="0"/>
                <a:ea typeface="Calibri" pitchFamily="34" charset="-122"/>
                <a:cs typeface="Calibri" pitchFamily="34" charset="-120"/>
              </a:rPr>
              <a:t>Tested on three benchmark datasets (over ResNet-18 embeddings):</a:t>
            </a:r>
            <a:endParaRPr lang="en-US" sz="1300" dirty="0"/>
          </a:p>
        </p:txBody>
      </p:sp>
      <p:sp>
        <p:nvSpPr>
          <p:cNvPr id="15" name="Shape 13"/>
          <p:cNvSpPr/>
          <p:nvPr/>
        </p:nvSpPr>
        <p:spPr>
          <a:xfrm>
            <a:off x="640080" y="4498848"/>
            <a:ext cx="2011680" cy="502920"/>
          </a:xfrm>
          <a:prstGeom prst="roundRect">
            <a:avLst>
              <a:gd name="adj" fmla="val 18182"/>
            </a:avLst>
          </a:prstGeom>
          <a:solidFill>
            <a:srgbClr val="0E2A3B"/>
          </a:solidFill>
          <a:ln/>
        </p:spPr>
        <p:txBody>
          <a:bodyPr/>
          <a:lstStyle/>
          <a:p>
            <a:endParaRPr lang="en-QA"/>
          </a:p>
        </p:txBody>
      </p:sp>
      <p:sp>
        <p:nvSpPr>
          <p:cNvPr id="16" name="Text 14"/>
          <p:cNvSpPr/>
          <p:nvPr/>
        </p:nvSpPr>
        <p:spPr>
          <a:xfrm>
            <a:off x="640080" y="4498848"/>
            <a:ext cx="201168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CIFAR-10</a:t>
            </a:r>
            <a:endParaRPr lang="en-US" sz="1300" dirty="0"/>
          </a:p>
        </p:txBody>
      </p:sp>
      <p:sp>
        <p:nvSpPr>
          <p:cNvPr id="17" name="Shape 15"/>
          <p:cNvSpPr/>
          <p:nvPr/>
        </p:nvSpPr>
        <p:spPr>
          <a:xfrm>
            <a:off x="2834640" y="4498848"/>
            <a:ext cx="2011680" cy="502920"/>
          </a:xfrm>
          <a:prstGeom prst="roundRect">
            <a:avLst>
              <a:gd name="adj" fmla="val 18182"/>
            </a:avLst>
          </a:prstGeom>
          <a:solidFill>
            <a:srgbClr val="0E2A3B"/>
          </a:solidFill>
          <a:ln/>
        </p:spPr>
        <p:txBody>
          <a:bodyPr/>
          <a:lstStyle/>
          <a:p>
            <a:endParaRPr lang="en-QA"/>
          </a:p>
        </p:txBody>
      </p:sp>
      <p:sp>
        <p:nvSpPr>
          <p:cNvPr id="18" name="Text 16"/>
          <p:cNvSpPr/>
          <p:nvPr/>
        </p:nvSpPr>
        <p:spPr>
          <a:xfrm>
            <a:off x="2834640" y="4498848"/>
            <a:ext cx="201168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ImageNet</a:t>
            </a:r>
            <a:endParaRPr lang="en-US" sz="1300" dirty="0"/>
          </a:p>
        </p:txBody>
      </p:sp>
      <p:sp>
        <p:nvSpPr>
          <p:cNvPr id="19" name="Shape 17"/>
          <p:cNvSpPr/>
          <p:nvPr/>
        </p:nvSpPr>
        <p:spPr>
          <a:xfrm>
            <a:off x="5029200" y="4498848"/>
            <a:ext cx="2011680" cy="502920"/>
          </a:xfrm>
          <a:prstGeom prst="roundRect">
            <a:avLst>
              <a:gd name="adj" fmla="val 18182"/>
            </a:avLst>
          </a:prstGeom>
          <a:solidFill>
            <a:srgbClr val="0E2A3B"/>
          </a:solidFill>
          <a:ln/>
        </p:spPr>
        <p:txBody>
          <a:bodyPr/>
          <a:lstStyle/>
          <a:p>
            <a:endParaRPr lang="en-QA"/>
          </a:p>
        </p:txBody>
      </p:sp>
      <p:sp>
        <p:nvSpPr>
          <p:cNvPr id="20" name="Text 18"/>
          <p:cNvSpPr/>
          <p:nvPr/>
        </p:nvSpPr>
        <p:spPr>
          <a:xfrm>
            <a:off x="5029200" y="4498848"/>
            <a:ext cx="201168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CelebA</a:t>
            </a:r>
            <a:endParaRPr lang="en-US" sz="1300" dirty="0"/>
          </a:p>
        </p:txBody>
      </p:sp>
      <p:sp>
        <p:nvSpPr>
          <p:cNvPr id="21" name="Shape 19"/>
          <p:cNvSpPr/>
          <p:nvPr/>
        </p:nvSpPr>
        <p:spPr>
          <a:xfrm>
            <a:off x="640080" y="5138928"/>
            <a:ext cx="10881360" cy="932688"/>
          </a:xfrm>
          <a:prstGeom prst="roundRect">
            <a:avLst>
              <a:gd name="adj" fmla="val 6863"/>
            </a:avLst>
          </a:prstGeom>
          <a:solidFill>
            <a:srgbClr val="FFFFFF"/>
          </a:solidFill>
          <a:ln w="12700">
            <a:solidFill>
              <a:srgbClr val="C9D8DC"/>
            </a:solidFill>
            <a:prstDash val="solid"/>
          </a:ln>
          <a:effectLst>
            <a:outerShdw blurRad="88900" dist="38100" dir="5400000" algn="bl" rotWithShape="0">
              <a:srgbClr val="000000">
                <a:alpha val="16000"/>
              </a:srgbClr>
            </a:outerShdw>
          </a:effectLst>
        </p:spPr>
        <p:txBody>
          <a:bodyPr/>
          <a:lstStyle/>
          <a:p>
            <a:endParaRPr lang="en-QA"/>
          </a:p>
        </p:txBody>
      </p:sp>
      <p:sp>
        <p:nvSpPr>
          <p:cNvPr id="22" name="Shape 20"/>
          <p:cNvSpPr/>
          <p:nvPr/>
        </p:nvSpPr>
        <p:spPr>
          <a:xfrm>
            <a:off x="868680" y="5321808"/>
            <a:ext cx="566928" cy="566928"/>
          </a:xfrm>
          <a:prstGeom prst="ellipse">
            <a:avLst/>
          </a:prstGeom>
          <a:solidFill>
            <a:srgbClr val="D9694C"/>
          </a:solidFill>
          <a:ln/>
          <a:effectLst>
            <a:outerShdw blurRad="88900" dist="38100" dir="5400000" algn="bl" rotWithShape="0">
              <a:srgbClr val="000000">
                <a:alpha val="16000"/>
              </a:srgbClr>
            </a:outerShdw>
          </a:effectLst>
        </p:spPr>
        <p:txBody>
          <a:bodyPr/>
          <a:lstStyle/>
          <a:p>
            <a:endParaRPr lang="en-QA"/>
          </a:p>
        </p:txBody>
      </p:sp>
      <p:pic>
        <p:nvPicPr>
          <p:cNvPr id="23" name="Image 0" descr="preencoded.png"/>
          <p:cNvPicPr>
            <a:picLocks noChangeAspect="1"/>
          </p:cNvPicPr>
          <p:nvPr/>
        </p:nvPicPr>
        <p:blipFill>
          <a:blip r:embed="rId3"/>
          <a:stretch>
            <a:fillRect/>
          </a:stretch>
        </p:blipFill>
        <p:spPr>
          <a:xfrm>
            <a:off x="1016081" y="5469209"/>
            <a:ext cx="272125" cy="272125"/>
          </a:xfrm>
          <a:prstGeom prst="rect">
            <a:avLst/>
          </a:prstGeom>
        </p:spPr>
      </p:pic>
      <p:sp>
        <p:nvSpPr>
          <p:cNvPr id="24" name="Text 21"/>
          <p:cNvSpPr/>
          <p:nvPr/>
        </p:nvSpPr>
        <p:spPr>
          <a:xfrm>
            <a:off x="1600200" y="5248656"/>
            <a:ext cx="9738360" cy="713232"/>
          </a:xfrm>
          <a:prstGeom prst="rect">
            <a:avLst/>
          </a:prstGeom>
          <a:noFill/>
          <a:ln/>
        </p:spPr>
        <p:txBody>
          <a:bodyPr wrap="square" lIns="0" tIns="0" rIns="0" bIns="0" rtlCol="0" anchor="ctr"/>
          <a:lstStyle/>
          <a:p>
            <a:pPr marL="0" indent="0">
              <a:lnSpc>
                <a:spcPct val="105000"/>
              </a:lnSpc>
              <a:buNone/>
            </a:pPr>
            <a:r>
              <a:rPr lang="en-US" sz="1200" b="1" dirty="0">
                <a:solidFill>
                  <a:srgbClr val="1A2733"/>
                </a:solidFill>
                <a:latin typeface="Calibri" pitchFamily="34" charset="0"/>
                <a:ea typeface="Calibri" pitchFamily="34" charset="-122"/>
                <a:cs typeface="Calibri" pitchFamily="34" charset="-120"/>
              </a:rPr>
              <a:t>Also reported:  </a:t>
            </a:r>
            <a:r>
              <a:rPr lang="en-US" sz="1200" dirty="0">
                <a:solidFill>
                  <a:srgbClr val="5E6E78"/>
                </a:solidFill>
                <a:latin typeface="Calibri" pitchFamily="34" charset="0"/>
                <a:ea typeface="Calibri" pitchFamily="34" charset="-122"/>
                <a:cs typeface="Calibri" pitchFamily="34" charset="-120"/>
              </a:rPr>
              <a:t>LDP mechanisms used are BitRand &amp; OME. Malicious weights are statistically indistinguishable from honest ones (Fig. 8) — clients cannot detect the tampering by inspecting weights.</a:t>
            </a:r>
            <a:endParaRPr lang="en-US" sz="1200" dirty="0"/>
          </a:p>
        </p:txBody>
      </p:sp>
      <p:sp>
        <p:nvSpPr>
          <p:cNvPr id="26" name="Shape 22"/>
          <p:cNvSpPr/>
          <p:nvPr/>
        </p:nvSpPr>
        <p:spPr>
          <a:xfrm>
            <a:off x="548640" y="6464808"/>
            <a:ext cx="109728" cy="109728"/>
          </a:xfrm>
          <a:prstGeom prst="ellipse">
            <a:avLst/>
          </a:prstGeom>
          <a:solidFill>
            <a:srgbClr val="0E8C8C"/>
          </a:solidFill>
          <a:ln/>
        </p:spPr>
        <p:txBody>
          <a:bodyPr/>
          <a:lstStyle/>
          <a:p>
            <a:endParaRPr lang="en-QA"/>
          </a:p>
        </p:txBody>
      </p:sp>
      <p:sp>
        <p:nvSpPr>
          <p:cNvPr id="27" name="Text 23"/>
          <p:cNvSpPr/>
          <p:nvPr/>
        </p:nvSpPr>
        <p:spPr>
          <a:xfrm>
            <a:off x="749808" y="6355080"/>
            <a:ext cx="8229600" cy="320040"/>
          </a:xfrm>
          <a:prstGeom prst="rect">
            <a:avLst/>
          </a:prstGeom>
          <a:noFill/>
          <a:ln/>
        </p:spPr>
        <p:txBody>
          <a:bodyPr wrap="square" lIns="0" tIns="0" rIns="0" bIns="0" rtlCol="0" anchor="ctr"/>
          <a:lstStyle/>
          <a:p>
            <a:pPr marL="0" indent="0">
              <a:buNone/>
            </a:pPr>
            <a:r>
              <a:rPr lang="en-US" sz="900" dirty="0">
                <a:solidFill>
                  <a:srgbClr val="5E6E78"/>
                </a:solidFill>
                <a:latin typeface="Calibri" pitchFamily="34" charset="0"/>
                <a:ea typeface="Calibri" pitchFamily="34" charset="-122"/>
                <a:cs typeface="Calibri" pitchFamily="34" charset="-120"/>
              </a:rPr>
              <a:t>AMIA × Federated Learning × LDP  —  Literature &amp; Proposed Study</a:t>
            </a:r>
            <a:endParaRPr lang="en-US" sz="900" dirty="0"/>
          </a:p>
        </p:txBody>
      </p:sp>
      <p:sp>
        <p:nvSpPr>
          <p:cNvPr id="28" name="Text 24"/>
          <p:cNvSpPr/>
          <p:nvPr/>
        </p:nvSpPr>
        <p:spPr>
          <a:xfrm>
            <a:off x="11338560" y="6355080"/>
            <a:ext cx="457200" cy="320040"/>
          </a:xfrm>
          <a:prstGeom prst="rect">
            <a:avLst/>
          </a:prstGeom>
          <a:noFill/>
          <a:ln/>
        </p:spPr>
        <p:txBody>
          <a:bodyPr wrap="square" rtlCol="0" anchor="ctr"/>
          <a:lstStyle/>
          <a:p>
            <a:pPr marL="0" indent="0" algn="r">
              <a:buNone/>
            </a:pPr>
            <a:r>
              <a:rPr lang="en-US" sz="1000" dirty="0">
                <a:solidFill>
                  <a:srgbClr val="5E6E78"/>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bg>
      <p:bgPr>
        <a:solidFill>
          <a:srgbClr val="0E2A3B"/>
        </a:solidFill>
        <a:effectLst/>
      </p:bgPr>
    </p:bg>
    <p:spTree>
      <p:nvGrpSpPr>
        <p:cNvPr id="1" name=""/>
        <p:cNvGrpSpPr/>
        <p:nvPr/>
      </p:nvGrpSpPr>
      <p:grpSpPr>
        <a:xfrm>
          <a:off x="0" y="0"/>
          <a:ext cx="0" cy="0"/>
          <a:chOff x="0" y="0"/>
          <a:chExt cx="0" cy="0"/>
        </a:xfrm>
      </p:grpSpPr>
      <p:sp>
        <p:nvSpPr>
          <p:cNvPr id="2" name="Shape 0"/>
          <p:cNvSpPr/>
          <p:nvPr/>
        </p:nvSpPr>
        <p:spPr>
          <a:xfrm>
            <a:off x="566928" y="566928"/>
            <a:ext cx="128016" cy="128016"/>
          </a:xfrm>
          <a:prstGeom prst="ellipse">
            <a:avLst/>
          </a:prstGeom>
          <a:solidFill>
            <a:srgbClr val="3FC6BC"/>
          </a:solidFill>
          <a:ln/>
        </p:spPr>
        <p:txBody>
          <a:bodyPr/>
          <a:lstStyle/>
          <a:p>
            <a:endParaRPr lang="en-QA"/>
          </a:p>
        </p:txBody>
      </p:sp>
      <p:sp>
        <p:nvSpPr>
          <p:cNvPr id="3" name="Text 1"/>
          <p:cNvSpPr/>
          <p:nvPr/>
        </p:nvSpPr>
        <p:spPr>
          <a:xfrm>
            <a:off x="777240" y="457200"/>
            <a:ext cx="10515600" cy="320040"/>
          </a:xfrm>
          <a:prstGeom prst="rect">
            <a:avLst/>
          </a:prstGeom>
          <a:noFill/>
          <a:ln/>
        </p:spPr>
        <p:txBody>
          <a:bodyPr wrap="square" lIns="0" tIns="0" rIns="0" bIns="0" rtlCol="0" anchor="ctr"/>
          <a:lstStyle/>
          <a:p>
            <a:pPr marL="0" indent="0">
              <a:buNone/>
            </a:pPr>
            <a:r>
              <a:rPr lang="en-US" sz="1200" b="1" kern="0" spc="200" dirty="0">
                <a:solidFill>
                  <a:srgbClr val="0E8C8C"/>
                </a:solidFill>
                <a:latin typeface="Calibri" pitchFamily="34" charset="0"/>
                <a:ea typeface="Calibri" pitchFamily="34" charset="-122"/>
                <a:cs typeface="Calibri" pitchFamily="34" charset="-120"/>
              </a:rPr>
              <a:t>SECTION 1 · SO WHAT</a:t>
            </a:r>
            <a:endParaRPr lang="en-US" sz="1200" dirty="0"/>
          </a:p>
        </p:txBody>
      </p:sp>
      <p:sp>
        <p:nvSpPr>
          <p:cNvPr id="4" name="Text 2"/>
          <p:cNvSpPr/>
          <p:nvPr/>
        </p:nvSpPr>
        <p:spPr>
          <a:xfrm>
            <a:off x="548640" y="768096"/>
            <a:ext cx="11064240" cy="86868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Why this matters for our project</a:t>
            </a:r>
            <a:endParaRPr lang="en-US" sz="3000" dirty="0"/>
          </a:p>
        </p:txBody>
      </p:sp>
      <p:sp>
        <p:nvSpPr>
          <p:cNvPr id="5" name="Text 3"/>
          <p:cNvSpPr/>
          <p:nvPr/>
        </p:nvSpPr>
        <p:spPr>
          <a:xfrm>
            <a:off x="640080" y="1783080"/>
            <a:ext cx="10881360" cy="640080"/>
          </a:xfrm>
          <a:prstGeom prst="rect">
            <a:avLst/>
          </a:prstGeom>
          <a:noFill/>
          <a:ln/>
        </p:spPr>
        <p:txBody>
          <a:bodyPr wrap="square" lIns="0" tIns="0" rIns="0" bIns="0" rtlCol="0" anchor="ctr"/>
          <a:lstStyle/>
          <a:p>
            <a:pPr marL="0" indent="0">
              <a:lnSpc>
                <a:spcPct val="105000"/>
              </a:lnSpc>
              <a:buNone/>
            </a:pPr>
            <a:r>
              <a:rPr lang="en-US" sz="1500" dirty="0">
                <a:solidFill>
                  <a:srgbClr val="DCE7EA"/>
                </a:solidFill>
                <a:latin typeface="Calibri" pitchFamily="34" charset="0"/>
                <a:ea typeface="Calibri" pitchFamily="34" charset="-122"/>
                <a:cs typeface="Calibri" pitchFamily="34" charset="-120"/>
              </a:rPr>
              <a:t>The paper proves the attack is potent for image classifiers. Two questions remain open — and they define our study.</a:t>
            </a:r>
            <a:endParaRPr lang="en-US" sz="1500" dirty="0"/>
          </a:p>
        </p:txBody>
      </p:sp>
      <p:sp>
        <p:nvSpPr>
          <p:cNvPr id="6" name="Shape 4"/>
          <p:cNvSpPr/>
          <p:nvPr/>
        </p:nvSpPr>
        <p:spPr>
          <a:xfrm>
            <a:off x="640080" y="2606040"/>
            <a:ext cx="5349240" cy="2926080"/>
          </a:xfrm>
          <a:prstGeom prst="roundRect">
            <a:avLst>
              <a:gd name="adj" fmla="val 2500"/>
            </a:avLst>
          </a:prstGeom>
          <a:solidFill>
            <a:srgbClr val="143C50"/>
          </a:solidFill>
          <a:ln w="12700">
            <a:solidFill>
              <a:srgbClr val="0E8C8C"/>
            </a:solidFill>
            <a:prstDash val="solid"/>
          </a:ln>
        </p:spPr>
        <p:txBody>
          <a:bodyPr/>
          <a:lstStyle/>
          <a:p>
            <a:endParaRPr lang="en-QA"/>
          </a:p>
        </p:txBody>
      </p:sp>
      <p:sp>
        <p:nvSpPr>
          <p:cNvPr id="7" name="Shape 5"/>
          <p:cNvSpPr/>
          <p:nvPr/>
        </p:nvSpPr>
        <p:spPr>
          <a:xfrm>
            <a:off x="914400" y="2880360"/>
            <a:ext cx="822960" cy="822960"/>
          </a:xfrm>
          <a:prstGeom prst="ellipse">
            <a:avLst/>
          </a:prstGeom>
          <a:solidFill>
            <a:srgbClr val="E8A04C"/>
          </a:solidFill>
          <a:ln/>
          <a:effectLst>
            <a:outerShdw blurRad="88900" dist="38100" dir="5400000" algn="bl" rotWithShape="0">
              <a:srgbClr val="000000">
                <a:alpha val="16000"/>
              </a:srgbClr>
            </a:outerShdw>
          </a:effectLst>
        </p:spPr>
        <p:txBody>
          <a:bodyPr/>
          <a:lstStyle/>
          <a:p>
            <a:endParaRPr lang="en-QA"/>
          </a:p>
        </p:txBody>
      </p:sp>
      <p:pic>
        <p:nvPicPr>
          <p:cNvPr id="8" name="Image 0" descr="preencoded.png"/>
          <p:cNvPicPr>
            <a:picLocks noChangeAspect="1"/>
          </p:cNvPicPr>
          <p:nvPr/>
        </p:nvPicPr>
        <p:blipFill>
          <a:blip r:embed="rId3"/>
          <a:stretch>
            <a:fillRect/>
          </a:stretch>
        </p:blipFill>
        <p:spPr>
          <a:xfrm>
            <a:off x="1128370" y="3094330"/>
            <a:ext cx="395021" cy="395021"/>
          </a:xfrm>
          <a:prstGeom prst="rect">
            <a:avLst/>
          </a:prstGeom>
        </p:spPr>
      </p:pic>
      <p:sp>
        <p:nvSpPr>
          <p:cNvPr id="9" name="Text 6"/>
          <p:cNvSpPr/>
          <p:nvPr/>
        </p:nvSpPr>
        <p:spPr>
          <a:xfrm>
            <a:off x="1920240" y="2788920"/>
            <a:ext cx="3931920" cy="822960"/>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Does it transfer to LLMs?</a:t>
            </a:r>
            <a:endParaRPr lang="en-US" sz="1900" dirty="0"/>
          </a:p>
        </p:txBody>
      </p:sp>
      <p:sp>
        <p:nvSpPr>
          <p:cNvPr id="10" name="Text 7"/>
          <p:cNvSpPr/>
          <p:nvPr/>
        </p:nvSpPr>
        <p:spPr>
          <a:xfrm>
            <a:off x="960120" y="3703320"/>
            <a:ext cx="4709160" cy="1691640"/>
          </a:xfrm>
          <a:prstGeom prst="rect">
            <a:avLst/>
          </a:prstGeom>
          <a:noFill/>
          <a:ln/>
        </p:spPr>
        <p:txBody>
          <a:bodyPr wrap="square" lIns="0" tIns="0" rIns="0" bIns="0" rtlCol="0" anchor="ctr"/>
          <a:lstStyle/>
          <a:p>
            <a:pPr marL="0" indent="0">
              <a:lnSpc>
                <a:spcPct val="110000"/>
              </a:lnSpc>
              <a:buNone/>
            </a:pPr>
            <a:r>
              <a:rPr lang="en-US" sz="1350" dirty="0">
                <a:solidFill>
                  <a:srgbClr val="DCE7EA"/>
                </a:solidFill>
                <a:latin typeface="Calibri" pitchFamily="34" charset="0"/>
                <a:ea typeface="Calibri" pitchFamily="34" charset="-122"/>
                <a:cs typeface="Calibri" pitchFamily="34" charset="-120"/>
              </a:rPr>
              <a:t>Large Language Models are far bigger, sequence-based, and trained differently than image classifiers. Whether the “chosen-neuron” trick works there is untested.</a:t>
            </a:r>
            <a:endParaRPr lang="en-US" sz="1350" dirty="0"/>
          </a:p>
        </p:txBody>
      </p:sp>
      <p:sp>
        <p:nvSpPr>
          <p:cNvPr id="11" name="Shape 8"/>
          <p:cNvSpPr/>
          <p:nvPr/>
        </p:nvSpPr>
        <p:spPr>
          <a:xfrm>
            <a:off x="6172200" y="2606040"/>
            <a:ext cx="5349240" cy="2926080"/>
          </a:xfrm>
          <a:prstGeom prst="roundRect">
            <a:avLst>
              <a:gd name="adj" fmla="val 2500"/>
            </a:avLst>
          </a:prstGeom>
          <a:solidFill>
            <a:srgbClr val="143C50"/>
          </a:solidFill>
          <a:ln w="12700">
            <a:solidFill>
              <a:srgbClr val="0E8C8C"/>
            </a:solidFill>
            <a:prstDash val="solid"/>
          </a:ln>
        </p:spPr>
        <p:txBody>
          <a:bodyPr/>
          <a:lstStyle/>
          <a:p>
            <a:endParaRPr lang="en-QA"/>
          </a:p>
        </p:txBody>
      </p:sp>
      <p:sp>
        <p:nvSpPr>
          <p:cNvPr id="12" name="Shape 9"/>
          <p:cNvSpPr/>
          <p:nvPr/>
        </p:nvSpPr>
        <p:spPr>
          <a:xfrm>
            <a:off x="6446520" y="2880360"/>
            <a:ext cx="822960" cy="822960"/>
          </a:xfrm>
          <a:prstGeom prst="ellipse">
            <a:avLst/>
          </a:prstGeom>
          <a:solidFill>
            <a:srgbClr val="E8A04C"/>
          </a:solidFill>
          <a:ln/>
          <a:effectLst>
            <a:outerShdw blurRad="88900" dist="38100" dir="5400000" algn="bl" rotWithShape="0">
              <a:srgbClr val="000000">
                <a:alpha val="16000"/>
              </a:srgbClr>
            </a:outerShdw>
          </a:effectLst>
        </p:spPr>
        <p:txBody>
          <a:bodyPr/>
          <a:lstStyle/>
          <a:p>
            <a:endParaRPr lang="en-QA"/>
          </a:p>
        </p:txBody>
      </p:sp>
      <p:pic>
        <p:nvPicPr>
          <p:cNvPr id="13" name="Image 1" descr="preencoded.png"/>
          <p:cNvPicPr>
            <a:picLocks noChangeAspect="1"/>
          </p:cNvPicPr>
          <p:nvPr/>
        </p:nvPicPr>
        <p:blipFill>
          <a:blip r:embed="rId4"/>
          <a:stretch>
            <a:fillRect/>
          </a:stretch>
        </p:blipFill>
        <p:spPr>
          <a:xfrm>
            <a:off x="6660490" y="3094330"/>
            <a:ext cx="395021" cy="395021"/>
          </a:xfrm>
          <a:prstGeom prst="rect">
            <a:avLst/>
          </a:prstGeom>
        </p:spPr>
      </p:pic>
      <p:sp>
        <p:nvSpPr>
          <p:cNvPr id="14" name="Text 10"/>
          <p:cNvSpPr/>
          <p:nvPr/>
        </p:nvSpPr>
        <p:spPr>
          <a:xfrm>
            <a:off x="7452360" y="2788920"/>
            <a:ext cx="3931920" cy="822960"/>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What actually defends it?</a:t>
            </a:r>
            <a:endParaRPr lang="en-US" sz="1900" dirty="0"/>
          </a:p>
        </p:txBody>
      </p:sp>
      <p:sp>
        <p:nvSpPr>
          <p:cNvPr id="15" name="Text 11"/>
          <p:cNvSpPr/>
          <p:nvPr/>
        </p:nvSpPr>
        <p:spPr>
          <a:xfrm>
            <a:off x="6492240" y="3703320"/>
            <a:ext cx="4709160" cy="1691640"/>
          </a:xfrm>
          <a:prstGeom prst="rect">
            <a:avLst/>
          </a:prstGeom>
          <a:noFill/>
          <a:ln/>
        </p:spPr>
        <p:txBody>
          <a:bodyPr wrap="square" lIns="0" tIns="0" rIns="0" bIns="0" rtlCol="0" anchor="ctr"/>
          <a:lstStyle/>
          <a:p>
            <a:pPr marL="0" indent="0">
              <a:lnSpc>
                <a:spcPct val="110000"/>
              </a:lnSpc>
              <a:buNone/>
            </a:pPr>
            <a:r>
              <a:rPr lang="en-US" sz="1350" dirty="0">
                <a:solidFill>
                  <a:srgbClr val="DCE7EA"/>
                </a:solidFill>
                <a:latin typeface="Calibri" pitchFamily="34" charset="0"/>
                <a:ea typeface="Calibri" pitchFamily="34" charset="-122"/>
                <a:cs typeface="Calibri" pitchFamily="34" charset="-120"/>
              </a:rPr>
              <a:t>If LDP fails, which alternative defenses meaningfully reduce attack accuracy without destroying the model? This is unresolved in the paper.</a:t>
            </a:r>
            <a:endParaRPr lang="en-US" sz="1350" dirty="0"/>
          </a:p>
        </p:txBody>
      </p:sp>
      <p:sp>
        <p:nvSpPr>
          <p:cNvPr id="17" name="Shape 12"/>
          <p:cNvSpPr/>
          <p:nvPr/>
        </p:nvSpPr>
        <p:spPr>
          <a:xfrm>
            <a:off x="548640" y="6464808"/>
            <a:ext cx="109728" cy="109728"/>
          </a:xfrm>
          <a:prstGeom prst="ellipse">
            <a:avLst/>
          </a:prstGeom>
          <a:solidFill>
            <a:srgbClr val="0E8C8C"/>
          </a:solidFill>
          <a:ln/>
        </p:spPr>
        <p:txBody>
          <a:bodyPr/>
          <a:lstStyle/>
          <a:p>
            <a:endParaRPr lang="en-QA"/>
          </a:p>
        </p:txBody>
      </p:sp>
      <p:sp>
        <p:nvSpPr>
          <p:cNvPr id="18" name="Text 13"/>
          <p:cNvSpPr/>
          <p:nvPr/>
        </p:nvSpPr>
        <p:spPr>
          <a:xfrm>
            <a:off x="749808" y="6355080"/>
            <a:ext cx="8229600" cy="320040"/>
          </a:xfrm>
          <a:prstGeom prst="rect">
            <a:avLst/>
          </a:prstGeom>
          <a:noFill/>
          <a:ln/>
        </p:spPr>
        <p:txBody>
          <a:bodyPr wrap="square" lIns="0" tIns="0" rIns="0" bIns="0" rtlCol="0" anchor="ctr"/>
          <a:lstStyle/>
          <a:p>
            <a:pPr marL="0" indent="0">
              <a:buNone/>
            </a:pPr>
            <a:r>
              <a:rPr lang="en-US" sz="900" dirty="0">
                <a:solidFill>
                  <a:srgbClr val="5E6E78"/>
                </a:solidFill>
                <a:latin typeface="Calibri" pitchFamily="34" charset="0"/>
                <a:ea typeface="Calibri" pitchFamily="34" charset="-122"/>
                <a:cs typeface="Calibri" pitchFamily="34" charset="-120"/>
              </a:rPr>
              <a:t>AMIA × Federated Learning × LDP  —  Literature &amp; Proposed Study</a:t>
            </a:r>
            <a:endParaRPr lang="en-US" sz="900" dirty="0"/>
          </a:p>
        </p:txBody>
      </p:sp>
      <p:sp>
        <p:nvSpPr>
          <p:cNvPr id="19" name="Text 14"/>
          <p:cNvSpPr/>
          <p:nvPr/>
        </p:nvSpPr>
        <p:spPr>
          <a:xfrm>
            <a:off x="11338560" y="6355080"/>
            <a:ext cx="457200" cy="320040"/>
          </a:xfrm>
          <a:prstGeom prst="rect">
            <a:avLst/>
          </a:prstGeom>
          <a:noFill/>
          <a:ln/>
        </p:spPr>
        <p:txBody>
          <a:bodyPr wrap="square" rtlCol="0" anchor="ctr"/>
          <a:lstStyle/>
          <a:p>
            <a:pPr marL="0" indent="0" algn="r">
              <a:buNone/>
            </a:pPr>
            <a:r>
              <a:rPr lang="en-US" sz="1000" dirty="0">
                <a:solidFill>
                  <a:srgbClr val="5E6E78"/>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0">
    <p:bg>
      <p:bgPr>
        <a:solidFill>
          <a:srgbClr val="0E2A3B"/>
        </a:solidFill>
        <a:effectLst/>
      </p:bgPr>
    </p:bg>
    <p:spTree>
      <p:nvGrpSpPr>
        <p:cNvPr id="1" name=""/>
        <p:cNvGrpSpPr/>
        <p:nvPr/>
      </p:nvGrpSpPr>
      <p:grpSpPr>
        <a:xfrm>
          <a:off x="0" y="0"/>
          <a:ext cx="0" cy="0"/>
          <a:chOff x="0" y="0"/>
          <a:chExt cx="0" cy="0"/>
        </a:xfrm>
      </p:grpSpPr>
      <p:sp>
        <p:nvSpPr>
          <p:cNvPr id="2" name="Shape 0"/>
          <p:cNvSpPr/>
          <p:nvPr/>
        </p:nvSpPr>
        <p:spPr>
          <a:xfrm>
            <a:off x="10149840" y="3429000"/>
            <a:ext cx="0" cy="0"/>
          </a:xfrm>
          <a:prstGeom prst="line">
            <a:avLst/>
          </a:prstGeom>
          <a:noFill/>
          <a:ln w="17780">
            <a:solidFill>
              <a:srgbClr val="3FC6BC">
                <a:alpha val="65000"/>
              </a:srgbClr>
            </a:solidFill>
            <a:prstDash val="solid"/>
          </a:ln>
        </p:spPr>
        <p:txBody>
          <a:bodyPr/>
          <a:lstStyle/>
          <a:p>
            <a:endParaRPr lang="en-QA"/>
          </a:p>
        </p:txBody>
      </p:sp>
      <p:sp>
        <p:nvSpPr>
          <p:cNvPr id="3" name="Shape 1"/>
          <p:cNvSpPr/>
          <p:nvPr/>
        </p:nvSpPr>
        <p:spPr>
          <a:xfrm>
            <a:off x="10149840" y="3429000"/>
            <a:ext cx="1215341" cy="0"/>
          </a:xfrm>
          <a:prstGeom prst="line">
            <a:avLst/>
          </a:prstGeom>
          <a:noFill/>
          <a:ln w="17780">
            <a:solidFill>
              <a:srgbClr val="3FC6BC">
                <a:alpha val="65000"/>
              </a:srgbClr>
            </a:solidFill>
            <a:prstDash val="solid"/>
          </a:ln>
        </p:spPr>
        <p:txBody>
          <a:bodyPr/>
          <a:lstStyle/>
          <a:p>
            <a:endParaRPr lang="en-QA"/>
          </a:p>
        </p:txBody>
      </p:sp>
      <p:sp>
        <p:nvSpPr>
          <p:cNvPr id="4" name="Shape 2"/>
          <p:cNvSpPr/>
          <p:nvPr/>
        </p:nvSpPr>
        <p:spPr>
          <a:xfrm>
            <a:off x="10149840" y="3429000"/>
            <a:ext cx="1515506" cy="345904"/>
          </a:xfrm>
          <a:prstGeom prst="line">
            <a:avLst/>
          </a:prstGeom>
          <a:noFill/>
          <a:ln w="17780">
            <a:solidFill>
              <a:srgbClr val="3FC6BC">
                <a:alpha val="65000"/>
              </a:srgbClr>
            </a:solidFill>
            <a:prstDash val="solid"/>
          </a:ln>
        </p:spPr>
        <p:txBody>
          <a:bodyPr/>
          <a:lstStyle/>
          <a:p>
            <a:endParaRPr lang="en-QA"/>
          </a:p>
        </p:txBody>
      </p:sp>
      <p:sp>
        <p:nvSpPr>
          <p:cNvPr id="5" name="Shape 3"/>
          <p:cNvSpPr/>
          <p:nvPr/>
        </p:nvSpPr>
        <p:spPr>
          <a:xfrm>
            <a:off x="10149840" y="3429000"/>
            <a:ext cx="674464" cy="1400538"/>
          </a:xfrm>
          <a:prstGeom prst="line">
            <a:avLst/>
          </a:prstGeom>
          <a:noFill/>
          <a:ln w="17780">
            <a:solidFill>
              <a:srgbClr val="3FC6BC">
                <a:alpha val="65000"/>
              </a:srgbClr>
            </a:solidFill>
            <a:prstDash val="solid"/>
          </a:ln>
        </p:spPr>
        <p:txBody>
          <a:bodyPr/>
          <a:lstStyle/>
          <a:p>
            <a:endParaRPr lang="en-QA"/>
          </a:p>
        </p:txBody>
      </p:sp>
      <p:sp>
        <p:nvSpPr>
          <p:cNvPr id="6" name="Shape 4"/>
          <p:cNvSpPr/>
          <p:nvPr/>
        </p:nvSpPr>
        <p:spPr>
          <a:xfrm>
            <a:off x="10149840" y="3429000"/>
            <a:ext cx="0" cy="1400538"/>
          </a:xfrm>
          <a:prstGeom prst="line">
            <a:avLst/>
          </a:prstGeom>
          <a:noFill/>
          <a:ln w="17780">
            <a:solidFill>
              <a:srgbClr val="3FC6BC">
                <a:alpha val="65000"/>
              </a:srgbClr>
            </a:solidFill>
            <a:prstDash val="solid"/>
          </a:ln>
        </p:spPr>
        <p:txBody>
          <a:bodyPr/>
          <a:lstStyle/>
          <a:p>
            <a:endParaRPr lang="en-QA"/>
          </a:p>
        </p:txBody>
      </p:sp>
      <p:sp>
        <p:nvSpPr>
          <p:cNvPr id="7" name="Shape 5"/>
          <p:cNvSpPr/>
          <p:nvPr/>
        </p:nvSpPr>
        <p:spPr>
          <a:xfrm>
            <a:off x="10149840" y="3429000"/>
            <a:ext cx="0" cy="345904"/>
          </a:xfrm>
          <a:prstGeom prst="line">
            <a:avLst/>
          </a:prstGeom>
          <a:noFill/>
          <a:ln w="17780">
            <a:solidFill>
              <a:srgbClr val="3FC6BC">
                <a:alpha val="65000"/>
              </a:srgbClr>
            </a:solidFill>
            <a:prstDash val="solid"/>
          </a:ln>
        </p:spPr>
        <p:txBody>
          <a:bodyPr/>
          <a:lstStyle/>
          <a:p>
            <a:endParaRPr lang="en-QA"/>
          </a:p>
        </p:txBody>
      </p:sp>
      <p:sp>
        <p:nvSpPr>
          <p:cNvPr id="8" name="Shape 6"/>
          <p:cNvSpPr/>
          <p:nvPr/>
        </p:nvSpPr>
        <p:spPr>
          <a:xfrm>
            <a:off x="10149840" y="3429000"/>
            <a:ext cx="0" cy="0"/>
          </a:xfrm>
          <a:prstGeom prst="line">
            <a:avLst/>
          </a:prstGeom>
          <a:noFill/>
          <a:ln w="17780">
            <a:solidFill>
              <a:srgbClr val="3FC6BC">
                <a:alpha val="65000"/>
              </a:srgbClr>
            </a:solidFill>
            <a:prstDash val="solid"/>
          </a:ln>
        </p:spPr>
        <p:txBody>
          <a:bodyPr/>
          <a:lstStyle/>
          <a:p>
            <a:endParaRPr lang="en-QA"/>
          </a:p>
        </p:txBody>
      </p:sp>
      <p:sp>
        <p:nvSpPr>
          <p:cNvPr id="9" name="Shape 7"/>
          <p:cNvSpPr/>
          <p:nvPr/>
        </p:nvSpPr>
        <p:spPr>
          <a:xfrm>
            <a:off x="10021824" y="1746504"/>
            <a:ext cx="256032" cy="256032"/>
          </a:xfrm>
          <a:prstGeom prst="ellipse">
            <a:avLst/>
          </a:prstGeom>
          <a:solidFill>
            <a:srgbClr val="3FC6BC"/>
          </a:solidFill>
          <a:ln/>
        </p:spPr>
        <p:txBody>
          <a:bodyPr/>
          <a:lstStyle/>
          <a:p>
            <a:endParaRPr lang="en-QA"/>
          </a:p>
        </p:txBody>
      </p:sp>
      <p:sp>
        <p:nvSpPr>
          <p:cNvPr id="10" name="Shape 8"/>
          <p:cNvSpPr/>
          <p:nvPr/>
        </p:nvSpPr>
        <p:spPr>
          <a:xfrm>
            <a:off x="11237165" y="2331782"/>
            <a:ext cx="256032" cy="256032"/>
          </a:xfrm>
          <a:prstGeom prst="ellipse">
            <a:avLst/>
          </a:prstGeom>
          <a:solidFill>
            <a:srgbClr val="3FC6BC"/>
          </a:solidFill>
          <a:ln/>
        </p:spPr>
        <p:txBody>
          <a:bodyPr/>
          <a:lstStyle/>
          <a:p>
            <a:endParaRPr lang="en-QA"/>
          </a:p>
        </p:txBody>
      </p:sp>
      <p:sp>
        <p:nvSpPr>
          <p:cNvPr id="11" name="Shape 9"/>
          <p:cNvSpPr/>
          <p:nvPr/>
        </p:nvSpPr>
        <p:spPr>
          <a:xfrm>
            <a:off x="11537330" y="3646888"/>
            <a:ext cx="256032" cy="256032"/>
          </a:xfrm>
          <a:prstGeom prst="ellipse">
            <a:avLst/>
          </a:prstGeom>
          <a:solidFill>
            <a:srgbClr val="3FC6BC"/>
          </a:solidFill>
          <a:ln/>
        </p:spPr>
        <p:txBody>
          <a:bodyPr/>
          <a:lstStyle/>
          <a:p>
            <a:endParaRPr lang="en-QA"/>
          </a:p>
        </p:txBody>
      </p:sp>
      <p:sp>
        <p:nvSpPr>
          <p:cNvPr id="12" name="Shape 10"/>
          <p:cNvSpPr/>
          <p:nvPr/>
        </p:nvSpPr>
        <p:spPr>
          <a:xfrm>
            <a:off x="10696288" y="4701522"/>
            <a:ext cx="256032" cy="256032"/>
          </a:xfrm>
          <a:prstGeom prst="ellipse">
            <a:avLst/>
          </a:prstGeom>
          <a:solidFill>
            <a:srgbClr val="3FC6BC"/>
          </a:solidFill>
          <a:ln/>
        </p:spPr>
        <p:txBody>
          <a:bodyPr/>
          <a:lstStyle/>
          <a:p>
            <a:endParaRPr lang="en-QA"/>
          </a:p>
        </p:txBody>
      </p:sp>
      <p:sp>
        <p:nvSpPr>
          <p:cNvPr id="13" name="Shape 11"/>
          <p:cNvSpPr/>
          <p:nvPr/>
        </p:nvSpPr>
        <p:spPr>
          <a:xfrm>
            <a:off x="9347360" y="4701522"/>
            <a:ext cx="256032" cy="256032"/>
          </a:xfrm>
          <a:prstGeom prst="ellipse">
            <a:avLst/>
          </a:prstGeom>
          <a:solidFill>
            <a:srgbClr val="3FC6BC"/>
          </a:solidFill>
          <a:ln/>
        </p:spPr>
        <p:txBody>
          <a:bodyPr/>
          <a:lstStyle/>
          <a:p>
            <a:endParaRPr lang="en-QA"/>
          </a:p>
        </p:txBody>
      </p:sp>
      <p:sp>
        <p:nvSpPr>
          <p:cNvPr id="14" name="Shape 12"/>
          <p:cNvSpPr/>
          <p:nvPr/>
        </p:nvSpPr>
        <p:spPr>
          <a:xfrm>
            <a:off x="8506318" y="3646888"/>
            <a:ext cx="256032" cy="256032"/>
          </a:xfrm>
          <a:prstGeom prst="ellipse">
            <a:avLst/>
          </a:prstGeom>
          <a:solidFill>
            <a:srgbClr val="3FC6BC"/>
          </a:solidFill>
          <a:ln/>
        </p:spPr>
        <p:txBody>
          <a:bodyPr/>
          <a:lstStyle/>
          <a:p>
            <a:endParaRPr lang="en-QA"/>
          </a:p>
        </p:txBody>
      </p:sp>
      <p:sp>
        <p:nvSpPr>
          <p:cNvPr id="15" name="Shape 13"/>
          <p:cNvSpPr/>
          <p:nvPr/>
        </p:nvSpPr>
        <p:spPr>
          <a:xfrm>
            <a:off x="8806483" y="2331782"/>
            <a:ext cx="256032" cy="256032"/>
          </a:xfrm>
          <a:prstGeom prst="ellipse">
            <a:avLst/>
          </a:prstGeom>
          <a:solidFill>
            <a:srgbClr val="3FC6BC"/>
          </a:solidFill>
          <a:ln/>
        </p:spPr>
        <p:txBody>
          <a:bodyPr/>
          <a:lstStyle/>
          <a:p>
            <a:endParaRPr lang="en-QA"/>
          </a:p>
        </p:txBody>
      </p:sp>
      <p:sp>
        <p:nvSpPr>
          <p:cNvPr id="16" name="Shape 14"/>
          <p:cNvSpPr/>
          <p:nvPr/>
        </p:nvSpPr>
        <p:spPr>
          <a:xfrm>
            <a:off x="9902952" y="3182112"/>
            <a:ext cx="493776" cy="493776"/>
          </a:xfrm>
          <a:prstGeom prst="ellipse">
            <a:avLst/>
          </a:prstGeom>
          <a:solidFill>
            <a:srgbClr val="E8A04C"/>
          </a:solidFill>
          <a:ln/>
          <a:effectLst>
            <a:outerShdw blurRad="88900" dist="38100" dir="5400000" algn="bl" rotWithShape="0">
              <a:srgbClr val="000000">
                <a:alpha val="16000"/>
              </a:srgbClr>
            </a:outerShdw>
          </a:effectLst>
        </p:spPr>
        <p:txBody>
          <a:bodyPr/>
          <a:lstStyle/>
          <a:p>
            <a:endParaRPr lang="en-QA"/>
          </a:p>
        </p:txBody>
      </p:sp>
      <p:sp>
        <p:nvSpPr>
          <p:cNvPr id="17" name="Text 15"/>
          <p:cNvSpPr/>
          <p:nvPr/>
        </p:nvSpPr>
        <p:spPr>
          <a:xfrm>
            <a:off x="731520" y="2286000"/>
            <a:ext cx="5486400" cy="457200"/>
          </a:xfrm>
          <a:prstGeom prst="rect">
            <a:avLst/>
          </a:prstGeom>
          <a:noFill/>
          <a:ln/>
        </p:spPr>
        <p:txBody>
          <a:bodyPr wrap="square" lIns="0" tIns="0" rIns="0" bIns="0" rtlCol="0" anchor="ctr"/>
          <a:lstStyle/>
          <a:p>
            <a:pPr marL="0" indent="0">
              <a:buNone/>
            </a:pPr>
            <a:r>
              <a:rPr lang="en-US" sz="1500" b="1" kern="0" spc="300" dirty="0">
                <a:solidFill>
                  <a:srgbClr val="3FC6BC"/>
                </a:solidFill>
                <a:latin typeface="Calibri" pitchFamily="34" charset="0"/>
                <a:ea typeface="Calibri" pitchFamily="34" charset="-122"/>
                <a:cs typeface="Calibri" pitchFamily="34" charset="-120"/>
              </a:rPr>
              <a:t>SECTION 2</a:t>
            </a:r>
            <a:endParaRPr lang="en-US" sz="1500" dirty="0"/>
          </a:p>
        </p:txBody>
      </p:sp>
      <p:sp>
        <p:nvSpPr>
          <p:cNvPr id="18" name="Text 16"/>
          <p:cNvSpPr/>
          <p:nvPr/>
        </p:nvSpPr>
        <p:spPr>
          <a:xfrm>
            <a:off x="731520" y="2743200"/>
            <a:ext cx="7863840" cy="1463040"/>
          </a:xfrm>
          <a:prstGeom prst="rect">
            <a:avLst/>
          </a:prstGeom>
          <a:noFill/>
          <a:ln/>
        </p:spPr>
        <p:txBody>
          <a:bodyPr wrap="square" lIns="0" tIns="0" rIns="0" bIns="0" rtlCol="0" anchor="ctr"/>
          <a:lstStyle/>
          <a:p>
            <a:pPr marL="0" indent="0">
              <a:lnSpc>
                <a:spcPct val="100000"/>
              </a:lnSpc>
              <a:buNone/>
            </a:pPr>
            <a:r>
              <a:rPr lang="en-US" sz="4000" b="1" dirty="0">
                <a:solidFill>
                  <a:srgbClr val="FFFFFF"/>
                </a:solidFill>
                <a:latin typeface="Cambria" pitchFamily="34" charset="0"/>
                <a:ea typeface="Cambria" pitchFamily="34" charset="-122"/>
                <a:cs typeface="Cambria" pitchFamily="34" charset="-120"/>
              </a:rPr>
              <a:t>Related Literature Review</a:t>
            </a:r>
            <a:endParaRPr lang="en-US" sz="4000" dirty="0"/>
          </a:p>
        </p:txBody>
      </p:sp>
      <p:sp>
        <p:nvSpPr>
          <p:cNvPr id="19" name="Text 17"/>
          <p:cNvSpPr/>
          <p:nvPr/>
        </p:nvSpPr>
        <p:spPr>
          <a:xfrm>
            <a:off x="749808" y="4160520"/>
            <a:ext cx="7498080" cy="914400"/>
          </a:xfrm>
          <a:prstGeom prst="rect">
            <a:avLst/>
          </a:prstGeom>
          <a:noFill/>
          <a:ln/>
        </p:spPr>
        <p:txBody>
          <a:bodyPr wrap="square" lIns="0" tIns="0" rIns="0" bIns="0" rtlCol="0" anchor="ctr"/>
          <a:lstStyle/>
          <a:p>
            <a:pPr marL="0" indent="0">
              <a:lnSpc>
                <a:spcPct val="105000"/>
              </a:lnSpc>
              <a:buNone/>
            </a:pPr>
            <a:r>
              <a:rPr lang="en-US" sz="1500" dirty="0">
                <a:solidFill>
                  <a:srgbClr val="C5D3D8"/>
                </a:solidFill>
                <a:latin typeface="Calibri" pitchFamily="34" charset="0"/>
                <a:ea typeface="Calibri" pitchFamily="34" charset="-122"/>
                <a:cs typeface="Calibri" pitchFamily="34" charset="-120"/>
              </a:rPr>
              <a:t>Foundations for four fields — with clearly-labelled placeholders to fill in after the reading is complete.</a:t>
            </a:r>
            <a:endParaRPr lang="en-US" sz="1500" dirty="0"/>
          </a:p>
        </p:txBody>
      </p:sp>
      <p:sp>
        <p:nvSpPr>
          <p:cNvPr id="20" name="Shape 18"/>
          <p:cNvSpPr/>
          <p:nvPr/>
        </p:nvSpPr>
        <p:spPr>
          <a:xfrm>
            <a:off x="731520" y="1371600"/>
            <a:ext cx="731520" cy="731520"/>
          </a:xfrm>
          <a:prstGeom prst="ellipse">
            <a:avLst/>
          </a:prstGeom>
          <a:solidFill>
            <a:srgbClr val="0E8C8C"/>
          </a:solidFill>
          <a:ln/>
          <a:effectLst>
            <a:outerShdw blurRad="88900" dist="38100" dir="5400000" algn="bl" rotWithShape="0">
              <a:srgbClr val="000000">
                <a:alpha val="16000"/>
              </a:srgbClr>
            </a:outerShdw>
          </a:effectLst>
        </p:spPr>
        <p:txBody>
          <a:bodyPr/>
          <a:lstStyle/>
          <a:p>
            <a:endParaRPr lang="en-QA"/>
          </a:p>
        </p:txBody>
      </p:sp>
      <p:pic>
        <p:nvPicPr>
          <p:cNvPr id="21" name="Image 0" descr="preencoded.png"/>
          <p:cNvPicPr>
            <a:picLocks noChangeAspect="1"/>
          </p:cNvPicPr>
          <p:nvPr/>
        </p:nvPicPr>
        <p:blipFill>
          <a:blip r:embed="rId3"/>
          <a:stretch>
            <a:fillRect/>
          </a:stretch>
        </p:blipFill>
        <p:spPr>
          <a:xfrm>
            <a:off x="921715" y="1561795"/>
            <a:ext cx="351130" cy="351130"/>
          </a:xfrm>
          <a:prstGeom prst="rect">
            <a:avLst/>
          </a:prstGeom>
        </p:spPr>
      </p:pic>
      <p:sp>
        <p:nvSpPr>
          <p:cNvPr id="23" name="Shape 19"/>
          <p:cNvSpPr/>
          <p:nvPr/>
        </p:nvSpPr>
        <p:spPr>
          <a:xfrm>
            <a:off x="548640" y="6464808"/>
            <a:ext cx="109728" cy="109728"/>
          </a:xfrm>
          <a:prstGeom prst="ellipse">
            <a:avLst/>
          </a:prstGeom>
          <a:solidFill>
            <a:srgbClr val="0E8C8C"/>
          </a:solidFill>
          <a:ln/>
        </p:spPr>
        <p:txBody>
          <a:bodyPr/>
          <a:lstStyle/>
          <a:p>
            <a:endParaRPr lang="en-QA"/>
          </a:p>
        </p:txBody>
      </p:sp>
      <p:sp>
        <p:nvSpPr>
          <p:cNvPr id="24" name="Text 20"/>
          <p:cNvSpPr/>
          <p:nvPr/>
        </p:nvSpPr>
        <p:spPr>
          <a:xfrm>
            <a:off x="749808" y="6355080"/>
            <a:ext cx="8229600" cy="320040"/>
          </a:xfrm>
          <a:prstGeom prst="rect">
            <a:avLst/>
          </a:prstGeom>
          <a:noFill/>
          <a:ln/>
        </p:spPr>
        <p:txBody>
          <a:bodyPr wrap="square" lIns="0" tIns="0" rIns="0" bIns="0" rtlCol="0" anchor="ctr"/>
          <a:lstStyle/>
          <a:p>
            <a:pPr marL="0" indent="0">
              <a:buNone/>
            </a:pPr>
            <a:r>
              <a:rPr lang="en-US" sz="900" dirty="0">
                <a:solidFill>
                  <a:srgbClr val="5E6E78"/>
                </a:solidFill>
                <a:latin typeface="Calibri" pitchFamily="34" charset="0"/>
                <a:ea typeface="Calibri" pitchFamily="34" charset="-122"/>
                <a:cs typeface="Calibri" pitchFamily="34" charset="-120"/>
              </a:rPr>
              <a:t>AMIA × Federated Learning × LDP  —  Literature &amp; Proposed Study</a:t>
            </a:r>
            <a:endParaRPr lang="en-US" sz="900" dirty="0"/>
          </a:p>
        </p:txBody>
      </p:sp>
      <p:sp>
        <p:nvSpPr>
          <p:cNvPr id="25" name="Text 21"/>
          <p:cNvSpPr/>
          <p:nvPr/>
        </p:nvSpPr>
        <p:spPr>
          <a:xfrm>
            <a:off x="11338560" y="6355080"/>
            <a:ext cx="457200" cy="320040"/>
          </a:xfrm>
          <a:prstGeom prst="rect">
            <a:avLst/>
          </a:prstGeom>
          <a:noFill/>
          <a:ln/>
        </p:spPr>
        <p:txBody>
          <a:bodyPr wrap="square" rtlCol="0" anchor="ctr"/>
          <a:lstStyle/>
          <a:p>
            <a:pPr marL="0" indent="0" algn="r">
              <a:buNone/>
            </a:pPr>
            <a:r>
              <a:rPr lang="en-US" sz="1000" dirty="0">
                <a:solidFill>
                  <a:srgbClr val="5E6E78"/>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566928"/>
            <a:ext cx="128016" cy="128016"/>
          </a:xfrm>
          <a:prstGeom prst="ellipse">
            <a:avLst/>
          </a:prstGeom>
          <a:solidFill>
            <a:srgbClr val="0E8C8C"/>
          </a:solidFill>
          <a:ln/>
        </p:spPr>
        <p:txBody>
          <a:bodyPr/>
          <a:lstStyle/>
          <a:p>
            <a:endParaRPr lang="en-QA"/>
          </a:p>
        </p:txBody>
      </p:sp>
      <p:sp>
        <p:nvSpPr>
          <p:cNvPr id="3" name="Text 1"/>
          <p:cNvSpPr/>
          <p:nvPr/>
        </p:nvSpPr>
        <p:spPr>
          <a:xfrm>
            <a:off x="777240" y="457200"/>
            <a:ext cx="10515600" cy="320040"/>
          </a:xfrm>
          <a:prstGeom prst="rect">
            <a:avLst/>
          </a:prstGeom>
          <a:noFill/>
          <a:ln/>
        </p:spPr>
        <p:txBody>
          <a:bodyPr wrap="square" lIns="0" tIns="0" rIns="0" bIns="0" rtlCol="0" anchor="ctr"/>
          <a:lstStyle/>
          <a:p>
            <a:pPr marL="0" indent="0">
              <a:buNone/>
            </a:pPr>
            <a:r>
              <a:rPr lang="en-US" sz="1200" b="1" kern="0" spc="200" dirty="0">
                <a:solidFill>
                  <a:srgbClr val="0E8C8C"/>
                </a:solidFill>
                <a:latin typeface="Calibri" pitchFamily="34" charset="0"/>
                <a:ea typeface="Calibri" pitchFamily="34" charset="-122"/>
                <a:cs typeface="Calibri" pitchFamily="34" charset="-120"/>
              </a:rPr>
              <a:t>SECTION 2 · FIELD A</a:t>
            </a:r>
            <a:endParaRPr lang="en-US" sz="1200" dirty="0"/>
          </a:p>
        </p:txBody>
      </p:sp>
      <p:sp>
        <p:nvSpPr>
          <p:cNvPr id="4" name="Text 2"/>
          <p:cNvSpPr/>
          <p:nvPr/>
        </p:nvSpPr>
        <p:spPr>
          <a:xfrm>
            <a:off x="548640" y="768096"/>
            <a:ext cx="11064240" cy="868680"/>
          </a:xfrm>
          <a:prstGeom prst="rect">
            <a:avLst/>
          </a:prstGeom>
          <a:noFill/>
          <a:ln/>
        </p:spPr>
        <p:txBody>
          <a:bodyPr wrap="square" lIns="0" tIns="0" rIns="0" bIns="0" rtlCol="0" anchor="ctr"/>
          <a:lstStyle/>
          <a:p>
            <a:pPr marL="0" indent="0">
              <a:buNone/>
            </a:pPr>
            <a:r>
              <a:rPr lang="en-US" sz="3000" b="1" dirty="0">
                <a:solidFill>
                  <a:srgbClr val="1A2733"/>
                </a:solidFill>
                <a:latin typeface="Cambria" pitchFamily="34" charset="0"/>
                <a:ea typeface="Cambria" pitchFamily="34" charset="-122"/>
                <a:cs typeface="Cambria" pitchFamily="34" charset="-120"/>
              </a:rPr>
              <a:t>Active Membership Inference Attacks (AMIA)</a:t>
            </a:r>
            <a:endParaRPr lang="en-US" sz="3000" dirty="0"/>
          </a:p>
        </p:txBody>
      </p:sp>
      <p:sp>
        <p:nvSpPr>
          <p:cNvPr id="5" name="Shape 3"/>
          <p:cNvSpPr/>
          <p:nvPr/>
        </p:nvSpPr>
        <p:spPr>
          <a:xfrm>
            <a:off x="640080" y="1883851"/>
            <a:ext cx="5257800" cy="4069080"/>
          </a:xfrm>
          <a:prstGeom prst="roundRect">
            <a:avLst>
              <a:gd name="adj" fmla="val 1798"/>
            </a:avLst>
          </a:prstGeom>
          <a:solidFill>
            <a:srgbClr val="EAF2F3"/>
          </a:solidFill>
          <a:ln/>
        </p:spPr>
        <p:txBody>
          <a:bodyPr/>
          <a:lstStyle/>
          <a:p>
            <a:endParaRPr lang="en-QA"/>
          </a:p>
        </p:txBody>
      </p:sp>
      <p:sp>
        <p:nvSpPr>
          <p:cNvPr id="6" name="Shape 4"/>
          <p:cNvSpPr/>
          <p:nvPr/>
        </p:nvSpPr>
        <p:spPr>
          <a:xfrm>
            <a:off x="868680" y="2121408"/>
            <a:ext cx="777240" cy="777240"/>
          </a:xfrm>
          <a:prstGeom prst="ellipse">
            <a:avLst/>
          </a:prstGeom>
          <a:solidFill>
            <a:srgbClr val="0E8C8C"/>
          </a:solidFill>
          <a:ln/>
          <a:effectLst>
            <a:outerShdw blurRad="88900" dist="38100" dir="5400000" algn="bl" rotWithShape="0">
              <a:srgbClr val="000000">
                <a:alpha val="16000"/>
              </a:srgbClr>
            </a:outerShdw>
          </a:effectLst>
        </p:spPr>
        <p:txBody>
          <a:bodyPr/>
          <a:lstStyle/>
          <a:p>
            <a:endParaRPr lang="en-QA"/>
          </a:p>
        </p:txBody>
      </p:sp>
      <p:pic>
        <p:nvPicPr>
          <p:cNvPr id="7" name="Image 0" descr="preencoded.png"/>
          <p:cNvPicPr>
            <a:picLocks noChangeAspect="1"/>
          </p:cNvPicPr>
          <p:nvPr/>
        </p:nvPicPr>
        <p:blipFill>
          <a:blip r:embed="rId3">
            <a:lum bright="70000" contrast="-70000"/>
            <a:extLst>
              <a:ext uri="{BEBA8EAE-BF5A-486C-A8C5-ECC9F3942E4B}">
                <a14:imgProps xmlns:a14="http://schemas.microsoft.com/office/drawing/2010/main">
                  <a14:imgLayer r:embed="rId4">
                    <a14:imgEffect>
                      <a14:saturation sat="0"/>
                    </a14:imgEffect>
                  </a14:imgLayer>
                </a14:imgProps>
              </a:ext>
            </a:extLst>
          </a:blip>
          <a:stretch>
            <a:fillRect/>
          </a:stretch>
        </p:blipFill>
        <p:spPr>
          <a:xfrm>
            <a:off x="1070762" y="2323490"/>
            <a:ext cx="373075" cy="373075"/>
          </a:xfrm>
          <a:prstGeom prst="rect">
            <a:avLst/>
          </a:prstGeom>
        </p:spPr>
      </p:pic>
      <p:sp>
        <p:nvSpPr>
          <p:cNvPr id="8" name="Text 5"/>
          <p:cNvSpPr/>
          <p:nvPr/>
        </p:nvSpPr>
        <p:spPr>
          <a:xfrm>
            <a:off x="1828800" y="2240280"/>
            <a:ext cx="3931920" cy="502920"/>
          </a:xfrm>
          <a:prstGeom prst="rect">
            <a:avLst/>
          </a:prstGeom>
          <a:noFill/>
          <a:ln/>
        </p:spPr>
        <p:txBody>
          <a:bodyPr wrap="square" lIns="0" tIns="0" rIns="0" bIns="0" rtlCol="0" anchor="ctr"/>
          <a:lstStyle/>
          <a:p>
            <a:pPr marL="0" indent="0">
              <a:buNone/>
            </a:pPr>
            <a:r>
              <a:rPr lang="en-US" sz="1800" b="1" dirty="0">
                <a:solidFill>
                  <a:srgbClr val="1A2733"/>
                </a:solidFill>
                <a:latin typeface="Cambria" pitchFamily="34" charset="0"/>
                <a:ea typeface="Cambria" pitchFamily="34" charset="-122"/>
                <a:cs typeface="Cambria" pitchFamily="34" charset="-120"/>
              </a:rPr>
              <a:t>What it is</a:t>
            </a:r>
            <a:endParaRPr lang="en-US" sz="1800" dirty="0"/>
          </a:p>
        </p:txBody>
      </p:sp>
      <p:sp>
        <p:nvSpPr>
          <p:cNvPr id="9" name="Text 6"/>
          <p:cNvSpPr/>
          <p:nvPr/>
        </p:nvSpPr>
        <p:spPr>
          <a:xfrm>
            <a:off x="896112" y="3063240"/>
            <a:ext cx="4800600" cy="2743200"/>
          </a:xfrm>
          <a:prstGeom prst="rect">
            <a:avLst/>
          </a:prstGeom>
          <a:noFill/>
          <a:ln/>
        </p:spPr>
        <p:txBody>
          <a:bodyPr wrap="square" lIns="0" tIns="0" rIns="0" bIns="0" rtlCol="0" anchor="t"/>
          <a:lstStyle/>
          <a:p>
            <a:pPr marL="0" indent="0">
              <a:lnSpc>
                <a:spcPct val="116000"/>
              </a:lnSpc>
              <a:buNone/>
            </a:pPr>
            <a:r>
              <a:rPr lang="en-US" sz="1300" b="1" dirty="0">
                <a:solidFill>
                  <a:srgbClr val="0E8C8C"/>
                </a:solidFill>
                <a:latin typeface="Calibri" pitchFamily="34" charset="0"/>
                <a:ea typeface="Calibri" pitchFamily="34" charset="-122"/>
                <a:cs typeface="Calibri" pitchFamily="34" charset="-120"/>
              </a:rPr>
              <a:t>AMIA = Active Membership Inference Attack.
</a:t>
            </a:r>
            <a:r>
              <a:rPr lang="en-US" sz="1300" dirty="0">
                <a:solidFill>
                  <a:srgbClr val="1A2733"/>
                </a:solidFill>
                <a:latin typeface="Calibri" pitchFamily="34" charset="0"/>
                <a:ea typeface="Calibri" pitchFamily="34" charset="-122"/>
                <a:cs typeface="Calibri" pitchFamily="34" charset="-120"/>
              </a:rPr>
              <a:t>Membership inference asks: was this record used to train the model?
</a:t>
            </a:r>
            <a:r>
              <a:rPr lang="en-US" sz="1300" dirty="0">
                <a:solidFill>
                  <a:srgbClr val="5E6E78"/>
                </a:solidFill>
                <a:latin typeface="Calibri" pitchFamily="34" charset="0"/>
                <a:ea typeface="Calibri" pitchFamily="34" charset="-122"/>
                <a:cs typeface="Calibri" pitchFamily="34" charset="-120"/>
              </a:rPr>
              <a:t>“Active” means the adversary does not just observe — it manipulates the model or training process (e.g., editing weights) to amplify the leakage, as in the main paper.</a:t>
            </a:r>
            <a:endParaRPr lang="en-US" sz="1300" dirty="0"/>
          </a:p>
        </p:txBody>
      </p:sp>
      <p:sp>
        <p:nvSpPr>
          <p:cNvPr id="10" name="Shape 7"/>
          <p:cNvSpPr/>
          <p:nvPr/>
        </p:nvSpPr>
        <p:spPr>
          <a:xfrm>
            <a:off x="6172200" y="1874520"/>
            <a:ext cx="5349240" cy="4069080"/>
          </a:xfrm>
          <a:prstGeom prst="roundRect">
            <a:avLst>
              <a:gd name="adj" fmla="val 1798"/>
            </a:avLst>
          </a:prstGeom>
          <a:solidFill>
            <a:srgbClr val="F4F8F8"/>
          </a:solidFill>
          <a:ln w="12700">
            <a:solidFill>
              <a:srgbClr val="C9D8DC"/>
            </a:solidFill>
            <a:prstDash val="solid"/>
          </a:ln>
        </p:spPr>
        <p:txBody>
          <a:bodyPr/>
          <a:lstStyle/>
          <a:p>
            <a:endParaRPr lang="en-QA"/>
          </a:p>
        </p:txBody>
      </p:sp>
      <p:sp>
        <p:nvSpPr>
          <p:cNvPr id="11" name="Shape 8"/>
          <p:cNvSpPr/>
          <p:nvPr/>
        </p:nvSpPr>
        <p:spPr>
          <a:xfrm>
            <a:off x="6400800" y="2103120"/>
            <a:ext cx="548640" cy="548640"/>
          </a:xfrm>
          <a:prstGeom prst="ellipse">
            <a:avLst/>
          </a:prstGeom>
          <a:solidFill>
            <a:srgbClr val="0E8C8C"/>
          </a:solidFill>
          <a:ln/>
          <a:effectLst>
            <a:outerShdw blurRad="88900" dist="38100" dir="5400000" algn="bl" rotWithShape="0">
              <a:srgbClr val="000000">
                <a:alpha val="16000"/>
              </a:srgbClr>
            </a:outerShdw>
          </a:effectLst>
        </p:spPr>
        <p:txBody>
          <a:bodyPr/>
          <a:lstStyle/>
          <a:p>
            <a:endParaRPr lang="en-QA"/>
          </a:p>
        </p:txBody>
      </p:sp>
      <p:pic>
        <p:nvPicPr>
          <p:cNvPr id="12" name="Image 1" descr="preencoded.png"/>
          <p:cNvPicPr>
            <a:picLocks noChangeAspect="1"/>
          </p:cNvPicPr>
          <p:nvPr/>
        </p:nvPicPr>
        <p:blipFill>
          <a:blip r:embed="rId5"/>
          <a:stretch>
            <a:fillRect/>
          </a:stretch>
        </p:blipFill>
        <p:spPr>
          <a:xfrm>
            <a:off x="6543446" y="2245766"/>
            <a:ext cx="263347" cy="263347"/>
          </a:xfrm>
          <a:prstGeom prst="rect">
            <a:avLst/>
          </a:prstGeom>
        </p:spPr>
      </p:pic>
      <p:sp>
        <p:nvSpPr>
          <p:cNvPr id="13" name="Text 9"/>
          <p:cNvSpPr/>
          <p:nvPr/>
        </p:nvSpPr>
        <p:spPr>
          <a:xfrm>
            <a:off x="7068312" y="2112264"/>
            <a:ext cx="4297680" cy="502920"/>
          </a:xfrm>
          <a:prstGeom prst="rect">
            <a:avLst/>
          </a:prstGeom>
          <a:noFill/>
          <a:ln/>
        </p:spPr>
        <p:txBody>
          <a:bodyPr wrap="square" lIns="0" tIns="0" rIns="0" bIns="0" rtlCol="0" anchor="ctr"/>
          <a:lstStyle/>
          <a:p>
            <a:pPr marL="0" indent="0">
              <a:buNone/>
            </a:pPr>
            <a:r>
              <a:rPr lang="en-US" sz="1600" b="1" dirty="0">
                <a:solidFill>
                  <a:srgbClr val="1A2733"/>
                </a:solidFill>
                <a:latin typeface="Cambria" pitchFamily="34" charset="0"/>
                <a:ea typeface="Cambria" pitchFamily="34" charset="-122"/>
                <a:cs typeface="Cambria" pitchFamily="34" charset="-120"/>
              </a:rPr>
              <a:t>What the literature says</a:t>
            </a:r>
            <a:endParaRPr lang="en-US" sz="1600" dirty="0"/>
          </a:p>
        </p:txBody>
      </p:sp>
      <p:sp>
        <p:nvSpPr>
          <p:cNvPr id="14" name="Text 10"/>
          <p:cNvSpPr/>
          <p:nvPr/>
        </p:nvSpPr>
        <p:spPr>
          <a:xfrm>
            <a:off x="6464808" y="2807208"/>
            <a:ext cx="4782312" cy="2971800"/>
          </a:xfrm>
          <a:prstGeom prst="rect">
            <a:avLst/>
          </a:prstGeom>
          <a:noFill/>
          <a:ln/>
        </p:spPr>
        <p:txBody>
          <a:bodyPr wrap="square" lIns="0" tIns="0" rIns="0" bIns="0" rtlCol="0" anchor="t"/>
          <a:lstStyle/>
          <a:p>
            <a:pPr marL="177800" indent="-177800">
              <a:lnSpc>
                <a:spcPct val="103000"/>
              </a:lnSpc>
              <a:buSzPct val="100000"/>
              <a:buChar char="•"/>
            </a:pPr>
            <a:r>
              <a:rPr lang="en-US" sz="1150" b="1" dirty="0">
                <a:solidFill>
                  <a:srgbClr val="0E8C8C"/>
                </a:solidFill>
                <a:latin typeface="Calibri" pitchFamily="34" charset="0"/>
                <a:ea typeface="Calibri" pitchFamily="34" charset="-122"/>
                <a:cs typeface="Calibri" pitchFamily="34" charset="-120"/>
              </a:rPr>
              <a:t>Q. Nguyen et al., 2025 (ICML) — </a:t>
            </a:r>
            <a:r>
              <a:rPr lang="en-US" sz="1150" dirty="0">
                <a:solidFill>
                  <a:srgbClr val="5E6E78"/>
                </a:solidFill>
                <a:latin typeface="Calibri" pitchFamily="34" charset="0"/>
                <a:ea typeface="Calibri" pitchFamily="34" charset="-122"/>
                <a:cs typeface="Calibri" pitchFamily="34" charset="-120"/>
              </a:rPr>
              <a:t>Derive theoretical lower bounds on inference-attack success against LDP-protected clients, exploiting fully-connected and self-attention layers; privacy risk persists and scales with the privacy budget.</a:t>
            </a:r>
            <a:endParaRPr lang="en-US" sz="1150" dirty="0"/>
          </a:p>
          <a:p>
            <a:pPr marL="177800" indent="-177800">
              <a:lnSpc>
                <a:spcPct val="103000"/>
              </a:lnSpc>
              <a:buSzPct val="100000"/>
              <a:buChar char="•"/>
            </a:pPr>
            <a:r>
              <a:rPr lang="en-US" sz="1150" b="1" dirty="0">
                <a:solidFill>
                  <a:srgbClr val="0E8C8C"/>
                </a:solidFill>
                <a:latin typeface="Calibri" pitchFamily="34" charset="0"/>
                <a:ea typeface="Calibri" pitchFamily="34" charset="-122"/>
                <a:cs typeface="Calibri" pitchFamily="34" charset="-120"/>
              </a:rPr>
              <a:t>Zhang et al., 2026 — </a:t>
            </a:r>
            <a:r>
              <a:rPr lang="en-US" sz="1150" dirty="0">
                <a:solidFill>
                  <a:srgbClr val="5E6E78"/>
                </a:solidFill>
                <a:latin typeface="Calibri" pitchFamily="34" charset="0"/>
                <a:ea typeface="Calibri" pitchFamily="34" charset="-122"/>
                <a:cs typeface="Calibri" pitchFamily="34" charset="-120"/>
              </a:rPr>
              <a:t>Argue defenses must cover both passive and active MIAs; combine entropy regularization, CVAE synthetic data, and contribution-aware aggregation to cut attack success while keeping accuracy.</a:t>
            </a:r>
            <a:endParaRPr lang="en-US" sz="1150" dirty="0"/>
          </a:p>
          <a:p>
            <a:pPr marL="177800" indent="-177800">
              <a:lnSpc>
                <a:spcPct val="103000"/>
              </a:lnSpc>
              <a:buSzPct val="100000"/>
              <a:buChar char="•"/>
            </a:pPr>
            <a:r>
              <a:rPr lang="en-US" sz="1150" b="1" dirty="0">
                <a:solidFill>
                  <a:srgbClr val="0E8C8C"/>
                </a:solidFill>
                <a:latin typeface="Calibri" pitchFamily="34" charset="0"/>
                <a:ea typeface="Calibri" pitchFamily="34" charset="-122"/>
                <a:cs typeface="Calibri" pitchFamily="34" charset="-120"/>
              </a:rPr>
              <a:t>Bai et al. (CoFedMID) — </a:t>
            </a:r>
            <a:r>
              <a:rPr lang="en-US" sz="1150" dirty="0">
                <a:solidFill>
                  <a:srgbClr val="5E6E78"/>
                </a:solidFill>
                <a:latin typeface="Calibri" pitchFamily="34" charset="0"/>
                <a:ea typeface="Calibri" pitchFamily="34" charset="-122"/>
                <a:cs typeface="Calibri" pitchFamily="34" charset="-120"/>
              </a:rPr>
              <a:t>Powerful trajectory-based MIAs exploit historical model snapshots across rounds, defeating per-client defenses and motivating collaborative, coalition-level protection.</a:t>
            </a:r>
            <a:endParaRPr lang="en-US" sz="1150" dirty="0"/>
          </a:p>
        </p:txBody>
      </p:sp>
      <p:sp>
        <p:nvSpPr>
          <p:cNvPr id="16" name="Shape 11"/>
          <p:cNvSpPr/>
          <p:nvPr/>
        </p:nvSpPr>
        <p:spPr>
          <a:xfrm>
            <a:off x="548640" y="6464808"/>
            <a:ext cx="109728" cy="109728"/>
          </a:xfrm>
          <a:prstGeom prst="ellipse">
            <a:avLst/>
          </a:prstGeom>
          <a:solidFill>
            <a:srgbClr val="0E8C8C"/>
          </a:solidFill>
          <a:ln/>
        </p:spPr>
        <p:txBody>
          <a:bodyPr/>
          <a:lstStyle/>
          <a:p>
            <a:endParaRPr lang="en-QA"/>
          </a:p>
        </p:txBody>
      </p:sp>
      <p:sp>
        <p:nvSpPr>
          <p:cNvPr id="17" name="Text 12"/>
          <p:cNvSpPr/>
          <p:nvPr/>
        </p:nvSpPr>
        <p:spPr>
          <a:xfrm>
            <a:off x="749808" y="6355080"/>
            <a:ext cx="8229600" cy="320040"/>
          </a:xfrm>
          <a:prstGeom prst="rect">
            <a:avLst/>
          </a:prstGeom>
          <a:noFill/>
          <a:ln/>
        </p:spPr>
        <p:txBody>
          <a:bodyPr wrap="square" lIns="0" tIns="0" rIns="0" bIns="0" rtlCol="0" anchor="ctr"/>
          <a:lstStyle/>
          <a:p>
            <a:pPr marL="0" indent="0">
              <a:buNone/>
            </a:pPr>
            <a:r>
              <a:rPr lang="en-US" sz="900" dirty="0">
                <a:solidFill>
                  <a:srgbClr val="5E6E78"/>
                </a:solidFill>
                <a:latin typeface="Calibri" pitchFamily="34" charset="0"/>
                <a:ea typeface="Calibri" pitchFamily="34" charset="-122"/>
                <a:cs typeface="Calibri" pitchFamily="34" charset="-120"/>
              </a:rPr>
              <a:t>AMIA × Federated Learning × LDP  —  Literature &amp; Proposed Study</a:t>
            </a:r>
            <a:endParaRPr lang="en-US" sz="900" dirty="0"/>
          </a:p>
        </p:txBody>
      </p:sp>
      <p:sp>
        <p:nvSpPr>
          <p:cNvPr id="18" name="Text 13"/>
          <p:cNvSpPr/>
          <p:nvPr/>
        </p:nvSpPr>
        <p:spPr>
          <a:xfrm>
            <a:off x="11338560" y="6355080"/>
            <a:ext cx="457200" cy="320040"/>
          </a:xfrm>
          <a:prstGeom prst="rect">
            <a:avLst/>
          </a:prstGeom>
          <a:noFill/>
          <a:ln/>
        </p:spPr>
        <p:txBody>
          <a:bodyPr wrap="square" rtlCol="0" anchor="ctr"/>
          <a:lstStyle/>
          <a:p>
            <a:pPr marL="0" indent="0" algn="r">
              <a:buNone/>
            </a:pPr>
            <a:r>
              <a:rPr lang="en-US" sz="1000" dirty="0">
                <a:solidFill>
                  <a:srgbClr val="5E6E78"/>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566928"/>
            <a:ext cx="128016" cy="128016"/>
          </a:xfrm>
          <a:prstGeom prst="ellipse">
            <a:avLst/>
          </a:prstGeom>
          <a:solidFill>
            <a:srgbClr val="0E8C8C"/>
          </a:solidFill>
          <a:ln/>
        </p:spPr>
        <p:txBody>
          <a:bodyPr/>
          <a:lstStyle/>
          <a:p>
            <a:endParaRPr lang="en-QA"/>
          </a:p>
        </p:txBody>
      </p:sp>
      <p:sp>
        <p:nvSpPr>
          <p:cNvPr id="3" name="Text 1"/>
          <p:cNvSpPr/>
          <p:nvPr/>
        </p:nvSpPr>
        <p:spPr>
          <a:xfrm>
            <a:off x="777240" y="457200"/>
            <a:ext cx="10515600" cy="320040"/>
          </a:xfrm>
          <a:prstGeom prst="rect">
            <a:avLst/>
          </a:prstGeom>
          <a:noFill/>
          <a:ln/>
        </p:spPr>
        <p:txBody>
          <a:bodyPr wrap="square" lIns="0" tIns="0" rIns="0" bIns="0" rtlCol="0" anchor="ctr"/>
          <a:lstStyle/>
          <a:p>
            <a:pPr marL="0" indent="0">
              <a:buNone/>
            </a:pPr>
            <a:r>
              <a:rPr lang="en-US" sz="1200" b="1" kern="0" spc="200" dirty="0">
                <a:solidFill>
                  <a:srgbClr val="0E8C8C"/>
                </a:solidFill>
                <a:latin typeface="Calibri" pitchFamily="34" charset="0"/>
                <a:ea typeface="Calibri" pitchFamily="34" charset="-122"/>
                <a:cs typeface="Calibri" pitchFamily="34" charset="-120"/>
              </a:rPr>
              <a:t>SECTION 2 · FIELD B</a:t>
            </a:r>
            <a:endParaRPr lang="en-US" sz="1200" dirty="0"/>
          </a:p>
        </p:txBody>
      </p:sp>
      <p:sp>
        <p:nvSpPr>
          <p:cNvPr id="4" name="Text 2"/>
          <p:cNvSpPr/>
          <p:nvPr/>
        </p:nvSpPr>
        <p:spPr>
          <a:xfrm>
            <a:off x="548640" y="768096"/>
            <a:ext cx="11064240" cy="868680"/>
          </a:xfrm>
          <a:prstGeom prst="rect">
            <a:avLst/>
          </a:prstGeom>
          <a:noFill/>
          <a:ln/>
        </p:spPr>
        <p:txBody>
          <a:bodyPr wrap="square" lIns="0" tIns="0" rIns="0" bIns="0" rtlCol="0" anchor="ctr"/>
          <a:lstStyle/>
          <a:p>
            <a:pPr marL="0" indent="0">
              <a:buNone/>
            </a:pPr>
            <a:r>
              <a:rPr lang="en-US" sz="3000" b="1" dirty="0">
                <a:solidFill>
                  <a:srgbClr val="1A2733"/>
                </a:solidFill>
                <a:latin typeface="Cambria" pitchFamily="34" charset="0"/>
                <a:ea typeface="Cambria" pitchFamily="34" charset="-122"/>
                <a:cs typeface="Cambria" pitchFamily="34" charset="-120"/>
              </a:rPr>
              <a:t>Federated Learning (FL)</a:t>
            </a:r>
            <a:endParaRPr lang="en-US" sz="3000" dirty="0"/>
          </a:p>
        </p:txBody>
      </p:sp>
      <p:sp>
        <p:nvSpPr>
          <p:cNvPr id="5" name="Shape 3"/>
          <p:cNvSpPr/>
          <p:nvPr/>
        </p:nvSpPr>
        <p:spPr>
          <a:xfrm>
            <a:off x="640080" y="1874520"/>
            <a:ext cx="5257800" cy="4069080"/>
          </a:xfrm>
          <a:prstGeom prst="roundRect">
            <a:avLst>
              <a:gd name="adj" fmla="val 1798"/>
            </a:avLst>
          </a:prstGeom>
          <a:solidFill>
            <a:srgbClr val="EAF2F3"/>
          </a:solidFill>
          <a:ln/>
        </p:spPr>
        <p:txBody>
          <a:bodyPr/>
          <a:lstStyle/>
          <a:p>
            <a:endParaRPr lang="en-QA"/>
          </a:p>
        </p:txBody>
      </p:sp>
      <p:sp>
        <p:nvSpPr>
          <p:cNvPr id="6" name="Shape 4"/>
          <p:cNvSpPr/>
          <p:nvPr/>
        </p:nvSpPr>
        <p:spPr>
          <a:xfrm>
            <a:off x="868680" y="2121408"/>
            <a:ext cx="777240" cy="777240"/>
          </a:xfrm>
          <a:prstGeom prst="ellipse">
            <a:avLst/>
          </a:prstGeom>
          <a:solidFill>
            <a:srgbClr val="0E8C8C"/>
          </a:solidFill>
          <a:ln/>
          <a:effectLst>
            <a:outerShdw blurRad="88900" dist="38100" dir="5400000" algn="bl" rotWithShape="0">
              <a:srgbClr val="000000">
                <a:alpha val="16000"/>
              </a:srgbClr>
            </a:outerShdw>
          </a:effectLst>
        </p:spPr>
        <p:txBody>
          <a:bodyPr/>
          <a:lstStyle/>
          <a:p>
            <a:endParaRPr lang="en-QA"/>
          </a:p>
        </p:txBody>
      </p:sp>
      <p:pic>
        <p:nvPicPr>
          <p:cNvPr id="7" name="Image 0" descr="preencoded.png"/>
          <p:cNvPicPr>
            <a:picLocks noChangeAspect="1"/>
          </p:cNvPicPr>
          <p:nvPr/>
        </p:nvPicPr>
        <p:blipFill>
          <a:blip r:embed="rId3">
            <a:biLevel thresh="25000"/>
          </a:blip>
          <a:stretch>
            <a:fillRect/>
          </a:stretch>
        </p:blipFill>
        <p:spPr>
          <a:xfrm>
            <a:off x="1070762" y="2323490"/>
            <a:ext cx="373075" cy="373075"/>
          </a:xfrm>
          <a:prstGeom prst="rect">
            <a:avLst/>
          </a:prstGeom>
        </p:spPr>
      </p:pic>
      <p:sp>
        <p:nvSpPr>
          <p:cNvPr id="8" name="Text 5"/>
          <p:cNvSpPr/>
          <p:nvPr/>
        </p:nvSpPr>
        <p:spPr>
          <a:xfrm>
            <a:off x="1828800" y="2240280"/>
            <a:ext cx="3931920" cy="502920"/>
          </a:xfrm>
          <a:prstGeom prst="rect">
            <a:avLst/>
          </a:prstGeom>
          <a:noFill/>
          <a:ln/>
        </p:spPr>
        <p:txBody>
          <a:bodyPr wrap="square" lIns="0" tIns="0" rIns="0" bIns="0" rtlCol="0" anchor="ctr"/>
          <a:lstStyle/>
          <a:p>
            <a:pPr marL="0" indent="0">
              <a:buNone/>
            </a:pPr>
            <a:r>
              <a:rPr lang="en-US" sz="1800" b="1" dirty="0">
                <a:solidFill>
                  <a:srgbClr val="1A2733"/>
                </a:solidFill>
                <a:latin typeface="Cambria" pitchFamily="34" charset="0"/>
                <a:ea typeface="Cambria" pitchFamily="34" charset="-122"/>
                <a:cs typeface="Cambria" pitchFamily="34" charset="-120"/>
              </a:rPr>
              <a:t>What it is</a:t>
            </a:r>
            <a:endParaRPr lang="en-US" sz="1800" dirty="0"/>
          </a:p>
        </p:txBody>
      </p:sp>
      <p:sp>
        <p:nvSpPr>
          <p:cNvPr id="9" name="Text 6"/>
          <p:cNvSpPr/>
          <p:nvPr/>
        </p:nvSpPr>
        <p:spPr>
          <a:xfrm>
            <a:off x="896112" y="3063240"/>
            <a:ext cx="4800600" cy="2743200"/>
          </a:xfrm>
          <a:prstGeom prst="rect">
            <a:avLst/>
          </a:prstGeom>
          <a:noFill/>
          <a:ln/>
        </p:spPr>
        <p:txBody>
          <a:bodyPr wrap="square" lIns="0" tIns="0" rIns="0" bIns="0" rtlCol="0" anchor="t"/>
          <a:lstStyle/>
          <a:p>
            <a:pPr marL="0" indent="0">
              <a:lnSpc>
                <a:spcPct val="116000"/>
              </a:lnSpc>
              <a:buNone/>
            </a:pPr>
            <a:r>
              <a:rPr lang="en-US" sz="1300" b="1" dirty="0">
                <a:solidFill>
                  <a:srgbClr val="0E8C8C"/>
                </a:solidFill>
                <a:latin typeface="Calibri" pitchFamily="34" charset="0"/>
                <a:ea typeface="Calibri" pitchFamily="34" charset="-122"/>
                <a:cs typeface="Calibri" pitchFamily="34" charset="-120"/>
              </a:rPr>
              <a:t>FL = Federated Learning.
</a:t>
            </a:r>
            <a:r>
              <a:rPr lang="en-US" sz="1300" dirty="0">
                <a:solidFill>
                  <a:srgbClr val="1A2733"/>
                </a:solidFill>
                <a:latin typeface="Calibri" pitchFamily="34" charset="0"/>
                <a:ea typeface="Calibri" pitchFamily="34" charset="-122"/>
                <a:cs typeface="Calibri" pitchFamily="34" charset="-120"/>
              </a:rPr>
              <a:t>Many clients (phones, hospitals, banks) train one shared model. Each keeps its data local and sends only model updates (gradients) to a central server, which aggregates them.
</a:t>
            </a:r>
            <a:r>
              <a:rPr lang="en-US" sz="1300" dirty="0">
                <a:solidFill>
                  <a:srgbClr val="5E6E78"/>
                </a:solidFill>
                <a:latin typeface="Calibri" pitchFamily="34" charset="0"/>
                <a:ea typeface="Calibri" pitchFamily="34" charset="-122"/>
                <a:cs typeface="Calibri" pitchFamily="34" charset="-120"/>
              </a:rPr>
              <a:t>Privacy by design — but updates can still leak information, which is what attacks exploit.</a:t>
            </a:r>
            <a:endParaRPr lang="en-US" sz="1300" dirty="0"/>
          </a:p>
        </p:txBody>
      </p:sp>
      <p:sp>
        <p:nvSpPr>
          <p:cNvPr id="10" name="Shape 7"/>
          <p:cNvSpPr/>
          <p:nvPr/>
        </p:nvSpPr>
        <p:spPr>
          <a:xfrm>
            <a:off x="6172200" y="1874520"/>
            <a:ext cx="5349240" cy="4069080"/>
          </a:xfrm>
          <a:prstGeom prst="roundRect">
            <a:avLst>
              <a:gd name="adj" fmla="val 1798"/>
            </a:avLst>
          </a:prstGeom>
          <a:solidFill>
            <a:srgbClr val="F4F8F8"/>
          </a:solidFill>
          <a:ln w="12700">
            <a:solidFill>
              <a:srgbClr val="C9D8DC"/>
            </a:solidFill>
            <a:prstDash val="solid"/>
          </a:ln>
        </p:spPr>
        <p:txBody>
          <a:bodyPr/>
          <a:lstStyle/>
          <a:p>
            <a:endParaRPr lang="en-QA"/>
          </a:p>
        </p:txBody>
      </p:sp>
      <p:sp>
        <p:nvSpPr>
          <p:cNvPr id="11" name="Shape 8"/>
          <p:cNvSpPr/>
          <p:nvPr/>
        </p:nvSpPr>
        <p:spPr>
          <a:xfrm>
            <a:off x="6400800" y="2103120"/>
            <a:ext cx="548640" cy="548640"/>
          </a:xfrm>
          <a:prstGeom prst="ellipse">
            <a:avLst/>
          </a:prstGeom>
          <a:solidFill>
            <a:srgbClr val="0E8C8C"/>
          </a:solidFill>
          <a:ln/>
          <a:effectLst>
            <a:outerShdw blurRad="88900" dist="38100" dir="5400000" algn="bl" rotWithShape="0">
              <a:srgbClr val="000000">
                <a:alpha val="16000"/>
              </a:srgbClr>
            </a:outerShdw>
          </a:effectLst>
        </p:spPr>
        <p:txBody>
          <a:bodyPr/>
          <a:lstStyle/>
          <a:p>
            <a:endParaRPr lang="en-QA"/>
          </a:p>
        </p:txBody>
      </p:sp>
      <p:pic>
        <p:nvPicPr>
          <p:cNvPr id="12" name="Image 1" descr="preencoded.png"/>
          <p:cNvPicPr>
            <a:picLocks noChangeAspect="1"/>
          </p:cNvPicPr>
          <p:nvPr/>
        </p:nvPicPr>
        <p:blipFill>
          <a:blip r:embed="rId4"/>
          <a:stretch>
            <a:fillRect/>
          </a:stretch>
        </p:blipFill>
        <p:spPr>
          <a:xfrm>
            <a:off x="6543446" y="2245766"/>
            <a:ext cx="263347" cy="263347"/>
          </a:xfrm>
          <a:prstGeom prst="rect">
            <a:avLst/>
          </a:prstGeom>
        </p:spPr>
      </p:pic>
      <p:sp>
        <p:nvSpPr>
          <p:cNvPr id="13" name="Text 9"/>
          <p:cNvSpPr/>
          <p:nvPr/>
        </p:nvSpPr>
        <p:spPr>
          <a:xfrm>
            <a:off x="7068312" y="2112264"/>
            <a:ext cx="4297680" cy="502920"/>
          </a:xfrm>
          <a:prstGeom prst="rect">
            <a:avLst/>
          </a:prstGeom>
          <a:noFill/>
          <a:ln/>
        </p:spPr>
        <p:txBody>
          <a:bodyPr wrap="square" lIns="0" tIns="0" rIns="0" bIns="0" rtlCol="0" anchor="ctr"/>
          <a:lstStyle/>
          <a:p>
            <a:pPr marL="0" indent="0">
              <a:buNone/>
            </a:pPr>
            <a:r>
              <a:rPr lang="en-US" sz="1600" b="1" dirty="0">
                <a:solidFill>
                  <a:srgbClr val="1A2733"/>
                </a:solidFill>
                <a:latin typeface="Cambria" pitchFamily="34" charset="0"/>
                <a:ea typeface="Cambria" pitchFamily="34" charset="-122"/>
                <a:cs typeface="Cambria" pitchFamily="34" charset="-120"/>
              </a:rPr>
              <a:t>What the literature says</a:t>
            </a:r>
            <a:endParaRPr lang="en-US" sz="1600" dirty="0"/>
          </a:p>
        </p:txBody>
      </p:sp>
      <p:sp>
        <p:nvSpPr>
          <p:cNvPr id="14" name="Text 10"/>
          <p:cNvSpPr/>
          <p:nvPr/>
        </p:nvSpPr>
        <p:spPr>
          <a:xfrm>
            <a:off x="6464808" y="2807208"/>
            <a:ext cx="4782312" cy="2971800"/>
          </a:xfrm>
          <a:prstGeom prst="rect">
            <a:avLst/>
          </a:prstGeom>
          <a:noFill/>
          <a:ln/>
        </p:spPr>
        <p:txBody>
          <a:bodyPr wrap="square" lIns="0" tIns="0" rIns="0" bIns="0" rtlCol="0" anchor="t"/>
          <a:lstStyle/>
          <a:p>
            <a:pPr marL="177800" indent="-177800">
              <a:lnSpc>
                <a:spcPct val="103000"/>
              </a:lnSpc>
              <a:buSzPct val="100000"/>
              <a:buChar char="•"/>
            </a:pPr>
            <a:r>
              <a:rPr lang="en-US" sz="1150" b="1" dirty="0">
                <a:solidFill>
                  <a:srgbClr val="0E8C8C"/>
                </a:solidFill>
                <a:latin typeface="Calibri" pitchFamily="34" charset="0"/>
                <a:ea typeface="Calibri" pitchFamily="34" charset="-122"/>
                <a:cs typeface="Calibri" pitchFamily="34" charset="-120"/>
              </a:rPr>
              <a:t>Abidi et al. — </a:t>
            </a:r>
            <a:r>
              <a:rPr lang="en-US" sz="1150" dirty="0">
                <a:solidFill>
                  <a:srgbClr val="5E6E78"/>
                </a:solidFill>
                <a:latin typeface="Calibri" pitchFamily="34" charset="0"/>
                <a:ea typeface="Calibri" pitchFamily="34" charset="-122"/>
                <a:cs typeface="Calibri" pitchFamily="34" charset="-120"/>
              </a:rPr>
              <a:t>Survey FL privacy, security and hardware: despite its privacy-by-design reputation, FL is susceptible to sophisticated attacks, and the limited resources of edge devices compound the risk.</a:t>
            </a:r>
            <a:endParaRPr lang="en-US" sz="1150" dirty="0"/>
          </a:p>
          <a:p>
            <a:pPr marL="177800" indent="-177800">
              <a:lnSpc>
                <a:spcPct val="103000"/>
              </a:lnSpc>
              <a:buSzPct val="100000"/>
              <a:buChar char="•"/>
            </a:pPr>
            <a:r>
              <a:rPr lang="en-US" sz="1150" b="1" dirty="0">
                <a:solidFill>
                  <a:srgbClr val="0E8C8C"/>
                </a:solidFill>
                <a:latin typeface="Calibri" pitchFamily="34" charset="0"/>
                <a:ea typeface="Calibri" pitchFamily="34" charset="-122"/>
                <a:cs typeface="Calibri" pitchFamily="34" charset="-120"/>
              </a:rPr>
              <a:t>Fernandez-de-Retana et al., 2025 — </a:t>
            </a:r>
            <a:r>
              <a:rPr lang="en-US" sz="1150" dirty="0">
                <a:solidFill>
                  <a:srgbClr val="5E6E78"/>
                </a:solidFill>
                <a:latin typeface="Calibri" pitchFamily="34" charset="0"/>
                <a:ea typeface="Calibri" pitchFamily="34" charset="-122"/>
                <a:cs typeface="Calibri" pitchFamily="34" charset="-120"/>
              </a:rPr>
              <a:t>Show gradient leakage attacks reconstruct private training inputs from the shared gradients in a simulated FL setting — concrete evidence that model updates leak data.</a:t>
            </a:r>
            <a:endParaRPr lang="en-US" sz="1150" dirty="0"/>
          </a:p>
        </p:txBody>
      </p:sp>
      <p:sp>
        <p:nvSpPr>
          <p:cNvPr id="16" name="Shape 11"/>
          <p:cNvSpPr/>
          <p:nvPr/>
        </p:nvSpPr>
        <p:spPr>
          <a:xfrm>
            <a:off x="548640" y="6464808"/>
            <a:ext cx="109728" cy="109728"/>
          </a:xfrm>
          <a:prstGeom prst="ellipse">
            <a:avLst/>
          </a:prstGeom>
          <a:solidFill>
            <a:srgbClr val="0E8C8C"/>
          </a:solidFill>
          <a:ln/>
        </p:spPr>
        <p:txBody>
          <a:bodyPr/>
          <a:lstStyle/>
          <a:p>
            <a:endParaRPr lang="en-QA"/>
          </a:p>
        </p:txBody>
      </p:sp>
      <p:sp>
        <p:nvSpPr>
          <p:cNvPr id="17" name="Text 12"/>
          <p:cNvSpPr/>
          <p:nvPr/>
        </p:nvSpPr>
        <p:spPr>
          <a:xfrm>
            <a:off x="749808" y="6355080"/>
            <a:ext cx="8229600" cy="320040"/>
          </a:xfrm>
          <a:prstGeom prst="rect">
            <a:avLst/>
          </a:prstGeom>
          <a:noFill/>
          <a:ln/>
        </p:spPr>
        <p:txBody>
          <a:bodyPr wrap="square" lIns="0" tIns="0" rIns="0" bIns="0" rtlCol="0" anchor="ctr"/>
          <a:lstStyle/>
          <a:p>
            <a:pPr marL="0" indent="0">
              <a:buNone/>
            </a:pPr>
            <a:r>
              <a:rPr lang="en-US" sz="900" dirty="0">
                <a:solidFill>
                  <a:srgbClr val="5E6E78"/>
                </a:solidFill>
                <a:latin typeface="Calibri" pitchFamily="34" charset="0"/>
                <a:ea typeface="Calibri" pitchFamily="34" charset="-122"/>
                <a:cs typeface="Calibri" pitchFamily="34" charset="-120"/>
              </a:rPr>
              <a:t>AMIA × Federated Learning × LDP  —  Literature &amp; Proposed Study</a:t>
            </a:r>
            <a:endParaRPr lang="en-US" sz="900" dirty="0"/>
          </a:p>
        </p:txBody>
      </p:sp>
      <p:sp>
        <p:nvSpPr>
          <p:cNvPr id="18" name="Text 13"/>
          <p:cNvSpPr/>
          <p:nvPr/>
        </p:nvSpPr>
        <p:spPr>
          <a:xfrm>
            <a:off x="11338560" y="6355080"/>
            <a:ext cx="457200" cy="320040"/>
          </a:xfrm>
          <a:prstGeom prst="rect">
            <a:avLst/>
          </a:prstGeom>
          <a:noFill/>
          <a:ln/>
        </p:spPr>
        <p:txBody>
          <a:bodyPr wrap="square" rtlCol="0" anchor="ctr"/>
          <a:lstStyle/>
          <a:p>
            <a:pPr marL="0" indent="0" algn="r">
              <a:buNone/>
            </a:pPr>
            <a:r>
              <a:rPr lang="en-US" sz="1000" dirty="0">
                <a:solidFill>
                  <a:srgbClr val="5E6E78"/>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566928"/>
            <a:ext cx="128016" cy="128016"/>
          </a:xfrm>
          <a:prstGeom prst="ellipse">
            <a:avLst/>
          </a:prstGeom>
          <a:solidFill>
            <a:srgbClr val="0E8C8C"/>
          </a:solidFill>
          <a:ln/>
        </p:spPr>
        <p:txBody>
          <a:bodyPr/>
          <a:lstStyle/>
          <a:p>
            <a:endParaRPr lang="en-QA"/>
          </a:p>
        </p:txBody>
      </p:sp>
      <p:sp>
        <p:nvSpPr>
          <p:cNvPr id="3" name="Text 1"/>
          <p:cNvSpPr/>
          <p:nvPr/>
        </p:nvSpPr>
        <p:spPr>
          <a:xfrm>
            <a:off x="777240" y="457200"/>
            <a:ext cx="10515600" cy="320040"/>
          </a:xfrm>
          <a:prstGeom prst="rect">
            <a:avLst/>
          </a:prstGeom>
          <a:noFill/>
          <a:ln/>
        </p:spPr>
        <p:txBody>
          <a:bodyPr wrap="square" lIns="0" tIns="0" rIns="0" bIns="0" rtlCol="0" anchor="ctr"/>
          <a:lstStyle/>
          <a:p>
            <a:pPr marL="0" indent="0">
              <a:buNone/>
            </a:pPr>
            <a:r>
              <a:rPr lang="en-US" sz="1200" b="1" kern="0" spc="200" dirty="0">
                <a:solidFill>
                  <a:srgbClr val="0E8C8C"/>
                </a:solidFill>
                <a:latin typeface="Calibri" pitchFamily="34" charset="0"/>
                <a:ea typeface="Calibri" pitchFamily="34" charset="-122"/>
                <a:cs typeface="Calibri" pitchFamily="34" charset="-120"/>
              </a:rPr>
              <a:t>SECTION 2 · FIELD C</a:t>
            </a:r>
            <a:endParaRPr lang="en-US" sz="1200" dirty="0"/>
          </a:p>
        </p:txBody>
      </p:sp>
      <p:sp>
        <p:nvSpPr>
          <p:cNvPr id="4" name="Text 2"/>
          <p:cNvSpPr/>
          <p:nvPr/>
        </p:nvSpPr>
        <p:spPr>
          <a:xfrm>
            <a:off x="548640" y="768096"/>
            <a:ext cx="11064240" cy="868680"/>
          </a:xfrm>
          <a:prstGeom prst="rect">
            <a:avLst/>
          </a:prstGeom>
          <a:noFill/>
          <a:ln/>
        </p:spPr>
        <p:txBody>
          <a:bodyPr wrap="square" lIns="0" tIns="0" rIns="0" bIns="0" rtlCol="0" anchor="ctr"/>
          <a:lstStyle/>
          <a:p>
            <a:pPr marL="0" indent="0">
              <a:buNone/>
            </a:pPr>
            <a:r>
              <a:rPr lang="en-US" sz="3000" b="1" dirty="0">
                <a:solidFill>
                  <a:srgbClr val="1A2733"/>
                </a:solidFill>
                <a:latin typeface="Cambria" pitchFamily="34" charset="0"/>
                <a:ea typeface="Cambria" pitchFamily="34" charset="-122"/>
                <a:cs typeface="Cambria" pitchFamily="34" charset="-120"/>
              </a:rPr>
              <a:t>Local Differential Privacy (LDP)</a:t>
            </a:r>
            <a:endParaRPr lang="en-US" sz="3000" dirty="0"/>
          </a:p>
        </p:txBody>
      </p:sp>
      <p:sp>
        <p:nvSpPr>
          <p:cNvPr id="5" name="Shape 3"/>
          <p:cNvSpPr/>
          <p:nvPr/>
        </p:nvSpPr>
        <p:spPr>
          <a:xfrm>
            <a:off x="640080" y="1874520"/>
            <a:ext cx="5257800" cy="4069080"/>
          </a:xfrm>
          <a:prstGeom prst="roundRect">
            <a:avLst>
              <a:gd name="adj" fmla="val 1798"/>
            </a:avLst>
          </a:prstGeom>
          <a:solidFill>
            <a:srgbClr val="EAF2F3"/>
          </a:solidFill>
          <a:ln/>
        </p:spPr>
        <p:txBody>
          <a:bodyPr/>
          <a:lstStyle/>
          <a:p>
            <a:endParaRPr lang="en-QA"/>
          </a:p>
        </p:txBody>
      </p:sp>
      <p:sp>
        <p:nvSpPr>
          <p:cNvPr id="6" name="Shape 4"/>
          <p:cNvSpPr/>
          <p:nvPr/>
        </p:nvSpPr>
        <p:spPr>
          <a:xfrm>
            <a:off x="868680" y="2121408"/>
            <a:ext cx="777240" cy="777240"/>
          </a:xfrm>
          <a:prstGeom prst="ellipse">
            <a:avLst/>
          </a:prstGeom>
          <a:solidFill>
            <a:srgbClr val="0E8C8C"/>
          </a:solidFill>
          <a:ln/>
          <a:effectLst>
            <a:outerShdw blurRad="88900" dist="38100" dir="5400000" algn="bl" rotWithShape="0">
              <a:srgbClr val="000000">
                <a:alpha val="16000"/>
              </a:srgbClr>
            </a:outerShdw>
          </a:effectLst>
        </p:spPr>
        <p:txBody>
          <a:bodyPr/>
          <a:lstStyle/>
          <a:p>
            <a:endParaRPr lang="en-QA"/>
          </a:p>
        </p:txBody>
      </p:sp>
      <p:pic>
        <p:nvPicPr>
          <p:cNvPr id="7" name="Image 0" descr="preencoded.png"/>
          <p:cNvPicPr>
            <a:picLocks noChangeAspect="1"/>
          </p:cNvPicPr>
          <p:nvPr/>
        </p:nvPicPr>
        <p:blipFill>
          <a:blip r:embed="rId3">
            <a:biLevel thresh="25000"/>
          </a:blip>
          <a:stretch>
            <a:fillRect/>
          </a:stretch>
        </p:blipFill>
        <p:spPr>
          <a:xfrm>
            <a:off x="1070762" y="2323490"/>
            <a:ext cx="373075" cy="373075"/>
          </a:xfrm>
          <a:prstGeom prst="rect">
            <a:avLst/>
          </a:prstGeom>
        </p:spPr>
      </p:pic>
      <p:sp>
        <p:nvSpPr>
          <p:cNvPr id="8" name="Text 5"/>
          <p:cNvSpPr/>
          <p:nvPr/>
        </p:nvSpPr>
        <p:spPr>
          <a:xfrm>
            <a:off x="1828800" y="2240280"/>
            <a:ext cx="3931920" cy="502920"/>
          </a:xfrm>
          <a:prstGeom prst="rect">
            <a:avLst/>
          </a:prstGeom>
          <a:noFill/>
          <a:ln/>
        </p:spPr>
        <p:txBody>
          <a:bodyPr wrap="square" lIns="0" tIns="0" rIns="0" bIns="0" rtlCol="0" anchor="ctr"/>
          <a:lstStyle/>
          <a:p>
            <a:pPr marL="0" indent="0">
              <a:buNone/>
            </a:pPr>
            <a:r>
              <a:rPr lang="en-US" sz="1800" b="1" dirty="0">
                <a:solidFill>
                  <a:srgbClr val="1A2733"/>
                </a:solidFill>
                <a:latin typeface="Cambria" pitchFamily="34" charset="0"/>
                <a:ea typeface="Cambria" pitchFamily="34" charset="-122"/>
                <a:cs typeface="Cambria" pitchFamily="34" charset="-120"/>
              </a:rPr>
              <a:t>What it is</a:t>
            </a:r>
            <a:endParaRPr lang="en-US" sz="1800" dirty="0"/>
          </a:p>
        </p:txBody>
      </p:sp>
      <p:sp>
        <p:nvSpPr>
          <p:cNvPr id="9" name="Text 6"/>
          <p:cNvSpPr/>
          <p:nvPr/>
        </p:nvSpPr>
        <p:spPr>
          <a:xfrm>
            <a:off x="896112" y="3063240"/>
            <a:ext cx="4800600" cy="2743200"/>
          </a:xfrm>
          <a:prstGeom prst="rect">
            <a:avLst/>
          </a:prstGeom>
          <a:noFill/>
          <a:ln/>
        </p:spPr>
        <p:txBody>
          <a:bodyPr wrap="square" lIns="0" tIns="0" rIns="0" bIns="0" rtlCol="0" anchor="t"/>
          <a:lstStyle/>
          <a:p>
            <a:pPr marL="0" indent="0">
              <a:lnSpc>
                <a:spcPct val="116000"/>
              </a:lnSpc>
              <a:buNone/>
            </a:pPr>
            <a:r>
              <a:rPr lang="en-US" sz="1300" b="1" dirty="0">
                <a:solidFill>
                  <a:srgbClr val="0E8C8C"/>
                </a:solidFill>
                <a:latin typeface="Calibri" pitchFamily="34" charset="0"/>
                <a:ea typeface="Calibri" pitchFamily="34" charset="-122"/>
                <a:cs typeface="Calibri" pitchFamily="34" charset="-120"/>
              </a:rPr>
              <a:t>LDP = Local Differential Privacy.
</a:t>
            </a:r>
            <a:r>
              <a:rPr lang="en-US" sz="1300" dirty="0">
                <a:solidFill>
                  <a:srgbClr val="1A2733"/>
                </a:solidFill>
                <a:latin typeface="Calibri" pitchFamily="34" charset="0"/>
                <a:ea typeface="Calibri" pitchFamily="34" charset="-122"/>
                <a:cs typeface="Calibri" pitchFamily="34" charset="-120"/>
              </a:rPr>
              <a:t>Each client randomizes its own data before sharing, so no single record stands out. Strength is set by a privacy budget ε.
</a:t>
            </a:r>
            <a:r>
              <a:rPr lang="en-US" sz="1300" dirty="0">
                <a:solidFill>
                  <a:srgbClr val="5E6E78"/>
                </a:solidFill>
                <a:latin typeface="Calibri" pitchFamily="34" charset="0"/>
                <a:ea typeface="Calibri" pitchFamily="34" charset="-122"/>
                <a:cs typeface="Calibri" pitchFamily="34" charset="-120"/>
              </a:rPr>
              <a:t>Smaller ε → more noise → stronger privacy but lower model utility. The core tension of the whole talk.</a:t>
            </a:r>
            <a:endParaRPr lang="en-US" sz="1300" dirty="0"/>
          </a:p>
        </p:txBody>
      </p:sp>
      <p:sp>
        <p:nvSpPr>
          <p:cNvPr id="10" name="Shape 7"/>
          <p:cNvSpPr/>
          <p:nvPr/>
        </p:nvSpPr>
        <p:spPr>
          <a:xfrm>
            <a:off x="6172200" y="1874520"/>
            <a:ext cx="5349240" cy="4069080"/>
          </a:xfrm>
          <a:prstGeom prst="roundRect">
            <a:avLst>
              <a:gd name="adj" fmla="val 1798"/>
            </a:avLst>
          </a:prstGeom>
          <a:solidFill>
            <a:srgbClr val="F4F8F8"/>
          </a:solidFill>
          <a:ln w="12700">
            <a:solidFill>
              <a:srgbClr val="C9D8DC"/>
            </a:solidFill>
            <a:prstDash val="solid"/>
          </a:ln>
        </p:spPr>
        <p:txBody>
          <a:bodyPr/>
          <a:lstStyle/>
          <a:p>
            <a:endParaRPr lang="en-QA"/>
          </a:p>
        </p:txBody>
      </p:sp>
      <p:sp>
        <p:nvSpPr>
          <p:cNvPr id="11" name="Shape 8"/>
          <p:cNvSpPr/>
          <p:nvPr/>
        </p:nvSpPr>
        <p:spPr>
          <a:xfrm>
            <a:off x="6400800" y="2103120"/>
            <a:ext cx="548640" cy="548640"/>
          </a:xfrm>
          <a:prstGeom prst="ellipse">
            <a:avLst/>
          </a:prstGeom>
          <a:solidFill>
            <a:srgbClr val="0E8C8C"/>
          </a:solidFill>
          <a:ln/>
          <a:effectLst>
            <a:outerShdw blurRad="88900" dist="38100" dir="5400000" algn="bl" rotWithShape="0">
              <a:srgbClr val="000000">
                <a:alpha val="16000"/>
              </a:srgbClr>
            </a:outerShdw>
          </a:effectLst>
        </p:spPr>
        <p:txBody>
          <a:bodyPr/>
          <a:lstStyle/>
          <a:p>
            <a:endParaRPr lang="en-QA"/>
          </a:p>
        </p:txBody>
      </p:sp>
      <p:pic>
        <p:nvPicPr>
          <p:cNvPr id="12" name="Image 1" descr="preencoded.png"/>
          <p:cNvPicPr>
            <a:picLocks noChangeAspect="1"/>
          </p:cNvPicPr>
          <p:nvPr/>
        </p:nvPicPr>
        <p:blipFill>
          <a:blip r:embed="rId4"/>
          <a:stretch>
            <a:fillRect/>
          </a:stretch>
        </p:blipFill>
        <p:spPr>
          <a:xfrm>
            <a:off x="6543446" y="2245766"/>
            <a:ext cx="263347" cy="263347"/>
          </a:xfrm>
          <a:prstGeom prst="rect">
            <a:avLst/>
          </a:prstGeom>
        </p:spPr>
      </p:pic>
      <p:sp>
        <p:nvSpPr>
          <p:cNvPr id="13" name="Text 9"/>
          <p:cNvSpPr/>
          <p:nvPr/>
        </p:nvSpPr>
        <p:spPr>
          <a:xfrm>
            <a:off x="7068312" y="2112264"/>
            <a:ext cx="4297680" cy="502920"/>
          </a:xfrm>
          <a:prstGeom prst="rect">
            <a:avLst/>
          </a:prstGeom>
          <a:noFill/>
          <a:ln/>
        </p:spPr>
        <p:txBody>
          <a:bodyPr wrap="square" lIns="0" tIns="0" rIns="0" bIns="0" rtlCol="0" anchor="ctr"/>
          <a:lstStyle/>
          <a:p>
            <a:pPr marL="0" indent="0">
              <a:buNone/>
            </a:pPr>
            <a:r>
              <a:rPr lang="en-US" sz="1600" b="1" dirty="0">
                <a:solidFill>
                  <a:srgbClr val="1A2733"/>
                </a:solidFill>
                <a:latin typeface="Cambria" pitchFamily="34" charset="0"/>
                <a:ea typeface="Cambria" pitchFamily="34" charset="-122"/>
                <a:cs typeface="Cambria" pitchFamily="34" charset="-120"/>
              </a:rPr>
              <a:t>What the literature says</a:t>
            </a:r>
            <a:endParaRPr lang="en-US" sz="1600" dirty="0"/>
          </a:p>
        </p:txBody>
      </p:sp>
      <p:sp>
        <p:nvSpPr>
          <p:cNvPr id="14" name="Text 10"/>
          <p:cNvSpPr/>
          <p:nvPr/>
        </p:nvSpPr>
        <p:spPr>
          <a:xfrm>
            <a:off x="6464808" y="2807208"/>
            <a:ext cx="4782312" cy="2971800"/>
          </a:xfrm>
          <a:prstGeom prst="rect">
            <a:avLst/>
          </a:prstGeom>
          <a:noFill/>
          <a:ln/>
        </p:spPr>
        <p:txBody>
          <a:bodyPr wrap="square" lIns="0" tIns="0" rIns="0" bIns="0" rtlCol="0" anchor="t"/>
          <a:lstStyle/>
          <a:p>
            <a:pPr marL="177800" indent="-177800">
              <a:lnSpc>
                <a:spcPct val="103000"/>
              </a:lnSpc>
              <a:buSzPct val="100000"/>
              <a:buChar char="•"/>
            </a:pPr>
            <a:r>
              <a:rPr lang="en-US" sz="1150" b="1" dirty="0">
                <a:solidFill>
                  <a:srgbClr val="0E8C8C"/>
                </a:solidFill>
                <a:latin typeface="Calibri" pitchFamily="34" charset="0"/>
                <a:ea typeface="Calibri" pitchFamily="34" charset="-122"/>
                <a:cs typeface="Calibri" pitchFamily="34" charset="-120"/>
              </a:rPr>
              <a:t>Q. Nguyen et al., 2025 (ICML) — </a:t>
            </a:r>
            <a:r>
              <a:rPr lang="en-US" sz="1150" dirty="0">
                <a:solidFill>
                  <a:srgbClr val="5E6E78"/>
                </a:solidFill>
                <a:latin typeface="Calibri" pitchFamily="34" charset="0"/>
                <a:ea typeface="Calibri" pitchFamily="34" charset="-122"/>
                <a:cs typeface="Calibri" pitchFamily="34" charset="-120"/>
              </a:rPr>
              <a:t>Even under LDP, inference attacks keep provable success; the noise needed to suppress them significantly degrades model utility — directly quantifying the ε–utility tension.</a:t>
            </a:r>
            <a:endParaRPr lang="en-US" sz="1150" dirty="0"/>
          </a:p>
          <a:p>
            <a:pPr marL="177800" indent="-177800">
              <a:lnSpc>
                <a:spcPct val="103000"/>
              </a:lnSpc>
              <a:buSzPct val="100000"/>
              <a:buChar char="•"/>
            </a:pPr>
            <a:r>
              <a:rPr lang="en-US" sz="1150" b="1" dirty="0">
                <a:solidFill>
                  <a:srgbClr val="0E8C8C"/>
                </a:solidFill>
                <a:latin typeface="Calibri" pitchFamily="34" charset="0"/>
                <a:ea typeface="Calibri" pitchFamily="34" charset="-122"/>
                <a:cs typeface="Calibri" pitchFamily="34" charset="-120"/>
              </a:rPr>
              <a:t>Fernandez-de-Retana et al., 2025 — </a:t>
            </a:r>
            <a:r>
              <a:rPr lang="en-US" sz="1150" dirty="0">
                <a:solidFill>
                  <a:srgbClr val="5E6E78"/>
                </a:solidFill>
                <a:latin typeface="Calibri" pitchFamily="34" charset="0"/>
                <a:ea typeface="Calibri" pitchFamily="34" charset="-122"/>
                <a:cs typeface="Calibri" pitchFamily="34" charset="-120"/>
              </a:rPr>
              <a:t>DP-SGD markedly reduces gradient-leakage reconstruction but at a moderate utility cost; a regularization variant, PDP-SGD, preserves accuracy yet fails as a practical defense.</a:t>
            </a:r>
            <a:endParaRPr lang="en-US" sz="1150" dirty="0"/>
          </a:p>
        </p:txBody>
      </p:sp>
      <p:sp>
        <p:nvSpPr>
          <p:cNvPr id="16" name="Shape 11"/>
          <p:cNvSpPr/>
          <p:nvPr/>
        </p:nvSpPr>
        <p:spPr>
          <a:xfrm>
            <a:off x="548640" y="6464808"/>
            <a:ext cx="109728" cy="109728"/>
          </a:xfrm>
          <a:prstGeom prst="ellipse">
            <a:avLst/>
          </a:prstGeom>
          <a:solidFill>
            <a:srgbClr val="0E8C8C"/>
          </a:solidFill>
          <a:ln/>
        </p:spPr>
        <p:txBody>
          <a:bodyPr/>
          <a:lstStyle/>
          <a:p>
            <a:endParaRPr lang="en-QA"/>
          </a:p>
        </p:txBody>
      </p:sp>
      <p:sp>
        <p:nvSpPr>
          <p:cNvPr id="17" name="Text 12"/>
          <p:cNvSpPr/>
          <p:nvPr/>
        </p:nvSpPr>
        <p:spPr>
          <a:xfrm>
            <a:off x="749808" y="6355080"/>
            <a:ext cx="8229600" cy="320040"/>
          </a:xfrm>
          <a:prstGeom prst="rect">
            <a:avLst/>
          </a:prstGeom>
          <a:noFill/>
          <a:ln/>
        </p:spPr>
        <p:txBody>
          <a:bodyPr wrap="square" lIns="0" tIns="0" rIns="0" bIns="0" rtlCol="0" anchor="ctr"/>
          <a:lstStyle/>
          <a:p>
            <a:pPr marL="0" indent="0">
              <a:buNone/>
            </a:pPr>
            <a:r>
              <a:rPr lang="en-US" sz="900" dirty="0">
                <a:solidFill>
                  <a:srgbClr val="5E6E78"/>
                </a:solidFill>
                <a:latin typeface="Calibri" pitchFamily="34" charset="0"/>
                <a:ea typeface="Calibri" pitchFamily="34" charset="-122"/>
                <a:cs typeface="Calibri" pitchFamily="34" charset="-120"/>
              </a:rPr>
              <a:t>AMIA × Federated Learning × LDP  —  Literature &amp; Proposed Study</a:t>
            </a:r>
            <a:endParaRPr lang="en-US" sz="900" dirty="0"/>
          </a:p>
        </p:txBody>
      </p:sp>
      <p:sp>
        <p:nvSpPr>
          <p:cNvPr id="18" name="Text 13"/>
          <p:cNvSpPr/>
          <p:nvPr/>
        </p:nvSpPr>
        <p:spPr>
          <a:xfrm>
            <a:off x="11338560" y="6355080"/>
            <a:ext cx="457200" cy="320040"/>
          </a:xfrm>
          <a:prstGeom prst="rect">
            <a:avLst/>
          </a:prstGeom>
          <a:noFill/>
          <a:ln/>
        </p:spPr>
        <p:txBody>
          <a:bodyPr wrap="square" rtlCol="0" anchor="ctr"/>
          <a:lstStyle/>
          <a:p>
            <a:pPr marL="0" indent="0" algn="r">
              <a:buNone/>
            </a:pPr>
            <a:r>
              <a:rPr lang="en-US" sz="1000" dirty="0">
                <a:solidFill>
                  <a:srgbClr val="5E6E78"/>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566928"/>
            <a:ext cx="128016" cy="128016"/>
          </a:xfrm>
          <a:prstGeom prst="ellipse">
            <a:avLst/>
          </a:prstGeom>
          <a:solidFill>
            <a:srgbClr val="0E8C8C"/>
          </a:solidFill>
          <a:ln/>
        </p:spPr>
        <p:txBody>
          <a:bodyPr/>
          <a:lstStyle/>
          <a:p>
            <a:endParaRPr lang="en-QA"/>
          </a:p>
        </p:txBody>
      </p:sp>
      <p:sp>
        <p:nvSpPr>
          <p:cNvPr id="3" name="Text 1"/>
          <p:cNvSpPr/>
          <p:nvPr/>
        </p:nvSpPr>
        <p:spPr>
          <a:xfrm>
            <a:off x="777240" y="457200"/>
            <a:ext cx="10515600" cy="320040"/>
          </a:xfrm>
          <a:prstGeom prst="rect">
            <a:avLst/>
          </a:prstGeom>
          <a:noFill/>
          <a:ln/>
        </p:spPr>
        <p:txBody>
          <a:bodyPr wrap="square" lIns="0" tIns="0" rIns="0" bIns="0" rtlCol="0" anchor="ctr"/>
          <a:lstStyle/>
          <a:p>
            <a:pPr marL="0" indent="0">
              <a:buNone/>
            </a:pPr>
            <a:r>
              <a:rPr lang="en-US" sz="1200" b="1" kern="0" spc="200" dirty="0">
                <a:solidFill>
                  <a:srgbClr val="0E8C8C"/>
                </a:solidFill>
                <a:latin typeface="Calibri" pitchFamily="34" charset="0"/>
                <a:ea typeface="Calibri" pitchFamily="34" charset="-122"/>
                <a:cs typeface="Calibri" pitchFamily="34" charset="-120"/>
              </a:rPr>
              <a:t>SECTION 2 · FIELD D</a:t>
            </a:r>
            <a:endParaRPr lang="en-US" sz="1200" dirty="0"/>
          </a:p>
        </p:txBody>
      </p:sp>
      <p:sp>
        <p:nvSpPr>
          <p:cNvPr id="4" name="Text 2"/>
          <p:cNvSpPr/>
          <p:nvPr/>
        </p:nvSpPr>
        <p:spPr>
          <a:xfrm>
            <a:off x="548640" y="768096"/>
            <a:ext cx="11064240" cy="868680"/>
          </a:xfrm>
          <a:prstGeom prst="rect">
            <a:avLst/>
          </a:prstGeom>
          <a:noFill/>
          <a:ln/>
        </p:spPr>
        <p:txBody>
          <a:bodyPr wrap="square" lIns="0" tIns="0" rIns="0" bIns="0" rtlCol="0" anchor="ctr"/>
          <a:lstStyle/>
          <a:p>
            <a:pPr marL="0" indent="0">
              <a:buNone/>
            </a:pPr>
            <a:r>
              <a:rPr lang="en-US" sz="3000" b="1" dirty="0">
                <a:solidFill>
                  <a:srgbClr val="1A2733"/>
                </a:solidFill>
                <a:latin typeface="Cambria" pitchFamily="34" charset="0"/>
                <a:ea typeface="Cambria" pitchFamily="34" charset="-122"/>
                <a:cs typeface="Cambria" pitchFamily="34" charset="-120"/>
              </a:rPr>
              <a:t>Training LLMs via Federated Learning</a:t>
            </a:r>
            <a:endParaRPr lang="en-US" sz="3000" dirty="0"/>
          </a:p>
        </p:txBody>
      </p:sp>
      <p:sp>
        <p:nvSpPr>
          <p:cNvPr id="5" name="Shape 3"/>
          <p:cNvSpPr/>
          <p:nvPr/>
        </p:nvSpPr>
        <p:spPr>
          <a:xfrm>
            <a:off x="640080" y="1874520"/>
            <a:ext cx="5257800" cy="4069080"/>
          </a:xfrm>
          <a:prstGeom prst="roundRect">
            <a:avLst>
              <a:gd name="adj" fmla="val 1798"/>
            </a:avLst>
          </a:prstGeom>
          <a:solidFill>
            <a:srgbClr val="EAF2F3"/>
          </a:solidFill>
          <a:ln/>
        </p:spPr>
        <p:txBody>
          <a:bodyPr/>
          <a:lstStyle/>
          <a:p>
            <a:endParaRPr lang="en-QA"/>
          </a:p>
        </p:txBody>
      </p:sp>
      <p:sp>
        <p:nvSpPr>
          <p:cNvPr id="6" name="Shape 4"/>
          <p:cNvSpPr/>
          <p:nvPr/>
        </p:nvSpPr>
        <p:spPr>
          <a:xfrm>
            <a:off x="868680" y="2121408"/>
            <a:ext cx="777240" cy="777240"/>
          </a:xfrm>
          <a:prstGeom prst="ellipse">
            <a:avLst/>
          </a:prstGeom>
          <a:solidFill>
            <a:srgbClr val="0E8C8C"/>
          </a:solidFill>
          <a:ln/>
          <a:effectLst>
            <a:outerShdw blurRad="88900" dist="38100" dir="5400000" algn="bl" rotWithShape="0">
              <a:srgbClr val="000000">
                <a:alpha val="16000"/>
              </a:srgbClr>
            </a:outerShdw>
          </a:effectLst>
        </p:spPr>
        <p:txBody>
          <a:bodyPr/>
          <a:lstStyle/>
          <a:p>
            <a:endParaRPr lang="en-QA" b="1">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pic>
        <p:nvPicPr>
          <p:cNvPr id="7" name="Image 0" descr="preencoded.png"/>
          <p:cNvPicPr>
            <a:picLocks noChangeAspect="1"/>
          </p:cNvPicPr>
          <p:nvPr/>
        </p:nvPicPr>
        <p:blipFill>
          <a:blip r:embed="rId3">
            <a:biLevel thresh="25000"/>
          </a:blip>
          <a:stretch>
            <a:fillRect/>
          </a:stretch>
        </p:blipFill>
        <p:spPr>
          <a:xfrm>
            <a:off x="1070762" y="2323490"/>
            <a:ext cx="373075" cy="373075"/>
          </a:xfrm>
          <a:prstGeom prst="rect">
            <a:avLst/>
          </a:prstGeom>
        </p:spPr>
      </p:pic>
      <p:sp>
        <p:nvSpPr>
          <p:cNvPr id="8" name="Text 5"/>
          <p:cNvSpPr/>
          <p:nvPr/>
        </p:nvSpPr>
        <p:spPr>
          <a:xfrm>
            <a:off x="1828800" y="2240280"/>
            <a:ext cx="3931920" cy="502920"/>
          </a:xfrm>
          <a:prstGeom prst="rect">
            <a:avLst/>
          </a:prstGeom>
          <a:noFill/>
          <a:ln/>
        </p:spPr>
        <p:txBody>
          <a:bodyPr wrap="square" lIns="0" tIns="0" rIns="0" bIns="0" rtlCol="0" anchor="ctr"/>
          <a:lstStyle/>
          <a:p>
            <a:pPr marL="0" indent="0">
              <a:buNone/>
            </a:pPr>
            <a:r>
              <a:rPr lang="en-US" sz="1800" b="1" dirty="0">
                <a:solidFill>
                  <a:srgbClr val="1A2733"/>
                </a:solidFill>
                <a:latin typeface="Cambria" pitchFamily="34" charset="0"/>
                <a:ea typeface="Cambria" pitchFamily="34" charset="-122"/>
                <a:cs typeface="Cambria" pitchFamily="34" charset="-120"/>
              </a:rPr>
              <a:t>What it is</a:t>
            </a:r>
            <a:endParaRPr lang="en-US" sz="1800" dirty="0"/>
          </a:p>
        </p:txBody>
      </p:sp>
      <p:sp>
        <p:nvSpPr>
          <p:cNvPr id="9" name="Text 6"/>
          <p:cNvSpPr/>
          <p:nvPr/>
        </p:nvSpPr>
        <p:spPr>
          <a:xfrm>
            <a:off x="896112" y="3063240"/>
            <a:ext cx="4800600" cy="2743200"/>
          </a:xfrm>
          <a:prstGeom prst="rect">
            <a:avLst/>
          </a:prstGeom>
          <a:noFill/>
          <a:ln/>
        </p:spPr>
        <p:txBody>
          <a:bodyPr wrap="square" lIns="0" tIns="0" rIns="0" bIns="0" rtlCol="0" anchor="t"/>
          <a:lstStyle/>
          <a:p>
            <a:pPr marL="0" indent="0">
              <a:lnSpc>
                <a:spcPct val="116000"/>
              </a:lnSpc>
              <a:buNone/>
            </a:pPr>
            <a:r>
              <a:rPr lang="en-US" sz="1300" b="1" dirty="0">
                <a:solidFill>
                  <a:srgbClr val="0E8C8C"/>
                </a:solidFill>
                <a:latin typeface="Calibri" pitchFamily="34" charset="0"/>
                <a:ea typeface="Calibri" pitchFamily="34" charset="-122"/>
                <a:cs typeface="Calibri" pitchFamily="34" charset="-120"/>
              </a:rPr>
              <a:t>LLM = Large Language Model (the models behind chatbots).
</a:t>
            </a:r>
            <a:r>
              <a:rPr lang="en-US" sz="1300" dirty="0">
                <a:solidFill>
                  <a:srgbClr val="1A2733"/>
                </a:solidFill>
                <a:latin typeface="Calibri" pitchFamily="34" charset="0"/>
                <a:ea typeface="Calibri" pitchFamily="34" charset="-122"/>
                <a:cs typeface="Calibri" pitchFamily="34" charset="-120"/>
              </a:rPr>
              <a:t>Federated training of LLMs lets organizations co-train on sensitive text (medical notes, messages) without pooling it.
</a:t>
            </a:r>
            <a:r>
              <a:rPr lang="en-US" sz="1300" dirty="0">
                <a:solidFill>
                  <a:srgbClr val="5E6E78"/>
                </a:solidFill>
                <a:latin typeface="Calibri" pitchFamily="34" charset="0"/>
                <a:ea typeface="Calibri" pitchFamily="34" charset="-122"/>
                <a:cs typeface="Calibri" pitchFamily="34" charset="-120"/>
              </a:rPr>
              <a:t>New wrinkles: huge parameter counts, sequence / token data, and often fine-tuning rather than full training.</a:t>
            </a:r>
            <a:endParaRPr lang="en-US" sz="1300" dirty="0"/>
          </a:p>
        </p:txBody>
      </p:sp>
      <p:sp>
        <p:nvSpPr>
          <p:cNvPr id="10" name="Shape 7"/>
          <p:cNvSpPr/>
          <p:nvPr/>
        </p:nvSpPr>
        <p:spPr>
          <a:xfrm>
            <a:off x="6172200" y="1874520"/>
            <a:ext cx="5349240" cy="4069080"/>
          </a:xfrm>
          <a:prstGeom prst="roundRect">
            <a:avLst>
              <a:gd name="adj" fmla="val 1798"/>
            </a:avLst>
          </a:prstGeom>
          <a:solidFill>
            <a:srgbClr val="F4F8F8"/>
          </a:solidFill>
          <a:ln w="12700">
            <a:solidFill>
              <a:srgbClr val="C9D8DC"/>
            </a:solidFill>
            <a:prstDash val="solid"/>
          </a:ln>
        </p:spPr>
        <p:txBody>
          <a:bodyPr/>
          <a:lstStyle/>
          <a:p>
            <a:endParaRPr lang="en-QA"/>
          </a:p>
        </p:txBody>
      </p:sp>
      <p:sp>
        <p:nvSpPr>
          <p:cNvPr id="11" name="Shape 8"/>
          <p:cNvSpPr/>
          <p:nvPr/>
        </p:nvSpPr>
        <p:spPr>
          <a:xfrm>
            <a:off x="6400800" y="2103120"/>
            <a:ext cx="548640" cy="548640"/>
          </a:xfrm>
          <a:prstGeom prst="ellipse">
            <a:avLst/>
          </a:prstGeom>
          <a:solidFill>
            <a:srgbClr val="0E8C8C"/>
          </a:solidFill>
          <a:ln/>
          <a:effectLst>
            <a:outerShdw blurRad="88900" dist="38100" dir="5400000" algn="bl" rotWithShape="0">
              <a:srgbClr val="000000">
                <a:alpha val="16000"/>
              </a:srgbClr>
            </a:outerShdw>
          </a:effectLst>
        </p:spPr>
        <p:txBody>
          <a:bodyPr/>
          <a:lstStyle/>
          <a:p>
            <a:endParaRPr lang="en-QA"/>
          </a:p>
        </p:txBody>
      </p:sp>
      <p:pic>
        <p:nvPicPr>
          <p:cNvPr id="12" name="Image 1" descr="preencoded.png"/>
          <p:cNvPicPr>
            <a:picLocks noChangeAspect="1"/>
          </p:cNvPicPr>
          <p:nvPr/>
        </p:nvPicPr>
        <p:blipFill>
          <a:blip r:embed="rId4"/>
          <a:stretch>
            <a:fillRect/>
          </a:stretch>
        </p:blipFill>
        <p:spPr>
          <a:xfrm>
            <a:off x="6543446" y="2245766"/>
            <a:ext cx="263347" cy="263347"/>
          </a:xfrm>
          <a:prstGeom prst="rect">
            <a:avLst/>
          </a:prstGeom>
        </p:spPr>
      </p:pic>
      <p:sp>
        <p:nvSpPr>
          <p:cNvPr id="13" name="Text 9"/>
          <p:cNvSpPr/>
          <p:nvPr/>
        </p:nvSpPr>
        <p:spPr>
          <a:xfrm>
            <a:off x="7068312" y="2112264"/>
            <a:ext cx="4297680" cy="502920"/>
          </a:xfrm>
          <a:prstGeom prst="rect">
            <a:avLst/>
          </a:prstGeom>
          <a:noFill/>
          <a:ln/>
        </p:spPr>
        <p:txBody>
          <a:bodyPr wrap="square" lIns="0" tIns="0" rIns="0" bIns="0" rtlCol="0" anchor="ctr"/>
          <a:lstStyle/>
          <a:p>
            <a:pPr marL="0" indent="0">
              <a:buNone/>
            </a:pPr>
            <a:r>
              <a:rPr lang="en-US" sz="1600" b="1" dirty="0">
                <a:solidFill>
                  <a:srgbClr val="1A2733"/>
                </a:solidFill>
                <a:latin typeface="Cambria" pitchFamily="34" charset="0"/>
                <a:ea typeface="Cambria" pitchFamily="34" charset="-122"/>
                <a:cs typeface="Cambria" pitchFamily="34" charset="-120"/>
              </a:rPr>
              <a:t>What the literature says</a:t>
            </a:r>
            <a:endParaRPr lang="en-US" sz="1600" dirty="0"/>
          </a:p>
        </p:txBody>
      </p:sp>
      <p:sp>
        <p:nvSpPr>
          <p:cNvPr id="14" name="Text 10"/>
          <p:cNvSpPr/>
          <p:nvPr/>
        </p:nvSpPr>
        <p:spPr>
          <a:xfrm>
            <a:off x="6464808" y="2807208"/>
            <a:ext cx="4782312" cy="2971800"/>
          </a:xfrm>
          <a:prstGeom prst="rect">
            <a:avLst/>
          </a:prstGeom>
          <a:noFill/>
          <a:ln/>
        </p:spPr>
        <p:txBody>
          <a:bodyPr wrap="square" lIns="0" tIns="0" rIns="0" bIns="0" rtlCol="0" anchor="t"/>
          <a:lstStyle/>
          <a:p>
            <a:pPr marL="177800" indent="-177800">
              <a:lnSpc>
                <a:spcPct val="103000"/>
              </a:lnSpc>
              <a:buSzPct val="100000"/>
              <a:buChar char="•"/>
            </a:pPr>
            <a:r>
              <a:rPr lang="en-US" sz="1150" b="1" dirty="0">
                <a:solidFill>
                  <a:srgbClr val="0E8C8C"/>
                </a:solidFill>
                <a:latin typeface="Calibri" pitchFamily="34" charset="0"/>
                <a:ea typeface="Calibri" pitchFamily="34" charset="-122"/>
                <a:cs typeface="Calibri" pitchFamily="34" charset="-120"/>
              </a:rPr>
              <a:t>Yao et al., 2024 — </a:t>
            </a:r>
            <a:r>
              <a:rPr lang="en-US" sz="1150" dirty="0">
                <a:solidFill>
                  <a:srgbClr val="5E6E78"/>
                </a:solidFill>
                <a:latin typeface="Calibri" pitchFamily="34" charset="0"/>
                <a:ea typeface="Calibri" pitchFamily="34" charset="-122"/>
                <a:cs typeface="Calibri" pitchFamily="34" charset="-120"/>
              </a:rPr>
              <a:t>Survey of Federated LLMs (FedLLM): FL lets clients co-train LLMs without sharing data, but heterogeneous data hurts convergence and communication costs are high.</a:t>
            </a:r>
            <a:endParaRPr lang="en-US" sz="1150" dirty="0"/>
          </a:p>
          <a:p>
            <a:pPr marL="177800" indent="-177800">
              <a:lnSpc>
                <a:spcPct val="103000"/>
              </a:lnSpc>
              <a:buSzPct val="100000"/>
              <a:buChar char="•"/>
            </a:pPr>
            <a:r>
              <a:rPr lang="en-US" sz="1150" b="1" dirty="0">
                <a:solidFill>
                  <a:srgbClr val="0E8C8C"/>
                </a:solidFill>
                <a:latin typeface="Calibri" pitchFamily="34" charset="0"/>
                <a:ea typeface="Calibri" pitchFamily="34" charset="-122"/>
                <a:cs typeface="Calibri" pitchFamily="34" charset="-120"/>
              </a:rPr>
              <a:t>Cheng et al., 2025 (IEEE COMST) — </a:t>
            </a:r>
            <a:r>
              <a:rPr lang="en-US" sz="1150" dirty="0">
                <a:solidFill>
                  <a:srgbClr val="5E6E78"/>
                </a:solidFill>
                <a:latin typeface="Calibri" pitchFamily="34" charset="0"/>
                <a:ea typeface="Calibri" pitchFamily="34" charset="-122"/>
                <a:cs typeface="Calibri" pitchFamily="34" charset="-120"/>
              </a:rPr>
              <a:t>Review the motivations, methods and future directions for integrating FL with LLMs for privacy-preserving collaborative training.</a:t>
            </a:r>
            <a:endParaRPr lang="en-US" sz="1150" dirty="0"/>
          </a:p>
          <a:p>
            <a:pPr marL="177800" indent="-177800">
              <a:lnSpc>
                <a:spcPct val="103000"/>
              </a:lnSpc>
              <a:buSzPct val="100000"/>
              <a:buChar char="•"/>
            </a:pPr>
            <a:r>
              <a:rPr lang="en-US" sz="1150" b="1" dirty="0">
                <a:solidFill>
                  <a:srgbClr val="0E8C8C"/>
                </a:solidFill>
                <a:latin typeface="Calibri" pitchFamily="34" charset="0"/>
                <a:ea typeface="Calibri" pitchFamily="34" charset="-122"/>
                <a:cs typeface="Calibri" pitchFamily="34" charset="-120"/>
              </a:rPr>
              <a:t>Yan et al.; Wu et al., 2026 (TMLR) — </a:t>
            </a:r>
            <a:r>
              <a:rPr lang="en-US" sz="1150" dirty="0">
                <a:solidFill>
                  <a:srgbClr val="5E6E78"/>
                </a:solidFill>
                <a:latin typeface="Calibri" pitchFamily="34" charset="0"/>
                <a:ea typeface="Calibri" pitchFamily="34" charset="-122"/>
                <a:cs typeface="Calibri" pitchFamily="34" charset="-120"/>
              </a:rPr>
              <a:t>Federated fine-tuning is the practical route: compare FedLLM, KD-FedLLM and Split-FedLLM frameworks using knowledge distillation and split learning to cut communication and compute.</a:t>
            </a:r>
            <a:endParaRPr lang="en-US" sz="1150" dirty="0"/>
          </a:p>
        </p:txBody>
      </p:sp>
      <p:sp>
        <p:nvSpPr>
          <p:cNvPr id="16" name="Shape 11"/>
          <p:cNvSpPr/>
          <p:nvPr/>
        </p:nvSpPr>
        <p:spPr>
          <a:xfrm>
            <a:off x="548640" y="6464808"/>
            <a:ext cx="109728" cy="109728"/>
          </a:xfrm>
          <a:prstGeom prst="ellipse">
            <a:avLst/>
          </a:prstGeom>
          <a:solidFill>
            <a:srgbClr val="0E8C8C"/>
          </a:solidFill>
          <a:ln/>
        </p:spPr>
        <p:txBody>
          <a:bodyPr/>
          <a:lstStyle/>
          <a:p>
            <a:endParaRPr lang="en-QA"/>
          </a:p>
        </p:txBody>
      </p:sp>
      <p:sp>
        <p:nvSpPr>
          <p:cNvPr id="17" name="Text 12"/>
          <p:cNvSpPr/>
          <p:nvPr/>
        </p:nvSpPr>
        <p:spPr>
          <a:xfrm>
            <a:off x="749808" y="6355080"/>
            <a:ext cx="8229600" cy="320040"/>
          </a:xfrm>
          <a:prstGeom prst="rect">
            <a:avLst/>
          </a:prstGeom>
          <a:noFill/>
          <a:ln/>
        </p:spPr>
        <p:txBody>
          <a:bodyPr wrap="square" lIns="0" tIns="0" rIns="0" bIns="0" rtlCol="0" anchor="ctr"/>
          <a:lstStyle/>
          <a:p>
            <a:pPr marL="0" indent="0">
              <a:buNone/>
            </a:pPr>
            <a:r>
              <a:rPr lang="en-US" sz="900" dirty="0">
                <a:solidFill>
                  <a:srgbClr val="5E6E78"/>
                </a:solidFill>
                <a:latin typeface="Calibri" pitchFamily="34" charset="0"/>
                <a:ea typeface="Calibri" pitchFamily="34" charset="-122"/>
                <a:cs typeface="Calibri" pitchFamily="34" charset="-120"/>
              </a:rPr>
              <a:t>AMIA × Federated Learning × LDP  —  Literature &amp; Proposed Study</a:t>
            </a:r>
            <a:endParaRPr lang="en-US" sz="900" dirty="0"/>
          </a:p>
        </p:txBody>
      </p:sp>
      <p:sp>
        <p:nvSpPr>
          <p:cNvPr id="18" name="Text 13"/>
          <p:cNvSpPr/>
          <p:nvPr/>
        </p:nvSpPr>
        <p:spPr>
          <a:xfrm>
            <a:off x="11338560" y="6355080"/>
            <a:ext cx="457200" cy="320040"/>
          </a:xfrm>
          <a:prstGeom prst="rect">
            <a:avLst/>
          </a:prstGeom>
          <a:noFill/>
          <a:ln/>
        </p:spPr>
        <p:txBody>
          <a:bodyPr wrap="square" rtlCol="0" anchor="ctr"/>
          <a:lstStyle/>
          <a:p>
            <a:pPr marL="0" indent="0" algn="r">
              <a:buNone/>
            </a:pPr>
            <a:r>
              <a:rPr lang="en-US" sz="1000" dirty="0">
                <a:solidFill>
                  <a:srgbClr val="5E6E78"/>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5">
    <p:bg>
      <p:bgPr>
        <a:solidFill>
          <a:srgbClr val="0E2A3B"/>
        </a:solidFill>
        <a:effectLst/>
      </p:bgPr>
    </p:bg>
    <p:spTree>
      <p:nvGrpSpPr>
        <p:cNvPr id="1" name=""/>
        <p:cNvGrpSpPr/>
        <p:nvPr/>
      </p:nvGrpSpPr>
      <p:grpSpPr>
        <a:xfrm>
          <a:off x="0" y="0"/>
          <a:ext cx="0" cy="0"/>
          <a:chOff x="0" y="0"/>
          <a:chExt cx="0" cy="0"/>
        </a:xfrm>
      </p:grpSpPr>
      <p:sp>
        <p:nvSpPr>
          <p:cNvPr id="2" name="Shape 0"/>
          <p:cNvSpPr/>
          <p:nvPr/>
        </p:nvSpPr>
        <p:spPr>
          <a:xfrm>
            <a:off x="10149840" y="3429000"/>
            <a:ext cx="0" cy="0"/>
          </a:xfrm>
          <a:prstGeom prst="line">
            <a:avLst/>
          </a:prstGeom>
          <a:noFill/>
          <a:ln w="17780">
            <a:solidFill>
              <a:srgbClr val="3FC6BC">
                <a:alpha val="65000"/>
              </a:srgbClr>
            </a:solidFill>
            <a:prstDash val="solid"/>
          </a:ln>
        </p:spPr>
        <p:txBody>
          <a:bodyPr/>
          <a:lstStyle/>
          <a:p>
            <a:endParaRPr lang="en-QA"/>
          </a:p>
        </p:txBody>
      </p:sp>
      <p:sp>
        <p:nvSpPr>
          <p:cNvPr id="3" name="Shape 1"/>
          <p:cNvSpPr/>
          <p:nvPr/>
        </p:nvSpPr>
        <p:spPr>
          <a:xfrm>
            <a:off x="10149840" y="3429000"/>
            <a:ext cx="1215341" cy="0"/>
          </a:xfrm>
          <a:prstGeom prst="line">
            <a:avLst/>
          </a:prstGeom>
          <a:noFill/>
          <a:ln w="17780">
            <a:solidFill>
              <a:srgbClr val="3FC6BC">
                <a:alpha val="65000"/>
              </a:srgbClr>
            </a:solidFill>
            <a:prstDash val="solid"/>
          </a:ln>
        </p:spPr>
        <p:txBody>
          <a:bodyPr/>
          <a:lstStyle/>
          <a:p>
            <a:endParaRPr lang="en-QA"/>
          </a:p>
        </p:txBody>
      </p:sp>
      <p:sp>
        <p:nvSpPr>
          <p:cNvPr id="4" name="Shape 2"/>
          <p:cNvSpPr/>
          <p:nvPr/>
        </p:nvSpPr>
        <p:spPr>
          <a:xfrm>
            <a:off x="10149840" y="3429000"/>
            <a:ext cx="1515506" cy="345904"/>
          </a:xfrm>
          <a:prstGeom prst="line">
            <a:avLst/>
          </a:prstGeom>
          <a:noFill/>
          <a:ln w="17780">
            <a:solidFill>
              <a:srgbClr val="3FC6BC">
                <a:alpha val="65000"/>
              </a:srgbClr>
            </a:solidFill>
            <a:prstDash val="solid"/>
          </a:ln>
        </p:spPr>
        <p:txBody>
          <a:bodyPr/>
          <a:lstStyle/>
          <a:p>
            <a:endParaRPr lang="en-QA"/>
          </a:p>
        </p:txBody>
      </p:sp>
      <p:sp>
        <p:nvSpPr>
          <p:cNvPr id="5" name="Shape 3"/>
          <p:cNvSpPr/>
          <p:nvPr/>
        </p:nvSpPr>
        <p:spPr>
          <a:xfrm>
            <a:off x="10149840" y="3429000"/>
            <a:ext cx="674464" cy="1400538"/>
          </a:xfrm>
          <a:prstGeom prst="line">
            <a:avLst/>
          </a:prstGeom>
          <a:noFill/>
          <a:ln w="17780">
            <a:solidFill>
              <a:srgbClr val="3FC6BC">
                <a:alpha val="65000"/>
              </a:srgbClr>
            </a:solidFill>
            <a:prstDash val="solid"/>
          </a:ln>
        </p:spPr>
        <p:txBody>
          <a:bodyPr/>
          <a:lstStyle/>
          <a:p>
            <a:endParaRPr lang="en-QA"/>
          </a:p>
        </p:txBody>
      </p:sp>
      <p:sp>
        <p:nvSpPr>
          <p:cNvPr id="6" name="Shape 4"/>
          <p:cNvSpPr/>
          <p:nvPr/>
        </p:nvSpPr>
        <p:spPr>
          <a:xfrm>
            <a:off x="10149840" y="3429000"/>
            <a:ext cx="0" cy="1400538"/>
          </a:xfrm>
          <a:prstGeom prst="line">
            <a:avLst/>
          </a:prstGeom>
          <a:noFill/>
          <a:ln w="17780">
            <a:solidFill>
              <a:srgbClr val="3FC6BC">
                <a:alpha val="65000"/>
              </a:srgbClr>
            </a:solidFill>
            <a:prstDash val="solid"/>
          </a:ln>
        </p:spPr>
        <p:txBody>
          <a:bodyPr/>
          <a:lstStyle/>
          <a:p>
            <a:endParaRPr lang="en-QA"/>
          </a:p>
        </p:txBody>
      </p:sp>
      <p:sp>
        <p:nvSpPr>
          <p:cNvPr id="7" name="Shape 5"/>
          <p:cNvSpPr/>
          <p:nvPr/>
        </p:nvSpPr>
        <p:spPr>
          <a:xfrm>
            <a:off x="10149840" y="3429000"/>
            <a:ext cx="0" cy="345904"/>
          </a:xfrm>
          <a:prstGeom prst="line">
            <a:avLst/>
          </a:prstGeom>
          <a:noFill/>
          <a:ln w="17780">
            <a:solidFill>
              <a:srgbClr val="3FC6BC">
                <a:alpha val="65000"/>
              </a:srgbClr>
            </a:solidFill>
            <a:prstDash val="solid"/>
          </a:ln>
        </p:spPr>
        <p:txBody>
          <a:bodyPr/>
          <a:lstStyle/>
          <a:p>
            <a:endParaRPr lang="en-QA"/>
          </a:p>
        </p:txBody>
      </p:sp>
      <p:sp>
        <p:nvSpPr>
          <p:cNvPr id="8" name="Shape 6"/>
          <p:cNvSpPr/>
          <p:nvPr/>
        </p:nvSpPr>
        <p:spPr>
          <a:xfrm>
            <a:off x="10149840" y="3429000"/>
            <a:ext cx="0" cy="0"/>
          </a:xfrm>
          <a:prstGeom prst="line">
            <a:avLst/>
          </a:prstGeom>
          <a:noFill/>
          <a:ln w="17780">
            <a:solidFill>
              <a:srgbClr val="3FC6BC">
                <a:alpha val="65000"/>
              </a:srgbClr>
            </a:solidFill>
            <a:prstDash val="solid"/>
          </a:ln>
        </p:spPr>
        <p:txBody>
          <a:bodyPr/>
          <a:lstStyle/>
          <a:p>
            <a:endParaRPr lang="en-QA"/>
          </a:p>
        </p:txBody>
      </p:sp>
      <p:sp>
        <p:nvSpPr>
          <p:cNvPr id="9" name="Shape 7"/>
          <p:cNvSpPr/>
          <p:nvPr/>
        </p:nvSpPr>
        <p:spPr>
          <a:xfrm>
            <a:off x="10021824" y="1746504"/>
            <a:ext cx="256032" cy="256032"/>
          </a:xfrm>
          <a:prstGeom prst="ellipse">
            <a:avLst/>
          </a:prstGeom>
          <a:solidFill>
            <a:srgbClr val="3FC6BC"/>
          </a:solidFill>
          <a:ln/>
        </p:spPr>
        <p:txBody>
          <a:bodyPr/>
          <a:lstStyle/>
          <a:p>
            <a:endParaRPr lang="en-QA"/>
          </a:p>
        </p:txBody>
      </p:sp>
      <p:sp>
        <p:nvSpPr>
          <p:cNvPr id="10" name="Shape 8"/>
          <p:cNvSpPr/>
          <p:nvPr/>
        </p:nvSpPr>
        <p:spPr>
          <a:xfrm>
            <a:off x="11237165" y="2331782"/>
            <a:ext cx="256032" cy="256032"/>
          </a:xfrm>
          <a:prstGeom prst="ellipse">
            <a:avLst/>
          </a:prstGeom>
          <a:solidFill>
            <a:srgbClr val="3FC6BC"/>
          </a:solidFill>
          <a:ln/>
        </p:spPr>
        <p:txBody>
          <a:bodyPr/>
          <a:lstStyle/>
          <a:p>
            <a:endParaRPr lang="en-QA"/>
          </a:p>
        </p:txBody>
      </p:sp>
      <p:sp>
        <p:nvSpPr>
          <p:cNvPr id="11" name="Shape 9"/>
          <p:cNvSpPr/>
          <p:nvPr/>
        </p:nvSpPr>
        <p:spPr>
          <a:xfrm>
            <a:off x="11537330" y="3646888"/>
            <a:ext cx="256032" cy="256032"/>
          </a:xfrm>
          <a:prstGeom prst="ellipse">
            <a:avLst/>
          </a:prstGeom>
          <a:solidFill>
            <a:srgbClr val="3FC6BC"/>
          </a:solidFill>
          <a:ln/>
        </p:spPr>
        <p:txBody>
          <a:bodyPr/>
          <a:lstStyle/>
          <a:p>
            <a:endParaRPr lang="en-QA"/>
          </a:p>
        </p:txBody>
      </p:sp>
      <p:sp>
        <p:nvSpPr>
          <p:cNvPr id="12" name="Shape 10"/>
          <p:cNvSpPr/>
          <p:nvPr/>
        </p:nvSpPr>
        <p:spPr>
          <a:xfrm>
            <a:off x="10696288" y="4701522"/>
            <a:ext cx="256032" cy="256032"/>
          </a:xfrm>
          <a:prstGeom prst="ellipse">
            <a:avLst/>
          </a:prstGeom>
          <a:solidFill>
            <a:srgbClr val="3FC6BC"/>
          </a:solidFill>
          <a:ln/>
        </p:spPr>
        <p:txBody>
          <a:bodyPr/>
          <a:lstStyle/>
          <a:p>
            <a:endParaRPr lang="en-QA"/>
          </a:p>
        </p:txBody>
      </p:sp>
      <p:sp>
        <p:nvSpPr>
          <p:cNvPr id="13" name="Shape 11"/>
          <p:cNvSpPr/>
          <p:nvPr/>
        </p:nvSpPr>
        <p:spPr>
          <a:xfrm>
            <a:off x="9347360" y="4701522"/>
            <a:ext cx="256032" cy="256032"/>
          </a:xfrm>
          <a:prstGeom prst="ellipse">
            <a:avLst/>
          </a:prstGeom>
          <a:solidFill>
            <a:srgbClr val="3FC6BC"/>
          </a:solidFill>
          <a:ln/>
        </p:spPr>
        <p:txBody>
          <a:bodyPr/>
          <a:lstStyle/>
          <a:p>
            <a:endParaRPr lang="en-QA"/>
          </a:p>
        </p:txBody>
      </p:sp>
      <p:sp>
        <p:nvSpPr>
          <p:cNvPr id="14" name="Shape 12"/>
          <p:cNvSpPr/>
          <p:nvPr/>
        </p:nvSpPr>
        <p:spPr>
          <a:xfrm>
            <a:off x="8506318" y="3646888"/>
            <a:ext cx="256032" cy="256032"/>
          </a:xfrm>
          <a:prstGeom prst="ellipse">
            <a:avLst/>
          </a:prstGeom>
          <a:solidFill>
            <a:srgbClr val="3FC6BC"/>
          </a:solidFill>
          <a:ln/>
        </p:spPr>
        <p:txBody>
          <a:bodyPr/>
          <a:lstStyle/>
          <a:p>
            <a:endParaRPr lang="en-QA"/>
          </a:p>
        </p:txBody>
      </p:sp>
      <p:sp>
        <p:nvSpPr>
          <p:cNvPr id="15" name="Shape 13"/>
          <p:cNvSpPr/>
          <p:nvPr/>
        </p:nvSpPr>
        <p:spPr>
          <a:xfrm>
            <a:off x="8806483" y="2331782"/>
            <a:ext cx="256032" cy="256032"/>
          </a:xfrm>
          <a:prstGeom prst="ellipse">
            <a:avLst/>
          </a:prstGeom>
          <a:solidFill>
            <a:srgbClr val="3FC6BC"/>
          </a:solidFill>
          <a:ln/>
        </p:spPr>
        <p:txBody>
          <a:bodyPr/>
          <a:lstStyle/>
          <a:p>
            <a:endParaRPr lang="en-QA"/>
          </a:p>
        </p:txBody>
      </p:sp>
      <p:sp>
        <p:nvSpPr>
          <p:cNvPr id="16" name="Shape 14"/>
          <p:cNvSpPr/>
          <p:nvPr/>
        </p:nvSpPr>
        <p:spPr>
          <a:xfrm>
            <a:off x="9902952" y="3182112"/>
            <a:ext cx="493776" cy="493776"/>
          </a:xfrm>
          <a:prstGeom prst="ellipse">
            <a:avLst/>
          </a:prstGeom>
          <a:solidFill>
            <a:srgbClr val="E8A04C"/>
          </a:solidFill>
          <a:ln/>
          <a:effectLst>
            <a:outerShdw blurRad="88900" dist="38100" dir="5400000" algn="bl" rotWithShape="0">
              <a:srgbClr val="000000">
                <a:alpha val="16000"/>
              </a:srgbClr>
            </a:outerShdw>
          </a:effectLst>
        </p:spPr>
        <p:txBody>
          <a:bodyPr/>
          <a:lstStyle/>
          <a:p>
            <a:endParaRPr lang="en-QA"/>
          </a:p>
        </p:txBody>
      </p:sp>
      <p:sp>
        <p:nvSpPr>
          <p:cNvPr id="17" name="Text 15"/>
          <p:cNvSpPr/>
          <p:nvPr/>
        </p:nvSpPr>
        <p:spPr>
          <a:xfrm>
            <a:off x="731520" y="2286000"/>
            <a:ext cx="5486400" cy="457200"/>
          </a:xfrm>
          <a:prstGeom prst="rect">
            <a:avLst/>
          </a:prstGeom>
          <a:noFill/>
          <a:ln/>
        </p:spPr>
        <p:txBody>
          <a:bodyPr wrap="square" lIns="0" tIns="0" rIns="0" bIns="0" rtlCol="0" anchor="ctr"/>
          <a:lstStyle/>
          <a:p>
            <a:pPr marL="0" indent="0">
              <a:buNone/>
            </a:pPr>
            <a:r>
              <a:rPr lang="en-US" sz="1500" b="1" kern="0" spc="300" dirty="0">
                <a:solidFill>
                  <a:srgbClr val="3FC6BC"/>
                </a:solidFill>
                <a:latin typeface="Calibri" pitchFamily="34" charset="0"/>
                <a:ea typeface="Calibri" pitchFamily="34" charset="-122"/>
                <a:cs typeface="Calibri" pitchFamily="34" charset="-120"/>
              </a:rPr>
              <a:t>SECTION 3</a:t>
            </a:r>
            <a:endParaRPr lang="en-US" sz="1500" dirty="0"/>
          </a:p>
        </p:txBody>
      </p:sp>
      <p:sp>
        <p:nvSpPr>
          <p:cNvPr id="18" name="Text 16"/>
          <p:cNvSpPr/>
          <p:nvPr/>
        </p:nvSpPr>
        <p:spPr>
          <a:xfrm>
            <a:off x="731520" y="2743200"/>
            <a:ext cx="7863840" cy="1463040"/>
          </a:xfrm>
          <a:prstGeom prst="rect">
            <a:avLst/>
          </a:prstGeom>
          <a:noFill/>
          <a:ln/>
        </p:spPr>
        <p:txBody>
          <a:bodyPr wrap="square" lIns="0" tIns="0" rIns="0" bIns="0" rtlCol="0" anchor="ctr"/>
          <a:lstStyle/>
          <a:p>
            <a:pPr marL="0" indent="0">
              <a:lnSpc>
                <a:spcPct val="100000"/>
              </a:lnSpc>
              <a:buNone/>
            </a:pPr>
            <a:r>
              <a:rPr lang="en-US" sz="4000" b="1" dirty="0">
                <a:solidFill>
                  <a:srgbClr val="FFFFFF"/>
                </a:solidFill>
                <a:latin typeface="Cambria" pitchFamily="34" charset="0"/>
                <a:ea typeface="Cambria" pitchFamily="34" charset="-122"/>
                <a:cs typeface="Cambria" pitchFamily="34" charset="-120"/>
              </a:rPr>
              <a:t>Proposed Experimental Setup</a:t>
            </a:r>
            <a:endParaRPr lang="en-US" sz="4000" dirty="0"/>
          </a:p>
        </p:txBody>
      </p:sp>
      <p:sp>
        <p:nvSpPr>
          <p:cNvPr id="19" name="Text 17"/>
          <p:cNvSpPr/>
          <p:nvPr/>
        </p:nvSpPr>
        <p:spPr>
          <a:xfrm>
            <a:off x="749808" y="4160520"/>
            <a:ext cx="7498080" cy="914400"/>
          </a:xfrm>
          <a:prstGeom prst="rect">
            <a:avLst/>
          </a:prstGeom>
          <a:noFill/>
          <a:ln/>
        </p:spPr>
        <p:txBody>
          <a:bodyPr wrap="square" lIns="0" tIns="0" rIns="0" bIns="0" rtlCol="0" anchor="ctr"/>
          <a:lstStyle/>
          <a:p>
            <a:pPr marL="0" indent="0">
              <a:lnSpc>
                <a:spcPct val="105000"/>
              </a:lnSpc>
              <a:buNone/>
            </a:pPr>
            <a:r>
              <a:rPr lang="en-US" sz="1500" dirty="0">
                <a:solidFill>
                  <a:srgbClr val="C5D3D8"/>
                </a:solidFill>
                <a:latin typeface="Calibri" pitchFamily="34" charset="0"/>
                <a:ea typeface="Calibri" pitchFamily="34" charset="-122"/>
                <a:cs typeface="Calibri" pitchFamily="34" charset="-120"/>
              </a:rPr>
              <a:t>Testing AMIA accuracy when the target LLM is trained via federated learning — methodology only, no results yet.</a:t>
            </a:r>
            <a:endParaRPr lang="en-US" sz="1500" dirty="0"/>
          </a:p>
        </p:txBody>
      </p:sp>
      <p:sp>
        <p:nvSpPr>
          <p:cNvPr id="20" name="Shape 18"/>
          <p:cNvSpPr/>
          <p:nvPr/>
        </p:nvSpPr>
        <p:spPr>
          <a:xfrm>
            <a:off x="731520" y="1371600"/>
            <a:ext cx="731520" cy="731520"/>
          </a:xfrm>
          <a:prstGeom prst="ellipse">
            <a:avLst/>
          </a:prstGeom>
          <a:solidFill>
            <a:srgbClr val="0E8C8C"/>
          </a:solidFill>
          <a:ln/>
          <a:effectLst>
            <a:outerShdw blurRad="88900" dist="38100" dir="5400000" algn="bl" rotWithShape="0">
              <a:srgbClr val="000000">
                <a:alpha val="16000"/>
              </a:srgbClr>
            </a:outerShdw>
          </a:effectLst>
        </p:spPr>
        <p:txBody>
          <a:bodyPr/>
          <a:lstStyle/>
          <a:p>
            <a:endParaRPr lang="en-QA"/>
          </a:p>
        </p:txBody>
      </p:sp>
      <p:pic>
        <p:nvPicPr>
          <p:cNvPr id="21" name="Image 0" descr="preencoded.png"/>
          <p:cNvPicPr>
            <a:picLocks noChangeAspect="1"/>
          </p:cNvPicPr>
          <p:nvPr/>
        </p:nvPicPr>
        <p:blipFill>
          <a:blip r:embed="rId3"/>
          <a:stretch>
            <a:fillRect/>
          </a:stretch>
        </p:blipFill>
        <p:spPr>
          <a:xfrm>
            <a:off x="921715" y="1561795"/>
            <a:ext cx="351130" cy="351130"/>
          </a:xfrm>
          <a:prstGeom prst="rect">
            <a:avLst/>
          </a:prstGeom>
        </p:spPr>
      </p:pic>
      <p:sp>
        <p:nvSpPr>
          <p:cNvPr id="23" name="Shape 19"/>
          <p:cNvSpPr/>
          <p:nvPr/>
        </p:nvSpPr>
        <p:spPr>
          <a:xfrm>
            <a:off x="548640" y="6464808"/>
            <a:ext cx="109728" cy="109728"/>
          </a:xfrm>
          <a:prstGeom prst="ellipse">
            <a:avLst/>
          </a:prstGeom>
          <a:solidFill>
            <a:srgbClr val="0E8C8C"/>
          </a:solidFill>
          <a:ln/>
        </p:spPr>
        <p:txBody>
          <a:bodyPr/>
          <a:lstStyle/>
          <a:p>
            <a:endParaRPr lang="en-QA"/>
          </a:p>
        </p:txBody>
      </p:sp>
      <p:sp>
        <p:nvSpPr>
          <p:cNvPr id="24" name="Text 20"/>
          <p:cNvSpPr/>
          <p:nvPr/>
        </p:nvSpPr>
        <p:spPr>
          <a:xfrm>
            <a:off x="749808" y="6355080"/>
            <a:ext cx="8229600" cy="320040"/>
          </a:xfrm>
          <a:prstGeom prst="rect">
            <a:avLst/>
          </a:prstGeom>
          <a:noFill/>
          <a:ln/>
        </p:spPr>
        <p:txBody>
          <a:bodyPr wrap="square" lIns="0" tIns="0" rIns="0" bIns="0" rtlCol="0" anchor="ctr"/>
          <a:lstStyle/>
          <a:p>
            <a:pPr marL="0" indent="0">
              <a:buNone/>
            </a:pPr>
            <a:r>
              <a:rPr lang="en-US" sz="900" dirty="0">
                <a:solidFill>
                  <a:srgbClr val="5E6E78"/>
                </a:solidFill>
                <a:latin typeface="Calibri" pitchFamily="34" charset="0"/>
                <a:ea typeface="Calibri" pitchFamily="34" charset="-122"/>
                <a:cs typeface="Calibri" pitchFamily="34" charset="-120"/>
              </a:rPr>
              <a:t>AMIA × Federated Learning × LDP  —  Literature &amp; Proposed Study</a:t>
            </a:r>
            <a:endParaRPr lang="en-US" sz="900" dirty="0"/>
          </a:p>
        </p:txBody>
      </p:sp>
      <p:sp>
        <p:nvSpPr>
          <p:cNvPr id="25" name="Text 21"/>
          <p:cNvSpPr/>
          <p:nvPr/>
        </p:nvSpPr>
        <p:spPr>
          <a:xfrm>
            <a:off x="11338560" y="6355080"/>
            <a:ext cx="457200" cy="320040"/>
          </a:xfrm>
          <a:prstGeom prst="rect">
            <a:avLst/>
          </a:prstGeom>
          <a:noFill/>
          <a:ln/>
        </p:spPr>
        <p:txBody>
          <a:bodyPr wrap="square" rtlCol="0" anchor="ctr"/>
          <a:lstStyle/>
          <a:p>
            <a:pPr marL="0" indent="0" algn="r">
              <a:buNone/>
            </a:pPr>
            <a:r>
              <a:rPr lang="en-US" sz="1000" dirty="0">
                <a:solidFill>
                  <a:srgbClr val="5E6E78"/>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566928"/>
            <a:ext cx="128016" cy="128016"/>
          </a:xfrm>
          <a:prstGeom prst="ellipse">
            <a:avLst/>
          </a:prstGeom>
          <a:solidFill>
            <a:srgbClr val="0E8C8C"/>
          </a:solidFill>
          <a:ln/>
        </p:spPr>
        <p:txBody>
          <a:bodyPr/>
          <a:lstStyle/>
          <a:p>
            <a:endParaRPr lang="en-QA"/>
          </a:p>
        </p:txBody>
      </p:sp>
      <p:sp>
        <p:nvSpPr>
          <p:cNvPr id="3" name="Text 1"/>
          <p:cNvSpPr/>
          <p:nvPr/>
        </p:nvSpPr>
        <p:spPr>
          <a:xfrm>
            <a:off x="777240" y="457200"/>
            <a:ext cx="10515600" cy="320040"/>
          </a:xfrm>
          <a:prstGeom prst="rect">
            <a:avLst/>
          </a:prstGeom>
          <a:noFill/>
          <a:ln/>
        </p:spPr>
        <p:txBody>
          <a:bodyPr wrap="square" lIns="0" tIns="0" rIns="0" bIns="0" rtlCol="0" anchor="ctr"/>
          <a:lstStyle/>
          <a:p>
            <a:pPr marL="0" indent="0">
              <a:buNone/>
            </a:pPr>
            <a:r>
              <a:rPr lang="en-US" sz="1200" b="1" kern="0" spc="200" dirty="0">
                <a:solidFill>
                  <a:srgbClr val="0E8C8C"/>
                </a:solidFill>
                <a:latin typeface="Calibri" pitchFamily="34" charset="0"/>
                <a:ea typeface="Calibri" pitchFamily="34" charset="-122"/>
                <a:cs typeface="Calibri" pitchFamily="34" charset="-120"/>
              </a:rPr>
              <a:t>SECTION 3 · PIPELINE</a:t>
            </a:r>
            <a:endParaRPr lang="en-US" sz="1200" dirty="0"/>
          </a:p>
        </p:txBody>
      </p:sp>
      <p:sp>
        <p:nvSpPr>
          <p:cNvPr id="4" name="Text 2"/>
          <p:cNvSpPr/>
          <p:nvPr/>
        </p:nvSpPr>
        <p:spPr>
          <a:xfrm>
            <a:off x="548640" y="768096"/>
            <a:ext cx="11064240" cy="868680"/>
          </a:xfrm>
          <a:prstGeom prst="rect">
            <a:avLst/>
          </a:prstGeom>
          <a:noFill/>
          <a:ln/>
        </p:spPr>
        <p:txBody>
          <a:bodyPr wrap="square" lIns="0" tIns="0" rIns="0" bIns="0" rtlCol="0" anchor="ctr"/>
          <a:lstStyle/>
          <a:p>
            <a:pPr marL="0" indent="0">
              <a:buNone/>
            </a:pPr>
            <a:r>
              <a:rPr lang="en-US" sz="3000" b="1" dirty="0">
                <a:solidFill>
                  <a:srgbClr val="1A2733"/>
                </a:solidFill>
                <a:latin typeface="Cambria" pitchFamily="34" charset="0"/>
                <a:ea typeface="Cambria" pitchFamily="34" charset="-122"/>
                <a:cs typeface="Cambria" pitchFamily="34" charset="-120"/>
              </a:rPr>
              <a:t>The experiment end to end (six stages)</a:t>
            </a:r>
            <a:endParaRPr lang="en-US" sz="3000" dirty="0"/>
          </a:p>
        </p:txBody>
      </p:sp>
      <p:sp>
        <p:nvSpPr>
          <p:cNvPr id="5" name="Shape 3"/>
          <p:cNvSpPr/>
          <p:nvPr/>
        </p:nvSpPr>
        <p:spPr>
          <a:xfrm>
            <a:off x="566928" y="2194560"/>
            <a:ext cx="1755648" cy="2377440"/>
          </a:xfrm>
          <a:prstGeom prst="roundRect">
            <a:avLst>
              <a:gd name="adj" fmla="val 4167"/>
            </a:avLst>
          </a:prstGeom>
          <a:solidFill>
            <a:srgbClr val="EAF2F3"/>
          </a:solidFill>
          <a:ln/>
          <a:effectLst>
            <a:outerShdw blurRad="88900" dist="38100" dir="5400000" algn="bl" rotWithShape="0">
              <a:srgbClr val="000000">
                <a:alpha val="16000"/>
              </a:srgbClr>
            </a:outerShdw>
          </a:effectLst>
        </p:spPr>
        <p:txBody>
          <a:bodyPr/>
          <a:lstStyle/>
          <a:p>
            <a:endParaRPr lang="en-QA"/>
          </a:p>
        </p:txBody>
      </p:sp>
      <p:sp>
        <p:nvSpPr>
          <p:cNvPr id="6" name="Shape 4"/>
          <p:cNvSpPr/>
          <p:nvPr/>
        </p:nvSpPr>
        <p:spPr>
          <a:xfrm>
            <a:off x="1143000" y="2468880"/>
            <a:ext cx="603504" cy="603504"/>
          </a:xfrm>
          <a:prstGeom prst="ellipse">
            <a:avLst/>
          </a:prstGeom>
          <a:solidFill>
            <a:srgbClr val="0E8C8C"/>
          </a:solidFill>
          <a:ln/>
          <a:effectLst>
            <a:outerShdw blurRad="88900" dist="38100" dir="5400000" algn="bl" rotWithShape="0">
              <a:srgbClr val="000000">
                <a:alpha val="16000"/>
              </a:srgbClr>
            </a:outerShdw>
          </a:effectLst>
        </p:spPr>
        <p:txBody>
          <a:bodyPr/>
          <a:lstStyle/>
          <a:p>
            <a:endParaRPr lang="en-QA"/>
          </a:p>
        </p:txBody>
      </p:sp>
      <p:pic>
        <p:nvPicPr>
          <p:cNvPr id="7" name="Image 0" descr="preencoded.png"/>
          <p:cNvPicPr>
            <a:picLocks noChangeAspect="1"/>
          </p:cNvPicPr>
          <p:nvPr/>
        </p:nvPicPr>
        <p:blipFill>
          <a:blip r:embed="rId3"/>
          <a:stretch>
            <a:fillRect/>
          </a:stretch>
        </p:blipFill>
        <p:spPr>
          <a:xfrm>
            <a:off x="1299911" y="2625791"/>
            <a:ext cx="289682" cy="289682"/>
          </a:xfrm>
          <a:prstGeom prst="rect">
            <a:avLst/>
          </a:prstGeom>
        </p:spPr>
      </p:pic>
      <p:sp>
        <p:nvSpPr>
          <p:cNvPr id="8" name="Text 5"/>
          <p:cNvSpPr/>
          <p:nvPr/>
        </p:nvSpPr>
        <p:spPr>
          <a:xfrm>
            <a:off x="676656" y="2304288"/>
            <a:ext cx="365760" cy="365760"/>
          </a:xfrm>
          <a:prstGeom prst="rect">
            <a:avLst/>
          </a:prstGeom>
          <a:noFill/>
          <a:ln/>
        </p:spPr>
        <p:txBody>
          <a:bodyPr wrap="square" lIns="0" tIns="0" rIns="0" bIns="0" rtlCol="0" anchor="ctr"/>
          <a:lstStyle/>
          <a:p>
            <a:pPr marL="0" indent="0">
              <a:buNone/>
            </a:pPr>
            <a:r>
              <a:rPr lang="en-US" sz="1600" b="1" dirty="0">
                <a:solidFill>
                  <a:srgbClr val="E8A04C"/>
                </a:solidFill>
                <a:latin typeface="Cambria" pitchFamily="34" charset="0"/>
                <a:ea typeface="Cambria" pitchFamily="34" charset="-122"/>
                <a:cs typeface="Cambria" pitchFamily="34" charset="-120"/>
              </a:rPr>
              <a:t>1</a:t>
            </a:r>
            <a:endParaRPr lang="en-US" sz="1600" dirty="0"/>
          </a:p>
        </p:txBody>
      </p:sp>
      <p:sp>
        <p:nvSpPr>
          <p:cNvPr id="9" name="Text 6"/>
          <p:cNvSpPr/>
          <p:nvPr/>
        </p:nvSpPr>
        <p:spPr>
          <a:xfrm>
            <a:off x="658368" y="3182112"/>
            <a:ext cx="1572768" cy="411480"/>
          </a:xfrm>
          <a:prstGeom prst="rect">
            <a:avLst/>
          </a:prstGeom>
          <a:noFill/>
          <a:ln/>
        </p:spPr>
        <p:txBody>
          <a:bodyPr wrap="square" lIns="0" tIns="0" rIns="0" bIns="0" rtlCol="0" anchor="ctr"/>
          <a:lstStyle/>
          <a:p>
            <a:pPr marL="0" indent="0" algn="ctr">
              <a:buNone/>
            </a:pPr>
            <a:r>
              <a:rPr lang="en-US" sz="1400" b="1" dirty="0">
                <a:solidFill>
                  <a:srgbClr val="1A2733"/>
                </a:solidFill>
                <a:latin typeface="Cambria" pitchFamily="34" charset="0"/>
                <a:ea typeface="Cambria" pitchFamily="34" charset="-122"/>
                <a:cs typeface="Cambria" pitchFamily="34" charset="-120"/>
              </a:rPr>
              <a:t>Baseline</a:t>
            </a:r>
            <a:endParaRPr lang="en-US" sz="1400" dirty="0"/>
          </a:p>
        </p:txBody>
      </p:sp>
      <p:sp>
        <p:nvSpPr>
          <p:cNvPr id="10" name="Text 7"/>
          <p:cNvSpPr/>
          <p:nvPr/>
        </p:nvSpPr>
        <p:spPr>
          <a:xfrm>
            <a:off x="685800" y="3584448"/>
            <a:ext cx="1517904" cy="868680"/>
          </a:xfrm>
          <a:prstGeom prst="rect">
            <a:avLst/>
          </a:prstGeom>
          <a:noFill/>
          <a:ln/>
        </p:spPr>
        <p:txBody>
          <a:bodyPr wrap="square" lIns="0" tIns="0" rIns="0" bIns="0" rtlCol="0" anchor="ctr"/>
          <a:lstStyle/>
          <a:p>
            <a:pPr marL="0" indent="0" algn="ctr">
              <a:lnSpc>
                <a:spcPct val="103000"/>
              </a:lnSpc>
              <a:buNone/>
            </a:pPr>
            <a:r>
              <a:rPr lang="en-US" sz="1050" dirty="0">
                <a:solidFill>
                  <a:srgbClr val="5E6E78"/>
                </a:solidFill>
                <a:latin typeface="Calibri" pitchFamily="34" charset="0"/>
                <a:ea typeface="Calibri" pitchFamily="34" charset="-122"/>
                <a:cs typeface="Calibri" pitchFamily="34" charset="-120"/>
              </a:rPr>
              <a:t>Download &amp; run trucndt/ami code</a:t>
            </a:r>
            <a:endParaRPr lang="en-US" sz="1050" dirty="0"/>
          </a:p>
        </p:txBody>
      </p:sp>
      <p:sp>
        <p:nvSpPr>
          <p:cNvPr id="11" name="Shape 8"/>
          <p:cNvSpPr/>
          <p:nvPr/>
        </p:nvSpPr>
        <p:spPr>
          <a:xfrm>
            <a:off x="2340864" y="3246120"/>
            <a:ext cx="146304" cy="274320"/>
          </a:xfrm>
          <a:prstGeom prst="rtTriangle">
            <a:avLst/>
          </a:prstGeom>
          <a:solidFill>
            <a:srgbClr val="E8A04C"/>
          </a:solidFill>
          <a:ln/>
        </p:spPr>
        <p:txBody>
          <a:bodyPr/>
          <a:lstStyle/>
          <a:p>
            <a:endParaRPr lang="en-QA"/>
          </a:p>
        </p:txBody>
      </p:sp>
      <p:sp>
        <p:nvSpPr>
          <p:cNvPr id="12" name="Shape 9"/>
          <p:cNvSpPr/>
          <p:nvPr/>
        </p:nvSpPr>
        <p:spPr>
          <a:xfrm>
            <a:off x="2523744" y="2194560"/>
            <a:ext cx="1755648" cy="2377440"/>
          </a:xfrm>
          <a:prstGeom prst="roundRect">
            <a:avLst>
              <a:gd name="adj" fmla="val 4167"/>
            </a:avLst>
          </a:prstGeom>
          <a:solidFill>
            <a:srgbClr val="EAF2F3"/>
          </a:solidFill>
          <a:ln/>
          <a:effectLst>
            <a:outerShdw blurRad="88900" dist="38100" dir="5400000" algn="bl" rotWithShape="0">
              <a:srgbClr val="000000">
                <a:alpha val="16000"/>
              </a:srgbClr>
            </a:outerShdw>
          </a:effectLst>
        </p:spPr>
        <p:txBody>
          <a:bodyPr/>
          <a:lstStyle/>
          <a:p>
            <a:endParaRPr lang="en-QA"/>
          </a:p>
        </p:txBody>
      </p:sp>
      <p:sp>
        <p:nvSpPr>
          <p:cNvPr id="13" name="Shape 10"/>
          <p:cNvSpPr/>
          <p:nvPr/>
        </p:nvSpPr>
        <p:spPr>
          <a:xfrm>
            <a:off x="3099816" y="2468880"/>
            <a:ext cx="603504" cy="603504"/>
          </a:xfrm>
          <a:prstGeom prst="ellipse">
            <a:avLst/>
          </a:prstGeom>
          <a:solidFill>
            <a:srgbClr val="0E8C8C"/>
          </a:solidFill>
          <a:ln/>
          <a:effectLst>
            <a:outerShdw blurRad="88900" dist="38100" dir="5400000" algn="bl" rotWithShape="0">
              <a:srgbClr val="000000">
                <a:alpha val="16000"/>
              </a:srgbClr>
            </a:outerShdw>
          </a:effectLst>
        </p:spPr>
        <p:txBody>
          <a:bodyPr/>
          <a:lstStyle/>
          <a:p>
            <a:endParaRPr lang="en-QA"/>
          </a:p>
        </p:txBody>
      </p:sp>
      <p:pic>
        <p:nvPicPr>
          <p:cNvPr id="14" name="Image 1" descr="preencoded.png"/>
          <p:cNvPicPr>
            <a:picLocks noChangeAspect="1"/>
          </p:cNvPicPr>
          <p:nvPr/>
        </p:nvPicPr>
        <p:blipFill>
          <a:blip r:embed="rId4"/>
          <a:stretch>
            <a:fillRect/>
          </a:stretch>
        </p:blipFill>
        <p:spPr>
          <a:xfrm>
            <a:off x="3256727" y="2625791"/>
            <a:ext cx="289682" cy="289682"/>
          </a:xfrm>
          <a:prstGeom prst="rect">
            <a:avLst/>
          </a:prstGeom>
        </p:spPr>
      </p:pic>
      <p:sp>
        <p:nvSpPr>
          <p:cNvPr id="15" name="Text 11"/>
          <p:cNvSpPr/>
          <p:nvPr/>
        </p:nvSpPr>
        <p:spPr>
          <a:xfrm>
            <a:off x="2633472" y="2304288"/>
            <a:ext cx="365760" cy="365760"/>
          </a:xfrm>
          <a:prstGeom prst="rect">
            <a:avLst/>
          </a:prstGeom>
          <a:noFill/>
          <a:ln/>
        </p:spPr>
        <p:txBody>
          <a:bodyPr wrap="square" lIns="0" tIns="0" rIns="0" bIns="0" rtlCol="0" anchor="ctr"/>
          <a:lstStyle/>
          <a:p>
            <a:pPr marL="0" indent="0">
              <a:buNone/>
            </a:pPr>
            <a:r>
              <a:rPr lang="en-US" sz="1600" b="1" dirty="0">
                <a:solidFill>
                  <a:srgbClr val="E8A04C"/>
                </a:solidFill>
                <a:latin typeface="Cambria" pitchFamily="34" charset="0"/>
                <a:ea typeface="Cambria" pitchFamily="34" charset="-122"/>
                <a:cs typeface="Cambria" pitchFamily="34" charset="-120"/>
              </a:rPr>
              <a:t>2</a:t>
            </a:r>
            <a:endParaRPr lang="en-US" sz="1600" dirty="0"/>
          </a:p>
        </p:txBody>
      </p:sp>
      <p:sp>
        <p:nvSpPr>
          <p:cNvPr id="16" name="Text 12"/>
          <p:cNvSpPr/>
          <p:nvPr/>
        </p:nvSpPr>
        <p:spPr>
          <a:xfrm>
            <a:off x="2615184" y="3182112"/>
            <a:ext cx="1572768" cy="411480"/>
          </a:xfrm>
          <a:prstGeom prst="rect">
            <a:avLst/>
          </a:prstGeom>
          <a:noFill/>
          <a:ln/>
        </p:spPr>
        <p:txBody>
          <a:bodyPr wrap="square" lIns="0" tIns="0" rIns="0" bIns="0" rtlCol="0" anchor="ctr"/>
          <a:lstStyle/>
          <a:p>
            <a:pPr marL="0" indent="0" algn="ctr">
              <a:buNone/>
            </a:pPr>
            <a:r>
              <a:rPr lang="en-US" sz="1400" b="1" dirty="0">
                <a:solidFill>
                  <a:srgbClr val="1A2733"/>
                </a:solidFill>
                <a:latin typeface="Cambria" pitchFamily="34" charset="0"/>
                <a:ea typeface="Cambria" pitchFamily="34" charset="-122"/>
                <a:cs typeface="Cambria" pitchFamily="34" charset="-120"/>
              </a:rPr>
              <a:t>Vary factors</a:t>
            </a:r>
            <a:endParaRPr lang="en-US" sz="1400" dirty="0"/>
          </a:p>
        </p:txBody>
      </p:sp>
      <p:sp>
        <p:nvSpPr>
          <p:cNvPr id="17" name="Text 13"/>
          <p:cNvSpPr/>
          <p:nvPr/>
        </p:nvSpPr>
        <p:spPr>
          <a:xfrm>
            <a:off x="2642616" y="3584448"/>
            <a:ext cx="1517904" cy="868680"/>
          </a:xfrm>
          <a:prstGeom prst="rect">
            <a:avLst/>
          </a:prstGeom>
          <a:noFill/>
          <a:ln/>
        </p:spPr>
        <p:txBody>
          <a:bodyPr wrap="square" lIns="0" tIns="0" rIns="0" bIns="0" rtlCol="0" anchor="ctr"/>
          <a:lstStyle/>
          <a:p>
            <a:pPr marL="0" indent="0" algn="ctr">
              <a:lnSpc>
                <a:spcPct val="103000"/>
              </a:lnSpc>
              <a:buNone/>
            </a:pPr>
            <a:r>
              <a:rPr lang="en-US" sz="1050" dirty="0">
                <a:solidFill>
                  <a:srgbClr val="5E6E78"/>
                </a:solidFill>
                <a:latin typeface="Calibri" pitchFamily="34" charset="0"/>
                <a:ea typeface="Calibri" pitchFamily="34" charset="-122"/>
                <a:cs typeface="Calibri" pitchFamily="34" charset="-120"/>
              </a:rPr>
              <a:t>Change controlled variables one at a time</a:t>
            </a:r>
            <a:endParaRPr lang="en-US" sz="1050" dirty="0"/>
          </a:p>
        </p:txBody>
      </p:sp>
      <p:sp>
        <p:nvSpPr>
          <p:cNvPr id="18" name="Shape 14"/>
          <p:cNvSpPr/>
          <p:nvPr/>
        </p:nvSpPr>
        <p:spPr>
          <a:xfrm>
            <a:off x="4297680" y="3246120"/>
            <a:ext cx="146304" cy="274320"/>
          </a:xfrm>
          <a:prstGeom prst="rtTriangle">
            <a:avLst/>
          </a:prstGeom>
          <a:solidFill>
            <a:srgbClr val="E8A04C"/>
          </a:solidFill>
          <a:ln/>
        </p:spPr>
        <p:txBody>
          <a:bodyPr/>
          <a:lstStyle/>
          <a:p>
            <a:endParaRPr lang="en-QA"/>
          </a:p>
        </p:txBody>
      </p:sp>
      <p:sp>
        <p:nvSpPr>
          <p:cNvPr id="19" name="Shape 15"/>
          <p:cNvSpPr/>
          <p:nvPr/>
        </p:nvSpPr>
        <p:spPr>
          <a:xfrm>
            <a:off x="4480560" y="2194560"/>
            <a:ext cx="1755648" cy="2377440"/>
          </a:xfrm>
          <a:prstGeom prst="roundRect">
            <a:avLst>
              <a:gd name="adj" fmla="val 4167"/>
            </a:avLst>
          </a:prstGeom>
          <a:solidFill>
            <a:srgbClr val="EAF2F3"/>
          </a:solidFill>
          <a:ln/>
          <a:effectLst>
            <a:outerShdw blurRad="88900" dist="38100" dir="5400000" algn="bl" rotWithShape="0">
              <a:srgbClr val="000000">
                <a:alpha val="16000"/>
              </a:srgbClr>
            </a:outerShdw>
          </a:effectLst>
        </p:spPr>
        <p:txBody>
          <a:bodyPr/>
          <a:lstStyle/>
          <a:p>
            <a:endParaRPr lang="en-QA"/>
          </a:p>
        </p:txBody>
      </p:sp>
      <p:sp>
        <p:nvSpPr>
          <p:cNvPr id="20" name="Shape 16"/>
          <p:cNvSpPr/>
          <p:nvPr/>
        </p:nvSpPr>
        <p:spPr>
          <a:xfrm>
            <a:off x="5056632" y="2468880"/>
            <a:ext cx="603504" cy="603504"/>
          </a:xfrm>
          <a:prstGeom prst="ellipse">
            <a:avLst/>
          </a:prstGeom>
          <a:solidFill>
            <a:srgbClr val="0E8C8C"/>
          </a:solidFill>
          <a:ln/>
          <a:effectLst>
            <a:outerShdw blurRad="88900" dist="38100" dir="5400000" algn="bl" rotWithShape="0">
              <a:srgbClr val="000000">
                <a:alpha val="16000"/>
              </a:srgbClr>
            </a:outerShdw>
          </a:effectLst>
        </p:spPr>
        <p:txBody>
          <a:bodyPr/>
          <a:lstStyle/>
          <a:p>
            <a:endParaRPr lang="en-QA"/>
          </a:p>
        </p:txBody>
      </p:sp>
      <p:pic>
        <p:nvPicPr>
          <p:cNvPr id="21" name="Image 2" descr="preencoded.png"/>
          <p:cNvPicPr>
            <a:picLocks noChangeAspect="1"/>
          </p:cNvPicPr>
          <p:nvPr/>
        </p:nvPicPr>
        <p:blipFill>
          <a:blip r:embed="rId5"/>
          <a:stretch>
            <a:fillRect/>
          </a:stretch>
        </p:blipFill>
        <p:spPr>
          <a:xfrm>
            <a:off x="5213543" y="2625791"/>
            <a:ext cx="289682" cy="289682"/>
          </a:xfrm>
          <a:prstGeom prst="rect">
            <a:avLst/>
          </a:prstGeom>
        </p:spPr>
      </p:pic>
      <p:sp>
        <p:nvSpPr>
          <p:cNvPr id="22" name="Text 17"/>
          <p:cNvSpPr/>
          <p:nvPr/>
        </p:nvSpPr>
        <p:spPr>
          <a:xfrm>
            <a:off x="4590288" y="2304288"/>
            <a:ext cx="365760" cy="365760"/>
          </a:xfrm>
          <a:prstGeom prst="rect">
            <a:avLst/>
          </a:prstGeom>
          <a:noFill/>
          <a:ln/>
        </p:spPr>
        <p:txBody>
          <a:bodyPr wrap="square" lIns="0" tIns="0" rIns="0" bIns="0" rtlCol="0" anchor="ctr"/>
          <a:lstStyle/>
          <a:p>
            <a:pPr marL="0" indent="0">
              <a:buNone/>
            </a:pPr>
            <a:r>
              <a:rPr lang="en-US" sz="1600" b="1" dirty="0">
                <a:solidFill>
                  <a:srgbClr val="E8A04C"/>
                </a:solidFill>
                <a:latin typeface="Cambria" pitchFamily="34" charset="0"/>
                <a:ea typeface="Cambria" pitchFamily="34" charset="-122"/>
                <a:cs typeface="Cambria" pitchFamily="34" charset="-120"/>
              </a:rPr>
              <a:t>3</a:t>
            </a:r>
            <a:endParaRPr lang="en-US" sz="1600" dirty="0"/>
          </a:p>
        </p:txBody>
      </p:sp>
      <p:sp>
        <p:nvSpPr>
          <p:cNvPr id="23" name="Text 18"/>
          <p:cNvSpPr/>
          <p:nvPr/>
        </p:nvSpPr>
        <p:spPr>
          <a:xfrm>
            <a:off x="4572000" y="3182112"/>
            <a:ext cx="1572768" cy="411480"/>
          </a:xfrm>
          <a:prstGeom prst="rect">
            <a:avLst/>
          </a:prstGeom>
          <a:noFill/>
          <a:ln/>
        </p:spPr>
        <p:txBody>
          <a:bodyPr wrap="square" lIns="0" tIns="0" rIns="0" bIns="0" rtlCol="0" anchor="ctr"/>
          <a:lstStyle/>
          <a:p>
            <a:pPr marL="0" indent="0" algn="ctr">
              <a:buNone/>
            </a:pPr>
            <a:r>
              <a:rPr lang="en-US" sz="1400" b="1" dirty="0">
                <a:solidFill>
                  <a:srgbClr val="1A2733"/>
                </a:solidFill>
                <a:latin typeface="Cambria" pitchFamily="34" charset="0"/>
                <a:ea typeface="Cambria" pitchFamily="34" charset="-122"/>
                <a:cs typeface="Cambria" pitchFamily="34" charset="-120"/>
              </a:rPr>
              <a:t>Measure</a:t>
            </a:r>
            <a:endParaRPr lang="en-US" sz="1400" dirty="0"/>
          </a:p>
        </p:txBody>
      </p:sp>
      <p:sp>
        <p:nvSpPr>
          <p:cNvPr id="24" name="Text 19"/>
          <p:cNvSpPr/>
          <p:nvPr/>
        </p:nvSpPr>
        <p:spPr>
          <a:xfrm>
            <a:off x="4599432" y="3584448"/>
            <a:ext cx="1517904" cy="868680"/>
          </a:xfrm>
          <a:prstGeom prst="rect">
            <a:avLst/>
          </a:prstGeom>
          <a:noFill/>
          <a:ln/>
        </p:spPr>
        <p:txBody>
          <a:bodyPr wrap="square" lIns="0" tIns="0" rIns="0" bIns="0" rtlCol="0" anchor="ctr"/>
          <a:lstStyle/>
          <a:p>
            <a:pPr marL="0" indent="0" algn="ctr">
              <a:lnSpc>
                <a:spcPct val="103000"/>
              </a:lnSpc>
              <a:buNone/>
            </a:pPr>
            <a:r>
              <a:rPr lang="en-US" sz="1050" dirty="0">
                <a:solidFill>
                  <a:srgbClr val="5E6E78"/>
                </a:solidFill>
                <a:latin typeface="Calibri" pitchFamily="34" charset="0"/>
                <a:ea typeface="Calibri" pitchFamily="34" charset="-122"/>
                <a:cs typeface="Calibri" pitchFamily="34" charset="-120"/>
              </a:rPr>
              <a:t>AMIA accuracy under FL-trained LLM</a:t>
            </a:r>
            <a:endParaRPr lang="en-US" sz="1050" dirty="0"/>
          </a:p>
        </p:txBody>
      </p:sp>
      <p:sp>
        <p:nvSpPr>
          <p:cNvPr id="25" name="Shape 20"/>
          <p:cNvSpPr/>
          <p:nvPr/>
        </p:nvSpPr>
        <p:spPr>
          <a:xfrm>
            <a:off x="6254496" y="3246120"/>
            <a:ext cx="146304" cy="274320"/>
          </a:xfrm>
          <a:prstGeom prst="rtTriangle">
            <a:avLst/>
          </a:prstGeom>
          <a:solidFill>
            <a:srgbClr val="E8A04C"/>
          </a:solidFill>
          <a:ln/>
        </p:spPr>
        <p:txBody>
          <a:bodyPr/>
          <a:lstStyle/>
          <a:p>
            <a:endParaRPr lang="en-QA"/>
          </a:p>
        </p:txBody>
      </p:sp>
      <p:sp>
        <p:nvSpPr>
          <p:cNvPr id="26" name="Shape 21"/>
          <p:cNvSpPr/>
          <p:nvPr/>
        </p:nvSpPr>
        <p:spPr>
          <a:xfrm>
            <a:off x="6437376" y="2194560"/>
            <a:ext cx="1755648" cy="2377440"/>
          </a:xfrm>
          <a:prstGeom prst="roundRect">
            <a:avLst>
              <a:gd name="adj" fmla="val 4167"/>
            </a:avLst>
          </a:prstGeom>
          <a:solidFill>
            <a:srgbClr val="EAF2F3"/>
          </a:solidFill>
          <a:ln/>
          <a:effectLst>
            <a:outerShdw blurRad="88900" dist="38100" dir="5400000" algn="bl" rotWithShape="0">
              <a:srgbClr val="000000">
                <a:alpha val="16000"/>
              </a:srgbClr>
            </a:outerShdw>
          </a:effectLst>
        </p:spPr>
        <p:txBody>
          <a:bodyPr/>
          <a:lstStyle/>
          <a:p>
            <a:endParaRPr lang="en-QA"/>
          </a:p>
        </p:txBody>
      </p:sp>
      <p:sp>
        <p:nvSpPr>
          <p:cNvPr id="27" name="Shape 22"/>
          <p:cNvSpPr/>
          <p:nvPr/>
        </p:nvSpPr>
        <p:spPr>
          <a:xfrm>
            <a:off x="7013448" y="2468880"/>
            <a:ext cx="603504" cy="603504"/>
          </a:xfrm>
          <a:prstGeom prst="ellipse">
            <a:avLst/>
          </a:prstGeom>
          <a:solidFill>
            <a:srgbClr val="0E8C8C"/>
          </a:solidFill>
          <a:ln/>
          <a:effectLst>
            <a:outerShdw blurRad="88900" dist="38100" dir="5400000" algn="bl" rotWithShape="0">
              <a:srgbClr val="000000">
                <a:alpha val="16000"/>
              </a:srgbClr>
            </a:outerShdw>
          </a:effectLst>
        </p:spPr>
        <p:txBody>
          <a:bodyPr/>
          <a:lstStyle/>
          <a:p>
            <a:endParaRPr lang="en-QA"/>
          </a:p>
        </p:txBody>
      </p:sp>
      <p:pic>
        <p:nvPicPr>
          <p:cNvPr id="28" name="Image 3" descr="preencoded.png"/>
          <p:cNvPicPr>
            <a:picLocks noChangeAspect="1"/>
          </p:cNvPicPr>
          <p:nvPr/>
        </p:nvPicPr>
        <p:blipFill>
          <a:blip r:embed="rId6"/>
          <a:stretch>
            <a:fillRect/>
          </a:stretch>
        </p:blipFill>
        <p:spPr>
          <a:xfrm>
            <a:off x="7170359" y="2625791"/>
            <a:ext cx="289682" cy="289682"/>
          </a:xfrm>
          <a:prstGeom prst="rect">
            <a:avLst/>
          </a:prstGeom>
        </p:spPr>
      </p:pic>
      <p:sp>
        <p:nvSpPr>
          <p:cNvPr id="29" name="Text 23"/>
          <p:cNvSpPr/>
          <p:nvPr/>
        </p:nvSpPr>
        <p:spPr>
          <a:xfrm>
            <a:off x="6547104" y="2304288"/>
            <a:ext cx="365760" cy="365760"/>
          </a:xfrm>
          <a:prstGeom prst="rect">
            <a:avLst/>
          </a:prstGeom>
          <a:noFill/>
          <a:ln/>
        </p:spPr>
        <p:txBody>
          <a:bodyPr wrap="square" lIns="0" tIns="0" rIns="0" bIns="0" rtlCol="0" anchor="ctr"/>
          <a:lstStyle/>
          <a:p>
            <a:pPr marL="0" indent="0">
              <a:buNone/>
            </a:pPr>
            <a:r>
              <a:rPr lang="en-US" sz="1600" b="1" dirty="0">
                <a:solidFill>
                  <a:srgbClr val="E8A04C"/>
                </a:solidFill>
                <a:latin typeface="Cambria" pitchFamily="34" charset="0"/>
                <a:ea typeface="Cambria" pitchFamily="34" charset="-122"/>
                <a:cs typeface="Cambria" pitchFamily="34" charset="-120"/>
              </a:rPr>
              <a:t>4</a:t>
            </a:r>
            <a:endParaRPr lang="en-US" sz="1600" dirty="0"/>
          </a:p>
        </p:txBody>
      </p:sp>
      <p:sp>
        <p:nvSpPr>
          <p:cNvPr id="30" name="Text 24"/>
          <p:cNvSpPr/>
          <p:nvPr/>
        </p:nvSpPr>
        <p:spPr>
          <a:xfrm>
            <a:off x="6528816" y="3182112"/>
            <a:ext cx="1572768" cy="411480"/>
          </a:xfrm>
          <a:prstGeom prst="rect">
            <a:avLst/>
          </a:prstGeom>
          <a:noFill/>
          <a:ln/>
        </p:spPr>
        <p:txBody>
          <a:bodyPr wrap="square" lIns="0" tIns="0" rIns="0" bIns="0" rtlCol="0" anchor="ctr"/>
          <a:lstStyle/>
          <a:p>
            <a:pPr marL="0" indent="0" algn="ctr">
              <a:buNone/>
            </a:pPr>
            <a:r>
              <a:rPr lang="en-US" sz="1400" b="1" dirty="0">
                <a:solidFill>
                  <a:srgbClr val="1A2733"/>
                </a:solidFill>
                <a:latin typeface="Cambria" pitchFamily="34" charset="0"/>
                <a:ea typeface="Cambria" pitchFamily="34" charset="-122"/>
                <a:cs typeface="Cambria" pitchFamily="34" charset="-120"/>
              </a:rPr>
              <a:t>Find patterns</a:t>
            </a:r>
            <a:endParaRPr lang="en-US" sz="1400" dirty="0"/>
          </a:p>
        </p:txBody>
      </p:sp>
      <p:sp>
        <p:nvSpPr>
          <p:cNvPr id="31" name="Text 25"/>
          <p:cNvSpPr/>
          <p:nvPr/>
        </p:nvSpPr>
        <p:spPr>
          <a:xfrm>
            <a:off x="6556248" y="3584448"/>
            <a:ext cx="1517904" cy="868680"/>
          </a:xfrm>
          <a:prstGeom prst="rect">
            <a:avLst/>
          </a:prstGeom>
          <a:noFill/>
          <a:ln/>
        </p:spPr>
        <p:txBody>
          <a:bodyPr wrap="square" lIns="0" tIns="0" rIns="0" bIns="0" rtlCol="0" anchor="ctr"/>
          <a:lstStyle/>
          <a:p>
            <a:pPr marL="0" indent="0" algn="ctr">
              <a:lnSpc>
                <a:spcPct val="103000"/>
              </a:lnSpc>
              <a:buNone/>
            </a:pPr>
            <a:r>
              <a:rPr lang="en-US" sz="1050" dirty="0">
                <a:solidFill>
                  <a:srgbClr val="5E6E78"/>
                </a:solidFill>
                <a:latin typeface="Calibri" pitchFamily="34" charset="0"/>
                <a:ea typeface="Calibri" pitchFamily="34" charset="-122"/>
                <a:cs typeface="Calibri" pitchFamily="34" charset="-120"/>
              </a:rPr>
              <a:t>What shifts when each factor changes</a:t>
            </a:r>
            <a:endParaRPr lang="en-US" sz="1050" dirty="0"/>
          </a:p>
        </p:txBody>
      </p:sp>
      <p:sp>
        <p:nvSpPr>
          <p:cNvPr id="32" name="Shape 26"/>
          <p:cNvSpPr/>
          <p:nvPr/>
        </p:nvSpPr>
        <p:spPr>
          <a:xfrm>
            <a:off x="8211312" y="3246120"/>
            <a:ext cx="146304" cy="274320"/>
          </a:xfrm>
          <a:prstGeom prst="rtTriangle">
            <a:avLst/>
          </a:prstGeom>
          <a:solidFill>
            <a:srgbClr val="E8A04C"/>
          </a:solidFill>
          <a:ln/>
        </p:spPr>
        <p:txBody>
          <a:bodyPr/>
          <a:lstStyle/>
          <a:p>
            <a:endParaRPr lang="en-QA"/>
          </a:p>
        </p:txBody>
      </p:sp>
      <p:sp>
        <p:nvSpPr>
          <p:cNvPr id="33" name="Shape 27"/>
          <p:cNvSpPr/>
          <p:nvPr/>
        </p:nvSpPr>
        <p:spPr>
          <a:xfrm>
            <a:off x="8394192" y="2194560"/>
            <a:ext cx="1755648" cy="2377440"/>
          </a:xfrm>
          <a:prstGeom prst="roundRect">
            <a:avLst>
              <a:gd name="adj" fmla="val 4167"/>
            </a:avLst>
          </a:prstGeom>
          <a:solidFill>
            <a:srgbClr val="EAF2F3"/>
          </a:solidFill>
          <a:ln/>
          <a:effectLst>
            <a:outerShdw blurRad="88900" dist="38100" dir="5400000" algn="bl" rotWithShape="0">
              <a:srgbClr val="000000">
                <a:alpha val="16000"/>
              </a:srgbClr>
            </a:outerShdw>
          </a:effectLst>
        </p:spPr>
        <p:txBody>
          <a:bodyPr/>
          <a:lstStyle/>
          <a:p>
            <a:endParaRPr lang="en-QA"/>
          </a:p>
        </p:txBody>
      </p:sp>
      <p:sp>
        <p:nvSpPr>
          <p:cNvPr id="34" name="Shape 28"/>
          <p:cNvSpPr/>
          <p:nvPr/>
        </p:nvSpPr>
        <p:spPr>
          <a:xfrm>
            <a:off x="8970264" y="2468880"/>
            <a:ext cx="603504" cy="603504"/>
          </a:xfrm>
          <a:prstGeom prst="ellipse">
            <a:avLst/>
          </a:prstGeom>
          <a:solidFill>
            <a:srgbClr val="0E8C8C"/>
          </a:solidFill>
          <a:ln/>
          <a:effectLst>
            <a:outerShdw blurRad="88900" dist="38100" dir="5400000" algn="bl" rotWithShape="0">
              <a:srgbClr val="000000">
                <a:alpha val="16000"/>
              </a:srgbClr>
            </a:outerShdw>
          </a:effectLst>
        </p:spPr>
        <p:txBody>
          <a:bodyPr/>
          <a:lstStyle/>
          <a:p>
            <a:endParaRPr lang="en-QA"/>
          </a:p>
        </p:txBody>
      </p:sp>
      <p:pic>
        <p:nvPicPr>
          <p:cNvPr id="35" name="Image 4" descr="preencoded.png"/>
          <p:cNvPicPr>
            <a:picLocks noChangeAspect="1"/>
          </p:cNvPicPr>
          <p:nvPr/>
        </p:nvPicPr>
        <p:blipFill>
          <a:blip r:embed="rId7"/>
          <a:stretch>
            <a:fillRect/>
          </a:stretch>
        </p:blipFill>
        <p:spPr>
          <a:xfrm>
            <a:off x="9127175" y="2625791"/>
            <a:ext cx="289682" cy="289682"/>
          </a:xfrm>
          <a:prstGeom prst="rect">
            <a:avLst/>
          </a:prstGeom>
        </p:spPr>
      </p:pic>
      <p:sp>
        <p:nvSpPr>
          <p:cNvPr id="36" name="Text 29"/>
          <p:cNvSpPr/>
          <p:nvPr/>
        </p:nvSpPr>
        <p:spPr>
          <a:xfrm>
            <a:off x="8503920" y="2304288"/>
            <a:ext cx="365760" cy="365760"/>
          </a:xfrm>
          <a:prstGeom prst="rect">
            <a:avLst/>
          </a:prstGeom>
          <a:noFill/>
          <a:ln/>
        </p:spPr>
        <p:txBody>
          <a:bodyPr wrap="square" lIns="0" tIns="0" rIns="0" bIns="0" rtlCol="0" anchor="ctr"/>
          <a:lstStyle/>
          <a:p>
            <a:pPr marL="0" indent="0">
              <a:buNone/>
            </a:pPr>
            <a:r>
              <a:rPr lang="en-US" sz="1600" b="1" dirty="0">
                <a:solidFill>
                  <a:srgbClr val="E8A04C"/>
                </a:solidFill>
                <a:latin typeface="Cambria" pitchFamily="34" charset="0"/>
                <a:ea typeface="Cambria" pitchFamily="34" charset="-122"/>
                <a:cs typeface="Cambria" pitchFamily="34" charset="-120"/>
              </a:rPr>
              <a:t>5</a:t>
            </a:r>
            <a:endParaRPr lang="en-US" sz="1600" dirty="0"/>
          </a:p>
        </p:txBody>
      </p:sp>
      <p:sp>
        <p:nvSpPr>
          <p:cNvPr id="37" name="Text 30"/>
          <p:cNvSpPr/>
          <p:nvPr/>
        </p:nvSpPr>
        <p:spPr>
          <a:xfrm>
            <a:off x="8485632" y="3182112"/>
            <a:ext cx="1572768" cy="411480"/>
          </a:xfrm>
          <a:prstGeom prst="rect">
            <a:avLst/>
          </a:prstGeom>
          <a:noFill/>
          <a:ln/>
        </p:spPr>
        <p:txBody>
          <a:bodyPr wrap="square" lIns="0" tIns="0" rIns="0" bIns="0" rtlCol="0" anchor="ctr"/>
          <a:lstStyle/>
          <a:p>
            <a:pPr marL="0" indent="0" algn="ctr">
              <a:buNone/>
            </a:pPr>
            <a:r>
              <a:rPr lang="en-US" sz="1400" b="1" dirty="0">
                <a:solidFill>
                  <a:srgbClr val="1A2733"/>
                </a:solidFill>
                <a:latin typeface="Cambria" pitchFamily="34" charset="0"/>
                <a:ea typeface="Cambria" pitchFamily="34" charset="-122"/>
                <a:cs typeface="Cambria" pitchFamily="34" charset="-120"/>
              </a:rPr>
              <a:t>Evaluate</a:t>
            </a:r>
            <a:endParaRPr lang="en-US" sz="1400" dirty="0"/>
          </a:p>
        </p:txBody>
      </p:sp>
      <p:sp>
        <p:nvSpPr>
          <p:cNvPr id="38" name="Text 31"/>
          <p:cNvSpPr/>
          <p:nvPr/>
        </p:nvSpPr>
        <p:spPr>
          <a:xfrm>
            <a:off x="8513064" y="3584448"/>
            <a:ext cx="1517904" cy="868680"/>
          </a:xfrm>
          <a:prstGeom prst="rect">
            <a:avLst/>
          </a:prstGeom>
          <a:noFill/>
          <a:ln/>
        </p:spPr>
        <p:txBody>
          <a:bodyPr wrap="square" lIns="0" tIns="0" rIns="0" bIns="0" rtlCol="0" anchor="ctr"/>
          <a:lstStyle/>
          <a:p>
            <a:pPr marL="0" indent="0" algn="ctr">
              <a:lnSpc>
                <a:spcPct val="103000"/>
              </a:lnSpc>
              <a:buNone/>
            </a:pPr>
            <a:r>
              <a:rPr lang="en-US" sz="1050" dirty="0">
                <a:solidFill>
                  <a:srgbClr val="5E6E78"/>
                </a:solidFill>
                <a:latin typeface="Calibri" pitchFamily="34" charset="0"/>
                <a:ea typeface="Calibri" pitchFamily="34" charset="-122"/>
                <a:cs typeface="Calibri" pitchFamily="34" charset="-120"/>
              </a:rPr>
              <a:t>Compare vs. baseline &amp; utility</a:t>
            </a:r>
            <a:endParaRPr lang="en-US" sz="1050" dirty="0"/>
          </a:p>
        </p:txBody>
      </p:sp>
      <p:sp>
        <p:nvSpPr>
          <p:cNvPr id="39" name="Shape 32"/>
          <p:cNvSpPr/>
          <p:nvPr/>
        </p:nvSpPr>
        <p:spPr>
          <a:xfrm>
            <a:off x="10168128" y="3246120"/>
            <a:ext cx="146304" cy="274320"/>
          </a:xfrm>
          <a:prstGeom prst="rtTriangle">
            <a:avLst/>
          </a:prstGeom>
          <a:solidFill>
            <a:srgbClr val="E8A04C"/>
          </a:solidFill>
          <a:ln/>
        </p:spPr>
        <p:txBody>
          <a:bodyPr/>
          <a:lstStyle/>
          <a:p>
            <a:endParaRPr lang="en-QA"/>
          </a:p>
        </p:txBody>
      </p:sp>
      <p:sp>
        <p:nvSpPr>
          <p:cNvPr id="40" name="Shape 33"/>
          <p:cNvSpPr/>
          <p:nvPr/>
        </p:nvSpPr>
        <p:spPr>
          <a:xfrm>
            <a:off x="10351008" y="2194560"/>
            <a:ext cx="1755648" cy="2377440"/>
          </a:xfrm>
          <a:prstGeom prst="roundRect">
            <a:avLst>
              <a:gd name="adj" fmla="val 4167"/>
            </a:avLst>
          </a:prstGeom>
          <a:solidFill>
            <a:srgbClr val="0E2A3B"/>
          </a:solidFill>
          <a:ln/>
          <a:effectLst>
            <a:outerShdw blurRad="88900" dist="38100" dir="5400000" algn="bl" rotWithShape="0">
              <a:srgbClr val="000000">
                <a:alpha val="16000"/>
              </a:srgbClr>
            </a:outerShdw>
          </a:effectLst>
        </p:spPr>
        <p:txBody>
          <a:bodyPr/>
          <a:lstStyle/>
          <a:p>
            <a:endParaRPr lang="en-QA"/>
          </a:p>
        </p:txBody>
      </p:sp>
      <p:sp>
        <p:nvSpPr>
          <p:cNvPr id="41" name="Shape 34"/>
          <p:cNvSpPr/>
          <p:nvPr/>
        </p:nvSpPr>
        <p:spPr>
          <a:xfrm>
            <a:off x="10927080" y="2468880"/>
            <a:ext cx="603504" cy="603504"/>
          </a:xfrm>
          <a:prstGeom prst="ellipse">
            <a:avLst/>
          </a:prstGeom>
          <a:solidFill>
            <a:srgbClr val="E8A04C"/>
          </a:solidFill>
          <a:ln/>
          <a:effectLst>
            <a:outerShdw blurRad="88900" dist="38100" dir="5400000" algn="bl" rotWithShape="0">
              <a:srgbClr val="000000">
                <a:alpha val="16000"/>
              </a:srgbClr>
            </a:outerShdw>
          </a:effectLst>
        </p:spPr>
        <p:txBody>
          <a:bodyPr/>
          <a:lstStyle/>
          <a:p>
            <a:endParaRPr lang="en-QA"/>
          </a:p>
        </p:txBody>
      </p:sp>
      <p:pic>
        <p:nvPicPr>
          <p:cNvPr id="42" name="Image 5" descr="preencoded.png"/>
          <p:cNvPicPr>
            <a:picLocks noChangeAspect="1"/>
          </p:cNvPicPr>
          <p:nvPr/>
        </p:nvPicPr>
        <p:blipFill>
          <a:blip r:embed="rId8"/>
          <a:stretch>
            <a:fillRect/>
          </a:stretch>
        </p:blipFill>
        <p:spPr>
          <a:xfrm>
            <a:off x="11083991" y="2625791"/>
            <a:ext cx="289682" cy="289682"/>
          </a:xfrm>
          <a:prstGeom prst="rect">
            <a:avLst/>
          </a:prstGeom>
        </p:spPr>
      </p:pic>
      <p:sp>
        <p:nvSpPr>
          <p:cNvPr id="43" name="Text 35"/>
          <p:cNvSpPr/>
          <p:nvPr/>
        </p:nvSpPr>
        <p:spPr>
          <a:xfrm>
            <a:off x="10460736" y="2304288"/>
            <a:ext cx="365760" cy="365760"/>
          </a:xfrm>
          <a:prstGeom prst="rect">
            <a:avLst/>
          </a:prstGeom>
          <a:noFill/>
          <a:ln/>
        </p:spPr>
        <p:txBody>
          <a:bodyPr wrap="square" lIns="0" tIns="0" rIns="0" bIns="0" rtlCol="0" anchor="ctr"/>
          <a:lstStyle/>
          <a:p>
            <a:pPr marL="0" indent="0">
              <a:buNone/>
            </a:pPr>
            <a:r>
              <a:rPr lang="en-US" sz="1600" b="1" dirty="0">
                <a:solidFill>
                  <a:srgbClr val="3FC6BC"/>
                </a:solidFill>
                <a:latin typeface="Cambria" pitchFamily="34" charset="0"/>
                <a:ea typeface="Cambria" pitchFamily="34" charset="-122"/>
                <a:cs typeface="Cambria" pitchFamily="34" charset="-120"/>
              </a:rPr>
              <a:t>6</a:t>
            </a:r>
            <a:endParaRPr lang="en-US" sz="1600" dirty="0"/>
          </a:p>
        </p:txBody>
      </p:sp>
      <p:sp>
        <p:nvSpPr>
          <p:cNvPr id="44" name="Text 36"/>
          <p:cNvSpPr/>
          <p:nvPr/>
        </p:nvSpPr>
        <p:spPr>
          <a:xfrm>
            <a:off x="10442448" y="3182112"/>
            <a:ext cx="1572768"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Defend</a:t>
            </a:r>
            <a:endParaRPr lang="en-US" sz="1400" dirty="0"/>
          </a:p>
        </p:txBody>
      </p:sp>
      <p:sp>
        <p:nvSpPr>
          <p:cNvPr id="45" name="Text 37"/>
          <p:cNvSpPr/>
          <p:nvPr/>
        </p:nvSpPr>
        <p:spPr>
          <a:xfrm>
            <a:off x="10469880" y="3584448"/>
            <a:ext cx="1517904" cy="868680"/>
          </a:xfrm>
          <a:prstGeom prst="rect">
            <a:avLst/>
          </a:prstGeom>
          <a:noFill/>
          <a:ln/>
        </p:spPr>
        <p:txBody>
          <a:bodyPr wrap="square" lIns="0" tIns="0" rIns="0" bIns="0" rtlCol="0" anchor="ctr"/>
          <a:lstStyle/>
          <a:p>
            <a:pPr marL="0" indent="0" algn="ctr">
              <a:lnSpc>
                <a:spcPct val="103000"/>
              </a:lnSpc>
              <a:buNone/>
            </a:pPr>
            <a:r>
              <a:rPr lang="en-US" sz="1050" dirty="0">
                <a:solidFill>
                  <a:srgbClr val="DCE7EA"/>
                </a:solidFill>
                <a:latin typeface="Calibri" pitchFamily="34" charset="0"/>
                <a:ea typeface="Calibri" pitchFamily="34" charset="-122"/>
                <a:cs typeface="Calibri" pitchFamily="34" charset="-120"/>
              </a:rPr>
              <a:t>Trial alternative defenses</a:t>
            </a:r>
            <a:endParaRPr lang="en-US" sz="1050" dirty="0"/>
          </a:p>
        </p:txBody>
      </p:sp>
      <p:sp>
        <p:nvSpPr>
          <p:cNvPr id="46" name="Text 38"/>
          <p:cNvSpPr/>
          <p:nvPr/>
        </p:nvSpPr>
        <p:spPr>
          <a:xfrm>
            <a:off x="640080" y="5166360"/>
            <a:ext cx="10881360" cy="457200"/>
          </a:xfrm>
          <a:prstGeom prst="rect">
            <a:avLst/>
          </a:prstGeom>
          <a:noFill/>
          <a:ln/>
        </p:spPr>
        <p:txBody>
          <a:bodyPr wrap="square" lIns="0" tIns="0" rIns="0" bIns="0" rtlCol="0" anchor="ctr"/>
          <a:lstStyle/>
          <a:p>
            <a:pPr marL="0" indent="0">
              <a:buNone/>
            </a:pPr>
            <a:r>
              <a:rPr lang="en-US" sz="1200" i="1" dirty="0">
                <a:solidFill>
                  <a:srgbClr val="5E6E78"/>
                </a:solidFill>
                <a:latin typeface="Calibri" pitchFamily="34" charset="0"/>
                <a:ea typeface="Calibri" pitchFamily="34" charset="-122"/>
                <a:cs typeface="Calibri" pitchFamily="34" charset="-120"/>
              </a:rPr>
              <a:t>Illustrative methodology — no results are reported. Every metric shown later is an expected shape, not observed data.</a:t>
            </a:r>
            <a:endParaRPr lang="en-US" sz="1200" dirty="0"/>
          </a:p>
        </p:txBody>
      </p:sp>
      <p:sp>
        <p:nvSpPr>
          <p:cNvPr id="48" name="Shape 39"/>
          <p:cNvSpPr/>
          <p:nvPr/>
        </p:nvSpPr>
        <p:spPr>
          <a:xfrm>
            <a:off x="548640" y="6464808"/>
            <a:ext cx="109728" cy="109728"/>
          </a:xfrm>
          <a:prstGeom prst="ellipse">
            <a:avLst/>
          </a:prstGeom>
          <a:solidFill>
            <a:srgbClr val="0E8C8C"/>
          </a:solidFill>
          <a:ln/>
        </p:spPr>
        <p:txBody>
          <a:bodyPr/>
          <a:lstStyle/>
          <a:p>
            <a:endParaRPr lang="en-QA"/>
          </a:p>
        </p:txBody>
      </p:sp>
      <p:sp>
        <p:nvSpPr>
          <p:cNvPr id="49" name="Text 40"/>
          <p:cNvSpPr/>
          <p:nvPr/>
        </p:nvSpPr>
        <p:spPr>
          <a:xfrm>
            <a:off x="749808" y="6355080"/>
            <a:ext cx="8229600" cy="320040"/>
          </a:xfrm>
          <a:prstGeom prst="rect">
            <a:avLst/>
          </a:prstGeom>
          <a:noFill/>
          <a:ln/>
        </p:spPr>
        <p:txBody>
          <a:bodyPr wrap="square" lIns="0" tIns="0" rIns="0" bIns="0" rtlCol="0" anchor="ctr"/>
          <a:lstStyle/>
          <a:p>
            <a:pPr marL="0" indent="0">
              <a:buNone/>
            </a:pPr>
            <a:r>
              <a:rPr lang="en-US" sz="900" dirty="0">
                <a:solidFill>
                  <a:srgbClr val="5E6E78"/>
                </a:solidFill>
                <a:latin typeface="Calibri" pitchFamily="34" charset="0"/>
                <a:ea typeface="Calibri" pitchFamily="34" charset="-122"/>
                <a:cs typeface="Calibri" pitchFamily="34" charset="-120"/>
              </a:rPr>
              <a:t>AMIA × Federated Learning × LDP  —  Literature &amp; Proposed Study</a:t>
            </a:r>
            <a:endParaRPr lang="en-US" sz="900" dirty="0"/>
          </a:p>
        </p:txBody>
      </p:sp>
      <p:sp>
        <p:nvSpPr>
          <p:cNvPr id="50" name="Text 41"/>
          <p:cNvSpPr/>
          <p:nvPr/>
        </p:nvSpPr>
        <p:spPr>
          <a:xfrm>
            <a:off x="11338560" y="6355080"/>
            <a:ext cx="457200" cy="320040"/>
          </a:xfrm>
          <a:prstGeom prst="rect">
            <a:avLst/>
          </a:prstGeom>
          <a:noFill/>
          <a:ln/>
        </p:spPr>
        <p:txBody>
          <a:bodyPr wrap="square" rtlCol="0" anchor="ctr"/>
          <a:lstStyle/>
          <a:p>
            <a:pPr marL="0" indent="0" algn="r">
              <a:buNone/>
            </a:pPr>
            <a:r>
              <a:rPr lang="en-US" sz="1000" dirty="0">
                <a:solidFill>
                  <a:srgbClr val="5E6E78"/>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566928"/>
            <a:ext cx="128016" cy="128016"/>
          </a:xfrm>
          <a:prstGeom prst="ellipse">
            <a:avLst/>
          </a:prstGeom>
          <a:solidFill>
            <a:srgbClr val="0E8C8C"/>
          </a:solidFill>
          <a:ln/>
        </p:spPr>
        <p:txBody>
          <a:bodyPr/>
          <a:lstStyle/>
          <a:p>
            <a:endParaRPr lang="en-QA"/>
          </a:p>
        </p:txBody>
      </p:sp>
      <p:sp>
        <p:nvSpPr>
          <p:cNvPr id="3" name="Text 1"/>
          <p:cNvSpPr/>
          <p:nvPr/>
        </p:nvSpPr>
        <p:spPr>
          <a:xfrm>
            <a:off x="777240" y="457200"/>
            <a:ext cx="10515600" cy="320040"/>
          </a:xfrm>
          <a:prstGeom prst="rect">
            <a:avLst/>
          </a:prstGeom>
          <a:noFill/>
          <a:ln/>
        </p:spPr>
        <p:txBody>
          <a:bodyPr wrap="square" lIns="0" tIns="0" rIns="0" bIns="0" rtlCol="0" anchor="ctr"/>
          <a:lstStyle/>
          <a:p>
            <a:pPr marL="0" indent="0">
              <a:buNone/>
            </a:pPr>
            <a:r>
              <a:rPr lang="en-US" sz="1200" b="1" kern="0" spc="200" dirty="0">
                <a:solidFill>
                  <a:srgbClr val="0E8C8C"/>
                </a:solidFill>
                <a:latin typeface="Calibri" pitchFamily="34" charset="0"/>
                <a:ea typeface="Calibri" pitchFamily="34" charset="-122"/>
                <a:cs typeface="Calibri" pitchFamily="34" charset="-120"/>
              </a:rPr>
              <a:t>SECTION 3 · STAGES 1–2</a:t>
            </a:r>
            <a:endParaRPr lang="en-US" sz="1200" dirty="0"/>
          </a:p>
        </p:txBody>
      </p:sp>
      <p:sp>
        <p:nvSpPr>
          <p:cNvPr id="4" name="Text 2"/>
          <p:cNvSpPr/>
          <p:nvPr/>
        </p:nvSpPr>
        <p:spPr>
          <a:xfrm>
            <a:off x="548640" y="768096"/>
            <a:ext cx="11064240" cy="868680"/>
          </a:xfrm>
          <a:prstGeom prst="rect">
            <a:avLst/>
          </a:prstGeom>
          <a:noFill/>
          <a:ln/>
        </p:spPr>
        <p:txBody>
          <a:bodyPr wrap="square" lIns="0" tIns="0" rIns="0" bIns="0" rtlCol="0" anchor="ctr"/>
          <a:lstStyle/>
          <a:p>
            <a:pPr marL="0" indent="0">
              <a:buNone/>
            </a:pPr>
            <a:r>
              <a:rPr lang="en-US" sz="3000" b="1" dirty="0">
                <a:solidFill>
                  <a:srgbClr val="1A2733"/>
                </a:solidFill>
                <a:latin typeface="Cambria" pitchFamily="34" charset="0"/>
                <a:ea typeface="Cambria" pitchFamily="34" charset="-122"/>
                <a:cs typeface="Cambria" pitchFamily="34" charset="-120"/>
              </a:rPr>
              <a:t>Baseline reproduction, then vary the factors</a:t>
            </a:r>
            <a:endParaRPr lang="en-US" sz="3000" dirty="0"/>
          </a:p>
        </p:txBody>
      </p:sp>
      <p:sp>
        <p:nvSpPr>
          <p:cNvPr id="5" name="Shape 3"/>
          <p:cNvSpPr/>
          <p:nvPr/>
        </p:nvSpPr>
        <p:spPr>
          <a:xfrm>
            <a:off x="640080" y="1874520"/>
            <a:ext cx="5257800" cy="4069080"/>
          </a:xfrm>
          <a:prstGeom prst="roundRect">
            <a:avLst>
              <a:gd name="adj" fmla="val 1573"/>
            </a:avLst>
          </a:prstGeom>
          <a:solidFill>
            <a:srgbClr val="FFFFFF"/>
          </a:solidFill>
          <a:ln w="12700">
            <a:solidFill>
              <a:srgbClr val="C9D8DC"/>
            </a:solidFill>
            <a:prstDash val="solid"/>
          </a:ln>
          <a:effectLst>
            <a:outerShdw blurRad="88900" dist="38100" dir="5400000" algn="bl" rotWithShape="0">
              <a:srgbClr val="000000">
                <a:alpha val="16000"/>
              </a:srgbClr>
            </a:outerShdw>
          </a:effectLst>
        </p:spPr>
        <p:txBody>
          <a:bodyPr/>
          <a:lstStyle/>
          <a:p>
            <a:endParaRPr lang="en-QA"/>
          </a:p>
        </p:txBody>
      </p:sp>
      <p:sp>
        <p:nvSpPr>
          <p:cNvPr id="6" name="Shape 4"/>
          <p:cNvSpPr/>
          <p:nvPr/>
        </p:nvSpPr>
        <p:spPr>
          <a:xfrm>
            <a:off x="868680" y="2103120"/>
            <a:ext cx="566928" cy="566928"/>
          </a:xfrm>
          <a:prstGeom prst="ellipse">
            <a:avLst/>
          </a:prstGeom>
          <a:solidFill>
            <a:srgbClr val="0E8C8C"/>
          </a:solidFill>
          <a:ln/>
          <a:effectLst>
            <a:outerShdw blurRad="88900" dist="38100" dir="5400000" algn="bl" rotWithShape="0">
              <a:srgbClr val="000000">
                <a:alpha val="16000"/>
              </a:srgbClr>
            </a:outerShdw>
          </a:effectLst>
        </p:spPr>
        <p:txBody>
          <a:bodyPr/>
          <a:lstStyle/>
          <a:p>
            <a:endParaRPr lang="en-QA"/>
          </a:p>
        </p:txBody>
      </p:sp>
      <p:pic>
        <p:nvPicPr>
          <p:cNvPr id="7" name="Image 0" descr="preencoded.png"/>
          <p:cNvPicPr>
            <a:picLocks noChangeAspect="1"/>
          </p:cNvPicPr>
          <p:nvPr/>
        </p:nvPicPr>
        <p:blipFill>
          <a:blip r:embed="rId3"/>
          <a:stretch>
            <a:fillRect/>
          </a:stretch>
        </p:blipFill>
        <p:spPr>
          <a:xfrm>
            <a:off x="1016081" y="2250521"/>
            <a:ext cx="272125" cy="272125"/>
          </a:xfrm>
          <a:prstGeom prst="rect">
            <a:avLst/>
          </a:prstGeom>
        </p:spPr>
      </p:pic>
      <p:sp>
        <p:nvSpPr>
          <p:cNvPr id="8" name="Text 5"/>
          <p:cNvSpPr/>
          <p:nvPr/>
        </p:nvSpPr>
        <p:spPr>
          <a:xfrm>
            <a:off x="1572768" y="2130552"/>
            <a:ext cx="4160520" cy="502920"/>
          </a:xfrm>
          <a:prstGeom prst="rect">
            <a:avLst/>
          </a:prstGeom>
          <a:noFill/>
          <a:ln/>
        </p:spPr>
        <p:txBody>
          <a:bodyPr wrap="square" lIns="0" tIns="0" rIns="0" bIns="0" rtlCol="0" anchor="ctr"/>
          <a:lstStyle/>
          <a:p>
            <a:pPr marL="0" indent="0">
              <a:buNone/>
            </a:pPr>
            <a:r>
              <a:rPr lang="en-US" sz="1550" b="1" dirty="0">
                <a:solidFill>
                  <a:srgbClr val="1A2733"/>
                </a:solidFill>
                <a:latin typeface="Cambria" pitchFamily="34" charset="0"/>
                <a:ea typeface="Cambria" pitchFamily="34" charset="-122"/>
                <a:cs typeface="Cambria" pitchFamily="34" charset="-120"/>
              </a:rPr>
              <a:t>1 · Reproduce the baseline</a:t>
            </a:r>
            <a:endParaRPr lang="en-US" sz="1550" dirty="0"/>
          </a:p>
        </p:txBody>
      </p:sp>
      <p:sp>
        <p:nvSpPr>
          <p:cNvPr id="9" name="Text 6"/>
          <p:cNvSpPr/>
          <p:nvPr/>
        </p:nvSpPr>
        <p:spPr>
          <a:xfrm>
            <a:off x="896112" y="2834640"/>
            <a:ext cx="4754880" cy="2926080"/>
          </a:xfrm>
          <a:prstGeom prst="rect">
            <a:avLst/>
          </a:prstGeom>
          <a:noFill/>
          <a:ln/>
        </p:spPr>
        <p:txBody>
          <a:bodyPr wrap="square" lIns="0" tIns="0" rIns="0" bIns="0" rtlCol="0" anchor="ctr"/>
          <a:lstStyle/>
          <a:p>
            <a:pPr marL="342900" indent="-342900">
              <a:lnSpc>
                <a:spcPct val="110000"/>
              </a:lnSpc>
              <a:spcAft>
                <a:spcPts val="1000"/>
              </a:spcAft>
              <a:buSzPct val="100000"/>
              <a:buChar char="•"/>
            </a:pPr>
            <a:r>
              <a:rPr lang="en-US" sz="1300" dirty="0">
                <a:solidFill>
                  <a:srgbClr val="5E6E78"/>
                </a:solidFill>
                <a:latin typeface="Calibri" pitchFamily="34" charset="0"/>
                <a:ea typeface="Calibri" pitchFamily="34" charset="-122"/>
                <a:cs typeface="Calibri" pitchFamily="34" charset="-120"/>
              </a:rPr>
              <a:t>Clone and run the trucndt/ami reference code.</a:t>
            </a:r>
            <a:endParaRPr lang="en-US" sz="1300" dirty="0"/>
          </a:p>
          <a:p>
            <a:pPr marL="342900" indent="-342900">
              <a:lnSpc>
                <a:spcPct val="110000"/>
              </a:lnSpc>
              <a:spcAft>
                <a:spcPts val="1000"/>
              </a:spcAft>
              <a:buSzPct val="100000"/>
              <a:buChar char="•"/>
            </a:pPr>
            <a:r>
              <a:rPr lang="en-US" sz="1300" dirty="0">
                <a:solidFill>
                  <a:srgbClr val="5E6E78"/>
                </a:solidFill>
                <a:latin typeface="Calibri" pitchFamily="34" charset="0"/>
                <a:ea typeface="Calibri" pitchFamily="34" charset="-122"/>
                <a:cs typeface="Calibri" pitchFamily="34" charset="-120"/>
              </a:rPr>
              <a:t>Confirm the published image-model attack reproduces (sanity check).</a:t>
            </a:r>
            <a:endParaRPr lang="en-US" sz="1300" dirty="0"/>
          </a:p>
          <a:p>
            <a:pPr marL="342900" indent="-342900">
              <a:lnSpc>
                <a:spcPct val="110000"/>
              </a:lnSpc>
              <a:spcAft>
                <a:spcPts val="1000"/>
              </a:spcAft>
              <a:buSzPct val="100000"/>
              <a:buChar char="•"/>
            </a:pPr>
            <a:r>
              <a:rPr lang="en-US" sz="1300" dirty="0">
                <a:solidFill>
                  <a:srgbClr val="5E6E78"/>
                </a:solidFill>
                <a:latin typeface="Calibri" pitchFamily="34" charset="0"/>
                <a:ea typeface="Calibri" pitchFamily="34" charset="-122"/>
                <a:cs typeface="Calibri" pitchFamily="34" charset="-120"/>
              </a:rPr>
              <a:t>Swap the target model for an LLM trained / fine-tuned via FL.</a:t>
            </a:r>
            <a:endParaRPr lang="en-US" sz="1300" dirty="0"/>
          </a:p>
          <a:p>
            <a:pPr marL="342900" indent="-342900">
              <a:lnSpc>
                <a:spcPct val="110000"/>
              </a:lnSpc>
              <a:buSzPct val="100000"/>
              <a:buChar char="•"/>
            </a:pPr>
            <a:r>
              <a:rPr lang="en-US" sz="1300" dirty="0">
                <a:solidFill>
                  <a:srgbClr val="5E6E78"/>
                </a:solidFill>
                <a:latin typeface="Calibri" pitchFamily="34" charset="0"/>
                <a:ea typeface="Calibri" pitchFamily="34" charset="-122"/>
                <a:cs typeface="Calibri" pitchFamily="34" charset="-120"/>
              </a:rPr>
              <a:t>Establish a fixed, documented baseline configuration.</a:t>
            </a:r>
            <a:endParaRPr lang="en-US" sz="1300" dirty="0"/>
          </a:p>
        </p:txBody>
      </p:sp>
      <p:sp>
        <p:nvSpPr>
          <p:cNvPr id="10" name="Shape 7"/>
          <p:cNvSpPr/>
          <p:nvPr/>
        </p:nvSpPr>
        <p:spPr>
          <a:xfrm>
            <a:off x="6172200" y="1874520"/>
            <a:ext cx="5349240" cy="4069080"/>
          </a:xfrm>
          <a:prstGeom prst="roundRect">
            <a:avLst>
              <a:gd name="adj" fmla="val 1573"/>
            </a:avLst>
          </a:prstGeom>
          <a:solidFill>
            <a:srgbClr val="FFFFFF"/>
          </a:solidFill>
          <a:ln w="12700">
            <a:solidFill>
              <a:srgbClr val="C9D8DC"/>
            </a:solidFill>
            <a:prstDash val="solid"/>
          </a:ln>
          <a:effectLst>
            <a:outerShdw blurRad="88900" dist="38100" dir="5400000" algn="bl" rotWithShape="0">
              <a:srgbClr val="000000">
                <a:alpha val="16000"/>
              </a:srgbClr>
            </a:outerShdw>
          </a:effectLst>
        </p:spPr>
        <p:txBody>
          <a:bodyPr/>
          <a:lstStyle/>
          <a:p>
            <a:endParaRPr lang="en-QA"/>
          </a:p>
        </p:txBody>
      </p:sp>
      <p:sp>
        <p:nvSpPr>
          <p:cNvPr id="11" name="Shape 8"/>
          <p:cNvSpPr/>
          <p:nvPr/>
        </p:nvSpPr>
        <p:spPr>
          <a:xfrm>
            <a:off x="6400800" y="2103120"/>
            <a:ext cx="566928" cy="566928"/>
          </a:xfrm>
          <a:prstGeom prst="ellipse">
            <a:avLst/>
          </a:prstGeom>
          <a:solidFill>
            <a:srgbClr val="E8A04C"/>
          </a:solidFill>
          <a:ln/>
          <a:effectLst>
            <a:outerShdw blurRad="88900" dist="38100" dir="5400000" algn="bl" rotWithShape="0">
              <a:srgbClr val="000000">
                <a:alpha val="16000"/>
              </a:srgbClr>
            </a:outerShdw>
          </a:effectLst>
        </p:spPr>
        <p:txBody>
          <a:bodyPr/>
          <a:lstStyle/>
          <a:p>
            <a:endParaRPr lang="en-QA"/>
          </a:p>
        </p:txBody>
      </p:sp>
      <p:pic>
        <p:nvPicPr>
          <p:cNvPr id="12" name="Image 1" descr="preencoded.png"/>
          <p:cNvPicPr>
            <a:picLocks noChangeAspect="1"/>
          </p:cNvPicPr>
          <p:nvPr/>
        </p:nvPicPr>
        <p:blipFill>
          <a:blip r:embed="rId4"/>
          <a:stretch>
            <a:fillRect/>
          </a:stretch>
        </p:blipFill>
        <p:spPr>
          <a:xfrm>
            <a:off x="6548201" y="2250521"/>
            <a:ext cx="272125" cy="272125"/>
          </a:xfrm>
          <a:prstGeom prst="rect">
            <a:avLst/>
          </a:prstGeom>
        </p:spPr>
      </p:pic>
      <p:sp>
        <p:nvSpPr>
          <p:cNvPr id="13" name="Text 9"/>
          <p:cNvSpPr/>
          <p:nvPr/>
        </p:nvSpPr>
        <p:spPr>
          <a:xfrm>
            <a:off x="7104888" y="2130552"/>
            <a:ext cx="4251960" cy="502920"/>
          </a:xfrm>
          <a:prstGeom prst="rect">
            <a:avLst/>
          </a:prstGeom>
          <a:noFill/>
          <a:ln/>
        </p:spPr>
        <p:txBody>
          <a:bodyPr wrap="square" lIns="0" tIns="0" rIns="0" bIns="0" rtlCol="0" anchor="ctr"/>
          <a:lstStyle/>
          <a:p>
            <a:pPr marL="0" indent="0">
              <a:buNone/>
            </a:pPr>
            <a:r>
              <a:rPr lang="en-US" sz="1550" b="1" dirty="0">
                <a:solidFill>
                  <a:srgbClr val="1A2733"/>
                </a:solidFill>
                <a:latin typeface="Cambria" pitchFamily="34" charset="0"/>
                <a:ea typeface="Cambria" pitchFamily="34" charset="-122"/>
                <a:cs typeface="Cambria" pitchFamily="34" charset="-120"/>
              </a:rPr>
              <a:t>2 · Factors to vary</a:t>
            </a:r>
            <a:endParaRPr lang="en-US" sz="1550" dirty="0"/>
          </a:p>
        </p:txBody>
      </p:sp>
      <p:sp>
        <p:nvSpPr>
          <p:cNvPr id="14" name="Text 10"/>
          <p:cNvSpPr/>
          <p:nvPr/>
        </p:nvSpPr>
        <p:spPr>
          <a:xfrm>
            <a:off x="6428232" y="2834640"/>
            <a:ext cx="4846320" cy="3017520"/>
          </a:xfrm>
          <a:prstGeom prst="rect">
            <a:avLst/>
          </a:prstGeom>
          <a:noFill/>
          <a:ln/>
        </p:spPr>
        <p:txBody>
          <a:bodyPr wrap="square" lIns="0" tIns="0" rIns="0" bIns="0" rtlCol="0" anchor="ctr"/>
          <a:lstStyle/>
          <a:p>
            <a:pPr marL="0" indent="0">
              <a:lnSpc>
                <a:spcPct val="145000"/>
              </a:lnSpc>
              <a:buNone/>
            </a:pPr>
            <a:r>
              <a:rPr lang="en-US" sz="1250" b="1" dirty="0">
                <a:solidFill>
                  <a:srgbClr val="1A2733"/>
                </a:solidFill>
                <a:latin typeface="Calibri" pitchFamily="34" charset="0"/>
                <a:ea typeface="Calibri" pitchFamily="34" charset="-122"/>
                <a:cs typeface="Calibri" pitchFamily="34" charset="-120"/>
              </a:rPr>
              <a:t>Privacy budget ε  </a:t>
            </a:r>
            <a:r>
              <a:rPr lang="en-US" sz="1250" dirty="0">
                <a:solidFill>
                  <a:srgbClr val="5E6E78"/>
                </a:solidFill>
                <a:latin typeface="Calibri" pitchFamily="34" charset="0"/>
                <a:ea typeface="Calibri" pitchFamily="34" charset="-122"/>
                <a:cs typeface="Calibri" pitchFamily="34" charset="-120"/>
              </a:rPr>
              <a:t>(noise strength)
</a:t>
            </a:r>
            <a:r>
              <a:rPr lang="en-US" sz="1250" b="1" dirty="0">
                <a:solidFill>
                  <a:srgbClr val="1A2733"/>
                </a:solidFill>
                <a:latin typeface="Calibri" pitchFamily="34" charset="0"/>
                <a:ea typeface="Calibri" pitchFamily="34" charset="-122"/>
                <a:cs typeface="Calibri" pitchFamily="34" charset="-120"/>
              </a:rPr>
              <a:t>LDP mechanism  </a:t>
            </a:r>
            <a:r>
              <a:rPr lang="en-US" sz="1250" dirty="0">
                <a:solidFill>
                  <a:srgbClr val="5E6E78"/>
                </a:solidFill>
                <a:latin typeface="Calibri" pitchFamily="34" charset="0"/>
                <a:ea typeface="Calibri" pitchFamily="34" charset="-122"/>
                <a:cs typeface="Calibri" pitchFamily="34" charset="-120"/>
              </a:rPr>
              <a:t>(e.g., BitRand vs. OME)
</a:t>
            </a:r>
            <a:r>
              <a:rPr lang="en-US" sz="1250" b="1" dirty="0">
                <a:solidFill>
                  <a:srgbClr val="1A2733"/>
                </a:solidFill>
                <a:latin typeface="Calibri" pitchFamily="34" charset="0"/>
                <a:ea typeface="Calibri" pitchFamily="34" charset="-122"/>
                <a:cs typeface="Calibri" pitchFamily="34" charset="-120"/>
              </a:rPr>
              <a:t>Model scale  </a:t>
            </a:r>
            <a:r>
              <a:rPr lang="en-US" sz="1250" dirty="0">
                <a:solidFill>
                  <a:srgbClr val="5E6E78"/>
                </a:solidFill>
                <a:latin typeface="Calibri" pitchFamily="34" charset="0"/>
                <a:ea typeface="Calibri" pitchFamily="34" charset="-122"/>
                <a:cs typeface="Calibri" pitchFamily="34" charset="-120"/>
              </a:rPr>
              <a:t>(LLM size / # parameters)
</a:t>
            </a:r>
            <a:r>
              <a:rPr lang="en-US" sz="1250" b="1" dirty="0">
                <a:solidFill>
                  <a:srgbClr val="1A2733"/>
                </a:solidFill>
                <a:latin typeface="Calibri" pitchFamily="34" charset="0"/>
                <a:ea typeface="Calibri" pitchFamily="34" charset="-122"/>
                <a:cs typeface="Calibri" pitchFamily="34" charset="-120"/>
              </a:rPr>
              <a:t>FL setup  </a:t>
            </a:r>
            <a:r>
              <a:rPr lang="en-US" sz="1250" dirty="0">
                <a:solidFill>
                  <a:srgbClr val="5E6E78"/>
                </a:solidFill>
                <a:latin typeface="Calibri" pitchFamily="34" charset="0"/>
                <a:ea typeface="Calibri" pitchFamily="34" charset="-122"/>
                <a:cs typeface="Calibri" pitchFamily="34" charset="-120"/>
              </a:rPr>
              <a:t>(# clients, rounds, batch / data size)
</a:t>
            </a:r>
            <a:r>
              <a:rPr lang="en-US" sz="1250" b="1" dirty="0">
                <a:solidFill>
                  <a:srgbClr val="1A2733"/>
                </a:solidFill>
                <a:latin typeface="Calibri" pitchFamily="34" charset="0"/>
                <a:ea typeface="Calibri" pitchFamily="34" charset="-122"/>
                <a:cs typeface="Calibri" pitchFamily="34" charset="-120"/>
              </a:rPr>
              <a:t>Fine-tune vs. full  </a:t>
            </a:r>
            <a:r>
              <a:rPr lang="en-US" sz="1250" dirty="0">
                <a:solidFill>
                  <a:srgbClr val="5E6E78"/>
                </a:solidFill>
                <a:latin typeface="Calibri" pitchFamily="34" charset="0"/>
                <a:ea typeface="Calibri" pitchFamily="34" charset="-122"/>
                <a:cs typeface="Calibri" pitchFamily="34" charset="-120"/>
              </a:rPr>
              <a:t>training regime
</a:t>
            </a:r>
            <a:r>
              <a:rPr lang="en-US" sz="1250" b="1" dirty="0">
                <a:solidFill>
                  <a:srgbClr val="1A2733"/>
                </a:solidFill>
                <a:latin typeface="Calibri" pitchFamily="34" charset="0"/>
                <a:ea typeface="Calibri" pitchFamily="34" charset="-122"/>
                <a:cs typeface="Calibri" pitchFamily="34" charset="-120"/>
              </a:rPr>
              <a:t>Attack budget  </a:t>
            </a:r>
            <a:r>
              <a:rPr lang="en-US" sz="1250" dirty="0">
                <a:solidFill>
                  <a:srgbClr val="5E6E78"/>
                </a:solidFill>
                <a:latin typeface="Calibri" pitchFamily="34" charset="0"/>
                <a:ea typeface="Calibri" pitchFamily="34" charset="-122"/>
                <a:cs typeface="Calibri" pitchFamily="34" charset="-120"/>
              </a:rPr>
              <a:t>(# chosen neurons r, noisy copies l)</a:t>
            </a:r>
            <a:endParaRPr lang="en-US" sz="1250" dirty="0"/>
          </a:p>
        </p:txBody>
      </p:sp>
      <p:sp>
        <p:nvSpPr>
          <p:cNvPr id="16" name="Shape 11"/>
          <p:cNvSpPr/>
          <p:nvPr/>
        </p:nvSpPr>
        <p:spPr>
          <a:xfrm>
            <a:off x="548640" y="6464808"/>
            <a:ext cx="109728" cy="109728"/>
          </a:xfrm>
          <a:prstGeom prst="ellipse">
            <a:avLst/>
          </a:prstGeom>
          <a:solidFill>
            <a:srgbClr val="0E8C8C"/>
          </a:solidFill>
          <a:ln/>
        </p:spPr>
        <p:txBody>
          <a:bodyPr/>
          <a:lstStyle/>
          <a:p>
            <a:endParaRPr lang="en-QA"/>
          </a:p>
        </p:txBody>
      </p:sp>
      <p:sp>
        <p:nvSpPr>
          <p:cNvPr id="17" name="Text 12"/>
          <p:cNvSpPr/>
          <p:nvPr/>
        </p:nvSpPr>
        <p:spPr>
          <a:xfrm>
            <a:off x="749808" y="6355080"/>
            <a:ext cx="8229600" cy="320040"/>
          </a:xfrm>
          <a:prstGeom prst="rect">
            <a:avLst/>
          </a:prstGeom>
          <a:noFill/>
          <a:ln/>
        </p:spPr>
        <p:txBody>
          <a:bodyPr wrap="square" lIns="0" tIns="0" rIns="0" bIns="0" rtlCol="0" anchor="ctr"/>
          <a:lstStyle/>
          <a:p>
            <a:pPr marL="0" indent="0">
              <a:buNone/>
            </a:pPr>
            <a:r>
              <a:rPr lang="en-US" sz="900" dirty="0">
                <a:solidFill>
                  <a:srgbClr val="5E6E78"/>
                </a:solidFill>
                <a:latin typeface="Calibri" pitchFamily="34" charset="0"/>
                <a:ea typeface="Calibri" pitchFamily="34" charset="-122"/>
                <a:cs typeface="Calibri" pitchFamily="34" charset="-120"/>
              </a:rPr>
              <a:t>AMIA × Federated Learning × LDP  —  Literature &amp; Proposed Study</a:t>
            </a:r>
            <a:endParaRPr lang="en-US" sz="900" dirty="0"/>
          </a:p>
        </p:txBody>
      </p:sp>
      <p:sp>
        <p:nvSpPr>
          <p:cNvPr id="18" name="Text 13"/>
          <p:cNvSpPr/>
          <p:nvPr/>
        </p:nvSpPr>
        <p:spPr>
          <a:xfrm>
            <a:off x="11338560" y="6355080"/>
            <a:ext cx="457200" cy="320040"/>
          </a:xfrm>
          <a:prstGeom prst="rect">
            <a:avLst/>
          </a:prstGeom>
          <a:noFill/>
          <a:ln/>
        </p:spPr>
        <p:txBody>
          <a:bodyPr wrap="square" rtlCol="0" anchor="ctr"/>
          <a:lstStyle/>
          <a:p>
            <a:pPr marL="0" indent="0" algn="r">
              <a:buNone/>
            </a:pPr>
            <a:r>
              <a:rPr lang="en-US" sz="1000" dirty="0">
                <a:solidFill>
                  <a:srgbClr val="5E6E78"/>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566928"/>
            <a:ext cx="128016" cy="128016"/>
          </a:xfrm>
          <a:prstGeom prst="ellipse">
            <a:avLst/>
          </a:prstGeom>
          <a:solidFill>
            <a:srgbClr val="0E8C8C"/>
          </a:solidFill>
          <a:ln/>
        </p:spPr>
        <p:txBody>
          <a:bodyPr/>
          <a:lstStyle/>
          <a:p>
            <a:endParaRPr lang="en-QA"/>
          </a:p>
        </p:txBody>
      </p:sp>
      <p:sp>
        <p:nvSpPr>
          <p:cNvPr id="3" name="Text 1"/>
          <p:cNvSpPr/>
          <p:nvPr/>
        </p:nvSpPr>
        <p:spPr>
          <a:xfrm>
            <a:off x="777240" y="457200"/>
            <a:ext cx="10515600" cy="320040"/>
          </a:xfrm>
          <a:prstGeom prst="rect">
            <a:avLst/>
          </a:prstGeom>
          <a:noFill/>
          <a:ln/>
        </p:spPr>
        <p:txBody>
          <a:bodyPr wrap="square" lIns="0" tIns="0" rIns="0" bIns="0" rtlCol="0" anchor="ctr"/>
          <a:lstStyle/>
          <a:p>
            <a:pPr marL="0" indent="0">
              <a:buNone/>
            </a:pPr>
            <a:r>
              <a:rPr lang="en-US" sz="1200" b="1" kern="0" spc="200" dirty="0">
                <a:solidFill>
                  <a:srgbClr val="0E8C8C"/>
                </a:solidFill>
                <a:latin typeface="Calibri" pitchFamily="34" charset="0"/>
                <a:ea typeface="Calibri" pitchFamily="34" charset="-122"/>
                <a:cs typeface="Calibri" pitchFamily="34" charset="-120"/>
              </a:rPr>
              <a:t>SECTION 3 · STAGES 3–4</a:t>
            </a:r>
            <a:endParaRPr lang="en-US" sz="1200" dirty="0"/>
          </a:p>
        </p:txBody>
      </p:sp>
      <p:sp>
        <p:nvSpPr>
          <p:cNvPr id="4" name="Text 2"/>
          <p:cNvSpPr/>
          <p:nvPr/>
        </p:nvSpPr>
        <p:spPr>
          <a:xfrm>
            <a:off x="548640" y="768096"/>
            <a:ext cx="11064240" cy="868680"/>
          </a:xfrm>
          <a:prstGeom prst="rect">
            <a:avLst/>
          </a:prstGeom>
          <a:noFill/>
          <a:ln/>
        </p:spPr>
        <p:txBody>
          <a:bodyPr wrap="square" lIns="0" tIns="0" rIns="0" bIns="0" rtlCol="0" anchor="ctr"/>
          <a:lstStyle/>
          <a:p>
            <a:pPr marL="0" indent="0">
              <a:buNone/>
            </a:pPr>
            <a:r>
              <a:rPr lang="en-US" sz="3000" b="1" dirty="0">
                <a:solidFill>
                  <a:srgbClr val="1A2733"/>
                </a:solidFill>
                <a:latin typeface="Cambria" pitchFamily="34" charset="0"/>
                <a:ea typeface="Cambria" pitchFamily="34" charset="-122"/>
                <a:cs typeface="Cambria" pitchFamily="34" charset="-120"/>
              </a:rPr>
              <a:t>Measure AMIA accuracy, then identify patterns</a:t>
            </a:r>
            <a:endParaRPr lang="en-US" sz="3000" dirty="0"/>
          </a:p>
        </p:txBody>
      </p:sp>
      <p:sp>
        <p:nvSpPr>
          <p:cNvPr id="5" name="Shape 3"/>
          <p:cNvSpPr/>
          <p:nvPr/>
        </p:nvSpPr>
        <p:spPr>
          <a:xfrm>
            <a:off x="640080" y="1874520"/>
            <a:ext cx="4937760" cy="4069080"/>
          </a:xfrm>
          <a:prstGeom prst="roundRect">
            <a:avLst>
              <a:gd name="adj" fmla="val 1573"/>
            </a:avLst>
          </a:prstGeom>
          <a:solidFill>
            <a:srgbClr val="FFFFFF"/>
          </a:solidFill>
          <a:ln w="12700">
            <a:solidFill>
              <a:srgbClr val="C9D8DC"/>
            </a:solidFill>
            <a:prstDash val="solid"/>
          </a:ln>
          <a:effectLst>
            <a:outerShdw blurRad="88900" dist="38100" dir="5400000" algn="bl" rotWithShape="0">
              <a:srgbClr val="000000">
                <a:alpha val="16000"/>
              </a:srgbClr>
            </a:outerShdw>
          </a:effectLst>
        </p:spPr>
        <p:txBody>
          <a:bodyPr/>
          <a:lstStyle/>
          <a:p>
            <a:endParaRPr lang="en-QA"/>
          </a:p>
        </p:txBody>
      </p:sp>
      <p:sp>
        <p:nvSpPr>
          <p:cNvPr id="6" name="Shape 4"/>
          <p:cNvSpPr/>
          <p:nvPr/>
        </p:nvSpPr>
        <p:spPr>
          <a:xfrm>
            <a:off x="868680" y="2103120"/>
            <a:ext cx="566928" cy="566928"/>
          </a:xfrm>
          <a:prstGeom prst="ellipse">
            <a:avLst/>
          </a:prstGeom>
          <a:solidFill>
            <a:srgbClr val="0E8C8C"/>
          </a:solidFill>
          <a:ln/>
          <a:effectLst>
            <a:outerShdw blurRad="88900" dist="38100" dir="5400000" algn="bl" rotWithShape="0">
              <a:srgbClr val="000000">
                <a:alpha val="16000"/>
              </a:srgbClr>
            </a:outerShdw>
          </a:effectLst>
        </p:spPr>
        <p:txBody>
          <a:bodyPr/>
          <a:lstStyle/>
          <a:p>
            <a:endParaRPr lang="en-QA"/>
          </a:p>
        </p:txBody>
      </p:sp>
      <p:pic>
        <p:nvPicPr>
          <p:cNvPr id="7" name="Image 0" descr="preencoded.png"/>
          <p:cNvPicPr>
            <a:picLocks noChangeAspect="1"/>
          </p:cNvPicPr>
          <p:nvPr/>
        </p:nvPicPr>
        <p:blipFill>
          <a:blip r:embed="rId3"/>
          <a:stretch>
            <a:fillRect/>
          </a:stretch>
        </p:blipFill>
        <p:spPr>
          <a:xfrm>
            <a:off x="1016081" y="2250521"/>
            <a:ext cx="272125" cy="272125"/>
          </a:xfrm>
          <a:prstGeom prst="rect">
            <a:avLst/>
          </a:prstGeom>
        </p:spPr>
      </p:pic>
      <p:sp>
        <p:nvSpPr>
          <p:cNvPr id="8" name="Text 5"/>
          <p:cNvSpPr/>
          <p:nvPr/>
        </p:nvSpPr>
        <p:spPr>
          <a:xfrm>
            <a:off x="1572768" y="2130552"/>
            <a:ext cx="3840480" cy="502920"/>
          </a:xfrm>
          <a:prstGeom prst="rect">
            <a:avLst/>
          </a:prstGeom>
          <a:noFill/>
          <a:ln/>
        </p:spPr>
        <p:txBody>
          <a:bodyPr wrap="square" lIns="0" tIns="0" rIns="0" bIns="0" rtlCol="0" anchor="ctr"/>
          <a:lstStyle/>
          <a:p>
            <a:pPr marL="0" indent="0">
              <a:buNone/>
            </a:pPr>
            <a:r>
              <a:rPr lang="en-US" sz="1550" b="1" dirty="0">
                <a:solidFill>
                  <a:srgbClr val="1A2733"/>
                </a:solidFill>
                <a:latin typeface="Cambria" pitchFamily="34" charset="0"/>
                <a:ea typeface="Cambria" pitchFamily="34" charset="-122"/>
                <a:cs typeface="Cambria" pitchFamily="34" charset="-120"/>
              </a:rPr>
              <a:t>3 · How we measure</a:t>
            </a:r>
            <a:endParaRPr lang="en-US" sz="1550" dirty="0"/>
          </a:p>
        </p:txBody>
      </p:sp>
      <p:sp>
        <p:nvSpPr>
          <p:cNvPr id="9" name="Text 6"/>
          <p:cNvSpPr/>
          <p:nvPr/>
        </p:nvSpPr>
        <p:spPr>
          <a:xfrm>
            <a:off x="896112" y="2834640"/>
            <a:ext cx="4434840" cy="2971800"/>
          </a:xfrm>
          <a:prstGeom prst="rect">
            <a:avLst/>
          </a:prstGeom>
          <a:noFill/>
          <a:ln/>
        </p:spPr>
        <p:txBody>
          <a:bodyPr wrap="square" lIns="0" tIns="0" rIns="0" bIns="0" rtlCol="0" anchor="ctr"/>
          <a:lstStyle/>
          <a:p>
            <a:pPr marL="0" indent="0">
              <a:lnSpc>
                <a:spcPct val="116000"/>
              </a:lnSpc>
              <a:buNone/>
            </a:pPr>
            <a:r>
              <a:rPr lang="en-US" sz="1250" dirty="0">
                <a:solidFill>
                  <a:srgbClr val="5E6E78"/>
                </a:solidFill>
                <a:latin typeface="Calibri" pitchFamily="34" charset="0"/>
                <a:ea typeface="Calibri" pitchFamily="34" charset="-122"/>
                <a:cs typeface="Calibri" pitchFamily="34" charset="-120"/>
              </a:rPr>
              <a:t>Run the membership “security game”: target sometimes IN, sometimes OUT of the client’s data.
Score = average of true-positive and true-negative rates (0.5 = random guessing, 1.0 = perfect).
Report attack success vs. ε for each factor setting; track model utility in parallel.</a:t>
            </a:r>
            <a:endParaRPr lang="en-US" sz="1250" dirty="0"/>
          </a:p>
        </p:txBody>
      </p:sp>
      <p:sp>
        <p:nvSpPr>
          <p:cNvPr id="10" name="Shape 7"/>
          <p:cNvSpPr/>
          <p:nvPr/>
        </p:nvSpPr>
        <p:spPr>
          <a:xfrm>
            <a:off x="5852160" y="1874520"/>
            <a:ext cx="5669280" cy="4069080"/>
          </a:xfrm>
          <a:prstGeom prst="roundRect">
            <a:avLst>
              <a:gd name="adj" fmla="val 1798"/>
            </a:avLst>
          </a:prstGeom>
          <a:solidFill>
            <a:srgbClr val="F4F8F8"/>
          </a:solidFill>
          <a:ln w="12700">
            <a:solidFill>
              <a:srgbClr val="C9D8DC"/>
            </a:solidFill>
            <a:prstDash val="solid"/>
          </a:ln>
        </p:spPr>
        <p:txBody>
          <a:bodyPr/>
          <a:lstStyle/>
          <a:p>
            <a:endParaRPr lang="en-QA"/>
          </a:p>
        </p:txBody>
      </p:sp>
      <p:sp>
        <p:nvSpPr>
          <p:cNvPr id="11" name="Text 8"/>
          <p:cNvSpPr/>
          <p:nvPr/>
        </p:nvSpPr>
        <p:spPr>
          <a:xfrm>
            <a:off x="6080760" y="2011680"/>
            <a:ext cx="5212080" cy="365760"/>
          </a:xfrm>
          <a:prstGeom prst="rect">
            <a:avLst/>
          </a:prstGeom>
          <a:noFill/>
          <a:ln/>
        </p:spPr>
        <p:txBody>
          <a:bodyPr wrap="square" lIns="0" tIns="0" rIns="0" bIns="0" rtlCol="0" anchor="ctr"/>
          <a:lstStyle/>
          <a:p>
            <a:pPr marL="0" indent="0">
              <a:buNone/>
            </a:pPr>
            <a:r>
              <a:rPr lang="en-US" sz="1150" b="1" dirty="0">
                <a:solidFill>
                  <a:srgbClr val="D9694C"/>
                </a:solidFill>
                <a:latin typeface="Calibri" pitchFamily="34" charset="0"/>
                <a:ea typeface="Calibri" pitchFamily="34" charset="-122"/>
                <a:cs typeface="Calibri" pitchFamily="34" charset="-120"/>
              </a:rPr>
              <a:t>4 · Expected pattern (ILLUSTRATIVE — not data)</a:t>
            </a:r>
            <a:endParaRPr lang="en-US" sz="1150" dirty="0"/>
          </a:p>
        </p:txBody>
      </p:sp>
      <p:graphicFrame>
        <p:nvGraphicFramePr>
          <p:cNvPr id="12" name="Chart 0"/>
          <p:cNvGraphicFramePr/>
          <p:nvPr/>
        </p:nvGraphicFramePr>
        <p:xfrm>
          <a:off x="5989320" y="2395728"/>
          <a:ext cx="5394960" cy="3429000"/>
        </p:xfrm>
        <a:graphic>
          <a:graphicData uri="http://schemas.openxmlformats.org/drawingml/2006/chart">
            <c:chart xmlns:c="http://schemas.openxmlformats.org/drawingml/2006/chart" xmlns:r="http://schemas.openxmlformats.org/officeDocument/2006/relationships" r:id="rId4"/>
          </a:graphicData>
        </a:graphic>
      </p:graphicFrame>
      <p:sp>
        <p:nvSpPr>
          <p:cNvPr id="14" name="Shape 9"/>
          <p:cNvSpPr/>
          <p:nvPr/>
        </p:nvSpPr>
        <p:spPr>
          <a:xfrm>
            <a:off x="548640" y="6464808"/>
            <a:ext cx="109728" cy="109728"/>
          </a:xfrm>
          <a:prstGeom prst="ellipse">
            <a:avLst/>
          </a:prstGeom>
          <a:solidFill>
            <a:srgbClr val="0E8C8C"/>
          </a:solidFill>
          <a:ln/>
        </p:spPr>
        <p:txBody>
          <a:bodyPr/>
          <a:lstStyle/>
          <a:p>
            <a:endParaRPr lang="en-QA"/>
          </a:p>
        </p:txBody>
      </p:sp>
      <p:sp>
        <p:nvSpPr>
          <p:cNvPr id="15" name="Text 10"/>
          <p:cNvSpPr/>
          <p:nvPr/>
        </p:nvSpPr>
        <p:spPr>
          <a:xfrm>
            <a:off x="749808" y="6355080"/>
            <a:ext cx="8229600" cy="320040"/>
          </a:xfrm>
          <a:prstGeom prst="rect">
            <a:avLst/>
          </a:prstGeom>
          <a:noFill/>
          <a:ln/>
        </p:spPr>
        <p:txBody>
          <a:bodyPr wrap="square" lIns="0" tIns="0" rIns="0" bIns="0" rtlCol="0" anchor="ctr"/>
          <a:lstStyle/>
          <a:p>
            <a:pPr marL="0" indent="0">
              <a:buNone/>
            </a:pPr>
            <a:r>
              <a:rPr lang="en-US" sz="900" dirty="0">
                <a:solidFill>
                  <a:srgbClr val="5E6E78"/>
                </a:solidFill>
                <a:latin typeface="Calibri" pitchFamily="34" charset="0"/>
                <a:ea typeface="Calibri" pitchFamily="34" charset="-122"/>
                <a:cs typeface="Calibri" pitchFamily="34" charset="-120"/>
              </a:rPr>
              <a:t>AMIA × Federated Learning × LDP  —  Literature &amp; Proposed Study</a:t>
            </a:r>
            <a:endParaRPr lang="en-US" sz="900" dirty="0"/>
          </a:p>
        </p:txBody>
      </p:sp>
      <p:sp>
        <p:nvSpPr>
          <p:cNvPr id="16" name="Text 11"/>
          <p:cNvSpPr/>
          <p:nvPr/>
        </p:nvSpPr>
        <p:spPr>
          <a:xfrm>
            <a:off x="11338560" y="6355080"/>
            <a:ext cx="457200" cy="320040"/>
          </a:xfrm>
          <a:prstGeom prst="rect">
            <a:avLst/>
          </a:prstGeom>
          <a:noFill/>
          <a:ln/>
        </p:spPr>
        <p:txBody>
          <a:bodyPr wrap="square" rtlCol="0" anchor="ctr"/>
          <a:lstStyle/>
          <a:p>
            <a:pPr marL="0" indent="0" algn="r">
              <a:buNone/>
            </a:pPr>
            <a:r>
              <a:rPr lang="en-US" sz="1000" dirty="0">
                <a:solidFill>
                  <a:srgbClr val="5E6E78"/>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566928"/>
            <a:ext cx="128016" cy="128016"/>
          </a:xfrm>
          <a:prstGeom prst="ellipse">
            <a:avLst/>
          </a:prstGeom>
          <a:solidFill>
            <a:srgbClr val="0E8C8C"/>
          </a:solidFill>
          <a:ln/>
        </p:spPr>
        <p:txBody>
          <a:bodyPr/>
          <a:lstStyle/>
          <a:p>
            <a:endParaRPr lang="en-QA"/>
          </a:p>
        </p:txBody>
      </p:sp>
      <p:sp>
        <p:nvSpPr>
          <p:cNvPr id="3" name="Text 1"/>
          <p:cNvSpPr/>
          <p:nvPr/>
        </p:nvSpPr>
        <p:spPr>
          <a:xfrm>
            <a:off x="777240" y="457200"/>
            <a:ext cx="10515600" cy="320040"/>
          </a:xfrm>
          <a:prstGeom prst="rect">
            <a:avLst/>
          </a:prstGeom>
          <a:noFill/>
          <a:ln/>
        </p:spPr>
        <p:txBody>
          <a:bodyPr wrap="square" lIns="0" tIns="0" rIns="0" bIns="0" rtlCol="0" anchor="ctr"/>
          <a:lstStyle/>
          <a:p>
            <a:pPr marL="0" indent="0">
              <a:buNone/>
            </a:pPr>
            <a:r>
              <a:rPr lang="en-US" sz="1200" b="1" kern="0" spc="200" dirty="0">
                <a:solidFill>
                  <a:srgbClr val="0E8C8C"/>
                </a:solidFill>
                <a:latin typeface="Calibri" pitchFamily="34" charset="0"/>
                <a:ea typeface="Calibri" pitchFamily="34" charset="-122"/>
                <a:cs typeface="Calibri" pitchFamily="34" charset="-120"/>
              </a:rPr>
              <a:t>SECTION 3 · STAGES 5–6</a:t>
            </a:r>
            <a:endParaRPr lang="en-US" sz="1200" dirty="0"/>
          </a:p>
        </p:txBody>
      </p:sp>
      <p:sp>
        <p:nvSpPr>
          <p:cNvPr id="4" name="Text 2"/>
          <p:cNvSpPr/>
          <p:nvPr/>
        </p:nvSpPr>
        <p:spPr>
          <a:xfrm>
            <a:off x="548640" y="768096"/>
            <a:ext cx="11064240" cy="868680"/>
          </a:xfrm>
          <a:prstGeom prst="rect">
            <a:avLst/>
          </a:prstGeom>
          <a:noFill/>
          <a:ln/>
        </p:spPr>
        <p:txBody>
          <a:bodyPr wrap="square" lIns="0" tIns="0" rIns="0" bIns="0" rtlCol="0" anchor="ctr"/>
          <a:lstStyle/>
          <a:p>
            <a:pPr marL="0" indent="0">
              <a:buNone/>
            </a:pPr>
            <a:r>
              <a:rPr lang="en-US" sz="3000" b="1" dirty="0">
                <a:solidFill>
                  <a:srgbClr val="1A2733"/>
                </a:solidFill>
                <a:latin typeface="Cambria" pitchFamily="34" charset="0"/>
                <a:ea typeface="Cambria" pitchFamily="34" charset="-122"/>
                <a:cs typeface="Cambria" pitchFamily="34" charset="-120"/>
              </a:rPr>
              <a:t>Evaluate, then trial alternative defenses</a:t>
            </a:r>
            <a:endParaRPr lang="en-US" sz="3000" dirty="0"/>
          </a:p>
        </p:txBody>
      </p:sp>
      <p:sp>
        <p:nvSpPr>
          <p:cNvPr id="5" name="Text 3"/>
          <p:cNvSpPr/>
          <p:nvPr/>
        </p:nvSpPr>
        <p:spPr>
          <a:xfrm>
            <a:off x="640080" y="1783080"/>
            <a:ext cx="10881360" cy="548640"/>
          </a:xfrm>
          <a:prstGeom prst="rect">
            <a:avLst/>
          </a:prstGeom>
          <a:noFill/>
          <a:ln/>
        </p:spPr>
        <p:txBody>
          <a:bodyPr wrap="square" lIns="0" tIns="0" rIns="0" bIns="0" rtlCol="0" anchor="ctr"/>
          <a:lstStyle/>
          <a:p>
            <a:pPr marL="0" indent="0">
              <a:lnSpc>
                <a:spcPct val="105000"/>
              </a:lnSpc>
              <a:buNone/>
            </a:pPr>
            <a:r>
              <a:rPr lang="en-US" sz="1350" dirty="0">
                <a:solidFill>
                  <a:srgbClr val="1A2733"/>
                </a:solidFill>
                <a:latin typeface="Calibri" pitchFamily="34" charset="0"/>
                <a:ea typeface="Calibri" pitchFamily="34" charset="-122"/>
                <a:cs typeface="Calibri" pitchFamily="34" charset="-120"/>
              </a:rPr>
              <a:t>Evaluation asks two things together: did attack accuracy drop, and did the model stay useful? A defense only counts if both hold.</a:t>
            </a:r>
            <a:endParaRPr lang="en-US" sz="1350" dirty="0"/>
          </a:p>
        </p:txBody>
      </p:sp>
      <p:sp>
        <p:nvSpPr>
          <p:cNvPr id="6" name="Shape 4"/>
          <p:cNvSpPr/>
          <p:nvPr/>
        </p:nvSpPr>
        <p:spPr>
          <a:xfrm>
            <a:off x="640080" y="2514600"/>
            <a:ext cx="5349240" cy="1755648"/>
          </a:xfrm>
          <a:prstGeom prst="roundRect">
            <a:avLst>
              <a:gd name="adj" fmla="val 3646"/>
            </a:avLst>
          </a:prstGeom>
          <a:solidFill>
            <a:srgbClr val="FFFFFF"/>
          </a:solidFill>
          <a:ln w="12700">
            <a:solidFill>
              <a:srgbClr val="C9D8DC"/>
            </a:solidFill>
            <a:prstDash val="solid"/>
          </a:ln>
          <a:effectLst>
            <a:outerShdw blurRad="88900" dist="38100" dir="5400000" algn="bl" rotWithShape="0">
              <a:srgbClr val="000000">
                <a:alpha val="16000"/>
              </a:srgbClr>
            </a:outerShdw>
          </a:effectLst>
        </p:spPr>
        <p:txBody>
          <a:bodyPr/>
          <a:lstStyle/>
          <a:p>
            <a:endParaRPr lang="en-QA"/>
          </a:p>
        </p:txBody>
      </p:sp>
      <p:sp>
        <p:nvSpPr>
          <p:cNvPr id="7" name="Shape 5"/>
          <p:cNvSpPr/>
          <p:nvPr/>
        </p:nvSpPr>
        <p:spPr>
          <a:xfrm>
            <a:off x="868680" y="2743200"/>
            <a:ext cx="566928" cy="566928"/>
          </a:xfrm>
          <a:prstGeom prst="ellipse">
            <a:avLst/>
          </a:prstGeom>
          <a:solidFill>
            <a:srgbClr val="E8A04C"/>
          </a:solidFill>
          <a:ln/>
          <a:effectLst>
            <a:outerShdw blurRad="88900" dist="38100" dir="5400000" algn="bl" rotWithShape="0">
              <a:srgbClr val="000000">
                <a:alpha val="16000"/>
              </a:srgbClr>
            </a:outerShdw>
          </a:effectLst>
        </p:spPr>
        <p:txBody>
          <a:bodyPr/>
          <a:lstStyle/>
          <a:p>
            <a:endParaRPr lang="en-QA"/>
          </a:p>
        </p:txBody>
      </p:sp>
      <p:pic>
        <p:nvPicPr>
          <p:cNvPr id="8" name="Image 0" descr="preencoded.png"/>
          <p:cNvPicPr>
            <a:picLocks noChangeAspect="1"/>
          </p:cNvPicPr>
          <p:nvPr/>
        </p:nvPicPr>
        <p:blipFill>
          <a:blip r:embed="rId3"/>
          <a:stretch>
            <a:fillRect/>
          </a:stretch>
        </p:blipFill>
        <p:spPr>
          <a:xfrm>
            <a:off x="1016081" y="2890601"/>
            <a:ext cx="272125" cy="272125"/>
          </a:xfrm>
          <a:prstGeom prst="rect">
            <a:avLst/>
          </a:prstGeom>
        </p:spPr>
      </p:pic>
      <p:sp>
        <p:nvSpPr>
          <p:cNvPr id="9" name="Text 6"/>
          <p:cNvSpPr/>
          <p:nvPr/>
        </p:nvSpPr>
        <p:spPr>
          <a:xfrm>
            <a:off x="1572768" y="2770632"/>
            <a:ext cx="4251960" cy="502920"/>
          </a:xfrm>
          <a:prstGeom prst="rect">
            <a:avLst/>
          </a:prstGeom>
          <a:noFill/>
          <a:ln/>
        </p:spPr>
        <p:txBody>
          <a:bodyPr wrap="square" lIns="0" tIns="0" rIns="0" bIns="0" rtlCol="0" anchor="ctr"/>
          <a:lstStyle/>
          <a:p>
            <a:pPr marL="0" indent="0">
              <a:buNone/>
            </a:pPr>
            <a:r>
              <a:rPr lang="en-US" sz="1550" b="1" dirty="0">
                <a:solidFill>
                  <a:srgbClr val="1A2733"/>
                </a:solidFill>
                <a:latin typeface="Cambria" pitchFamily="34" charset="0"/>
                <a:ea typeface="Cambria" pitchFamily="34" charset="-122"/>
                <a:cs typeface="Cambria" pitchFamily="34" charset="-120"/>
              </a:rPr>
              <a:t>Noisy gradients (DPSGD)</a:t>
            </a:r>
            <a:endParaRPr lang="en-US" sz="1550" dirty="0"/>
          </a:p>
        </p:txBody>
      </p:sp>
      <p:sp>
        <p:nvSpPr>
          <p:cNvPr id="10" name="Text 7"/>
          <p:cNvSpPr/>
          <p:nvPr/>
        </p:nvSpPr>
        <p:spPr>
          <a:xfrm>
            <a:off x="896112" y="3337560"/>
            <a:ext cx="4837176" cy="795528"/>
          </a:xfrm>
          <a:prstGeom prst="rect">
            <a:avLst/>
          </a:prstGeom>
          <a:noFill/>
          <a:ln/>
        </p:spPr>
        <p:txBody>
          <a:bodyPr wrap="square" lIns="0" tIns="0" rIns="0" bIns="0" rtlCol="0" anchor="t"/>
          <a:lstStyle/>
          <a:p>
            <a:pPr marL="0" indent="0">
              <a:lnSpc>
                <a:spcPct val="105000"/>
              </a:lnSpc>
              <a:buNone/>
            </a:pPr>
            <a:r>
              <a:rPr lang="en-US" sz="1250" dirty="0">
                <a:solidFill>
                  <a:srgbClr val="5E6E78"/>
                </a:solidFill>
                <a:latin typeface="Calibri" pitchFamily="34" charset="0"/>
                <a:ea typeface="Calibri" pitchFamily="34" charset="-122"/>
                <a:cs typeface="Calibri" pitchFamily="34" charset="-120"/>
              </a:rPr>
              <a:t>Add calibrated noise to gradients, not data. The paper notes attackers may average it away over rounds — test that here.</a:t>
            </a:r>
            <a:endParaRPr lang="en-US" sz="1250" dirty="0"/>
          </a:p>
        </p:txBody>
      </p:sp>
      <p:sp>
        <p:nvSpPr>
          <p:cNvPr id="11" name="Shape 8"/>
          <p:cNvSpPr/>
          <p:nvPr/>
        </p:nvSpPr>
        <p:spPr>
          <a:xfrm>
            <a:off x="6172200" y="2514600"/>
            <a:ext cx="5349240" cy="1755648"/>
          </a:xfrm>
          <a:prstGeom prst="roundRect">
            <a:avLst>
              <a:gd name="adj" fmla="val 3646"/>
            </a:avLst>
          </a:prstGeom>
          <a:solidFill>
            <a:srgbClr val="FFFFFF"/>
          </a:solidFill>
          <a:ln w="12700">
            <a:solidFill>
              <a:srgbClr val="C9D8DC"/>
            </a:solidFill>
            <a:prstDash val="solid"/>
          </a:ln>
          <a:effectLst>
            <a:outerShdw blurRad="88900" dist="38100" dir="5400000" algn="bl" rotWithShape="0">
              <a:srgbClr val="000000">
                <a:alpha val="16000"/>
              </a:srgbClr>
            </a:outerShdw>
          </a:effectLst>
        </p:spPr>
        <p:txBody>
          <a:bodyPr/>
          <a:lstStyle/>
          <a:p>
            <a:endParaRPr lang="en-QA"/>
          </a:p>
        </p:txBody>
      </p:sp>
      <p:sp>
        <p:nvSpPr>
          <p:cNvPr id="12" name="Shape 9"/>
          <p:cNvSpPr/>
          <p:nvPr/>
        </p:nvSpPr>
        <p:spPr>
          <a:xfrm>
            <a:off x="6400800" y="2743200"/>
            <a:ext cx="566928" cy="566928"/>
          </a:xfrm>
          <a:prstGeom prst="ellipse">
            <a:avLst/>
          </a:prstGeom>
          <a:solidFill>
            <a:srgbClr val="E8A04C"/>
          </a:solidFill>
          <a:ln/>
          <a:effectLst>
            <a:outerShdw blurRad="88900" dist="38100" dir="5400000" algn="bl" rotWithShape="0">
              <a:srgbClr val="000000">
                <a:alpha val="16000"/>
              </a:srgbClr>
            </a:outerShdw>
          </a:effectLst>
        </p:spPr>
        <p:txBody>
          <a:bodyPr/>
          <a:lstStyle/>
          <a:p>
            <a:endParaRPr lang="en-QA"/>
          </a:p>
        </p:txBody>
      </p:sp>
      <p:pic>
        <p:nvPicPr>
          <p:cNvPr id="13" name="Image 1" descr="preencoded.png"/>
          <p:cNvPicPr>
            <a:picLocks noChangeAspect="1"/>
          </p:cNvPicPr>
          <p:nvPr/>
        </p:nvPicPr>
        <p:blipFill>
          <a:blip r:embed="rId4"/>
          <a:stretch>
            <a:fillRect/>
          </a:stretch>
        </p:blipFill>
        <p:spPr>
          <a:xfrm>
            <a:off x="6548201" y="2890601"/>
            <a:ext cx="272125" cy="272125"/>
          </a:xfrm>
          <a:prstGeom prst="rect">
            <a:avLst/>
          </a:prstGeom>
        </p:spPr>
      </p:pic>
      <p:sp>
        <p:nvSpPr>
          <p:cNvPr id="14" name="Text 10"/>
          <p:cNvSpPr/>
          <p:nvPr/>
        </p:nvSpPr>
        <p:spPr>
          <a:xfrm>
            <a:off x="7104888" y="2770632"/>
            <a:ext cx="4251960" cy="502920"/>
          </a:xfrm>
          <a:prstGeom prst="rect">
            <a:avLst/>
          </a:prstGeom>
          <a:noFill/>
          <a:ln/>
        </p:spPr>
        <p:txBody>
          <a:bodyPr wrap="square" lIns="0" tIns="0" rIns="0" bIns="0" rtlCol="0" anchor="ctr"/>
          <a:lstStyle/>
          <a:p>
            <a:pPr marL="0" indent="0">
              <a:buNone/>
            </a:pPr>
            <a:r>
              <a:rPr lang="en-US" sz="1550" b="1" dirty="0">
                <a:solidFill>
                  <a:srgbClr val="1A2733"/>
                </a:solidFill>
                <a:latin typeface="Cambria" pitchFamily="34" charset="0"/>
                <a:ea typeface="Cambria" pitchFamily="34" charset="-122"/>
                <a:cs typeface="Cambria" pitchFamily="34" charset="-120"/>
              </a:rPr>
              <a:t>Gradient clipping / aggregation</a:t>
            </a:r>
            <a:endParaRPr lang="en-US" sz="1550" dirty="0"/>
          </a:p>
        </p:txBody>
      </p:sp>
      <p:sp>
        <p:nvSpPr>
          <p:cNvPr id="15" name="Text 11"/>
          <p:cNvSpPr/>
          <p:nvPr/>
        </p:nvSpPr>
        <p:spPr>
          <a:xfrm>
            <a:off x="6428232" y="3337560"/>
            <a:ext cx="4837176" cy="795528"/>
          </a:xfrm>
          <a:prstGeom prst="rect">
            <a:avLst/>
          </a:prstGeom>
          <a:noFill/>
          <a:ln/>
        </p:spPr>
        <p:txBody>
          <a:bodyPr wrap="square" lIns="0" tIns="0" rIns="0" bIns="0" rtlCol="0" anchor="t"/>
          <a:lstStyle/>
          <a:p>
            <a:pPr marL="0" indent="0">
              <a:lnSpc>
                <a:spcPct val="105000"/>
              </a:lnSpc>
              <a:buNone/>
            </a:pPr>
            <a:r>
              <a:rPr lang="en-US" sz="1250" dirty="0">
                <a:solidFill>
                  <a:srgbClr val="5E6E78"/>
                </a:solidFill>
                <a:latin typeface="Calibri" pitchFamily="34" charset="0"/>
                <a:ea typeface="Calibri" pitchFamily="34" charset="-122"/>
                <a:cs typeface="Calibri" pitchFamily="34" charset="-120"/>
              </a:rPr>
              <a:t>Secure aggregation or clipping to blunt any single neuron’s readable signal.</a:t>
            </a:r>
            <a:endParaRPr lang="en-US" sz="1250" dirty="0"/>
          </a:p>
        </p:txBody>
      </p:sp>
      <p:sp>
        <p:nvSpPr>
          <p:cNvPr id="16" name="Shape 12"/>
          <p:cNvSpPr/>
          <p:nvPr/>
        </p:nvSpPr>
        <p:spPr>
          <a:xfrm>
            <a:off x="640080" y="4389120"/>
            <a:ext cx="5349240" cy="1755648"/>
          </a:xfrm>
          <a:prstGeom prst="roundRect">
            <a:avLst>
              <a:gd name="adj" fmla="val 3646"/>
            </a:avLst>
          </a:prstGeom>
          <a:solidFill>
            <a:srgbClr val="FFFFFF"/>
          </a:solidFill>
          <a:ln w="12700">
            <a:solidFill>
              <a:srgbClr val="C9D8DC"/>
            </a:solidFill>
            <a:prstDash val="solid"/>
          </a:ln>
          <a:effectLst>
            <a:outerShdw blurRad="88900" dist="38100" dir="5400000" algn="bl" rotWithShape="0">
              <a:srgbClr val="000000">
                <a:alpha val="16000"/>
              </a:srgbClr>
            </a:outerShdw>
          </a:effectLst>
        </p:spPr>
        <p:txBody>
          <a:bodyPr/>
          <a:lstStyle/>
          <a:p>
            <a:endParaRPr lang="en-QA"/>
          </a:p>
        </p:txBody>
      </p:sp>
      <p:sp>
        <p:nvSpPr>
          <p:cNvPr id="17" name="Shape 13"/>
          <p:cNvSpPr/>
          <p:nvPr/>
        </p:nvSpPr>
        <p:spPr>
          <a:xfrm>
            <a:off x="868680" y="4617720"/>
            <a:ext cx="566928" cy="566928"/>
          </a:xfrm>
          <a:prstGeom prst="ellipse">
            <a:avLst/>
          </a:prstGeom>
          <a:solidFill>
            <a:srgbClr val="0E8C8C"/>
          </a:solidFill>
          <a:ln/>
          <a:effectLst>
            <a:outerShdw blurRad="88900" dist="38100" dir="5400000" algn="bl" rotWithShape="0">
              <a:srgbClr val="000000">
                <a:alpha val="16000"/>
              </a:srgbClr>
            </a:outerShdw>
          </a:effectLst>
        </p:spPr>
        <p:txBody>
          <a:bodyPr/>
          <a:lstStyle/>
          <a:p>
            <a:endParaRPr lang="en-QA"/>
          </a:p>
        </p:txBody>
      </p:sp>
      <p:pic>
        <p:nvPicPr>
          <p:cNvPr id="18" name="Image 2" descr="preencoded.png"/>
          <p:cNvPicPr>
            <a:picLocks noChangeAspect="1"/>
          </p:cNvPicPr>
          <p:nvPr/>
        </p:nvPicPr>
        <p:blipFill>
          <a:blip r:embed="rId5"/>
          <a:stretch>
            <a:fillRect/>
          </a:stretch>
        </p:blipFill>
        <p:spPr>
          <a:xfrm>
            <a:off x="1016081" y="4765121"/>
            <a:ext cx="272125" cy="272125"/>
          </a:xfrm>
          <a:prstGeom prst="rect">
            <a:avLst/>
          </a:prstGeom>
        </p:spPr>
      </p:pic>
      <p:sp>
        <p:nvSpPr>
          <p:cNvPr id="19" name="Text 14"/>
          <p:cNvSpPr/>
          <p:nvPr/>
        </p:nvSpPr>
        <p:spPr>
          <a:xfrm>
            <a:off x="1572768" y="4645152"/>
            <a:ext cx="4251960" cy="502920"/>
          </a:xfrm>
          <a:prstGeom prst="rect">
            <a:avLst/>
          </a:prstGeom>
          <a:noFill/>
          <a:ln/>
        </p:spPr>
        <p:txBody>
          <a:bodyPr wrap="square" lIns="0" tIns="0" rIns="0" bIns="0" rtlCol="0" anchor="ctr"/>
          <a:lstStyle/>
          <a:p>
            <a:pPr marL="0" indent="0">
              <a:buNone/>
            </a:pPr>
            <a:r>
              <a:rPr lang="en-US" sz="1550" b="1" dirty="0">
                <a:solidFill>
                  <a:srgbClr val="1A2733"/>
                </a:solidFill>
                <a:latin typeface="Cambria" pitchFamily="34" charset="0"/>
                <a:ea typeface="Cambria" pitchFamily="34" charset="-122"/>
                <a:cs typeface="Cambria" pitchFamily="34" charset="-120"/>
              </a:rPr>
              <a:t>Anomaly / neuron auditing</a:t>
            </a:r>
            <a:endParaRPr lang="en-US" sz="1550" dirty="0"/>
          </a:p>
        </p:txBody>
      </p:sp>
      <p:sp>
        <p:nvSpPr>
          <p:cNvPr id="20" name="Text 15"/>
          <p:cNvSpPr/>
          <p:nvPr/>
        </p:nvSpPr>
        <p:spPr>
          <a:xfrm>
            <a:off x="896112" y="5212080"/>
            <a:ext cx="4837176" cy="795528"/>
          </a:xfrm>
          <a:prstGeom prst="rect">
            <a:avLst/>
          </a:prstGeom>
          <a:noFill/>
          <a:ln/>
        </p:spPr>
        <p:txBody>
          <a:bodyPr wrap="square" lIns="0" tIns="0" rIns="0" bIns="0" rtlCol="0" anchor="t"/>
          <a:lstStyle/>
          <a:p>
            <a:pPr marL="0" indent="0">
              <a:lnSpc>
                <a:spcPct val="105000"/>
              </a:lnSpc>
              <a:buNone/>
            </a:pPr>
            <a:r>
              <a:rPr lang="en-US" sz="1250" dirty="0">
                <a:solidFill>
                  <a:srgbClr val="5E6E78"/>
                </a:solidFill>
                <a:latin typeface="Calibri" pitchFamily="34" charset="0"/>
                <a:ea typeface="Calibri" pitchFamily="34" charset="-122"/>
                <a:cs typeface="Calibri" pitchFamily="34" charset="-120"/>
              </a:rPr>
              <a:t>Detect the “chosen neuron” by its one-record firing pattern (weights look normal — so probe behaviour).</a:t>
            </a:r>
            <a:endParaRPr lang="en-US" sz="1250" dirty="0"/>
          </a:p>
        </p:txBody>
      </p:sp>
      <p:sp>
        <p:nvSpPr>
          <p:cNvPr id="21" name="Shape 16"/>
          <p:cNvSpPr/>
          <p:nvPr/>
        </p:nvSpPr>
        <p:spPr>
          <a:xfrm>
            <a:off x="6172200" y="4389120"/>
            <a:ext cx="5349240" cy="1755648"/>
          </a:xfrm>
          <a:prstGeom prst="roundRect">
            <a:avLst>
              <a:gd name="adj" fmla="val 3646"/>
            </a:avLst>
          </a:prstGeom>
          <a:solidFill>
            <a:srgbClr val="FFFFFF"/>
          </a:solidFill>
          <a:ln w="12700">
            <a:solidFill>
              <a:srgbClr val="C9D8DC"/>
            </a:solidFill>
            <a:prstDash val="solid"/>
          </a:ln>
          <a:effectLst>
            <a:outerShdw blurRad="88900" dist="38100" dir="5400000" algn="bl" rotWithShape="0">
              <a:srgbClr val="000000">
                <a:alpha val="16000"/>
              </a:srgbClr>
            </a:outerShdw>
          </a:effectLst>
        </p:spPr>
        <p:txBody>
          <a:bodyPr/>
          <a:lstStyle/>
          <a:p>
            <a:endParaRPr lang="en-QA"/>
          </a:p>
        </p:txBody>
      </p:sp>
      <p:sp>
        <p:nvSpPr>
          <p:cNvPr id="22" name="Shape 17"/>
          <p:cNvSpPr/>
          <p:nvPr/>
        </p:nvSpPr>
        <p:spPr>
          <a:xfrm>
            <a:off x="6400800" y="4617720"/>
            <a:ext cx="566928" cy="566928"/>
          </a:xfrm>
          <a:prstGeom prst="ellipse">
            <a:avLst/>
          </a:prstGeom>
          <a:solidFill>
            <a:srgbClr val="0E8C8C"/>
          </a:solidFill>
          <a:ln/>
          <a:effectLst>
            <a:outerShdw blurRad="88900" dist="38100" dir="5400000" algn="bl" rotWithShape="0">
              <a:srgbClr val="000000">
                <a:alpha val="16000"/>
              </a:srgbClr>
            </a:outerShdw>
          </a:effectLst>
        </p:spPr>
        <p:txBody>
          <a:bodyPr/>
          <a:lstStyle/>
          <a:p>
            <a:endParaRPr lang="en-QA"/>
          </a:p>
        </p:txBody>
      </p:sp>
      <p:pic>
        <p:nvPicPr>
          <p:cNvPr id="23" name="Image 3" descr="preencoded.png"/>
          <p:cNvPicPr>
            <a:picLocks noChangeAspect="1"/>
          </p:cNvPicPr>
          <p:nvPr/>
        </p:nvPicPr>
        <p:blipFill>
          <a:blip r:embed="rId6"/>
          <a:stretch>
            <a:fillRect/>
          </a:stretch>
        </p:blipFill>
        <p:spPr>
          <a:xfrm>
            <a:off x="6548201" y="4765121"/>
            <a:ext cx="272125" cy="272125"/>
          </a:xfrm>
          <a:prstGeom prst="rect">
            <a:avLst/>
          </a:prstGeom>
        </p:spPr>
      </p:pic>
      <p:sp>
        <p:nvSpPr>
          <p:cNvPr id="24" name="Text 18"/>
          <p:cNvSpPr/>
          <p:nvPr/>
        </p:nvSpPr>
        <p:spPr>
          <a:xfrm>
            <a:off x="7104888" y="4645152"/>
            <a:ext cx="4251960" cy="502920"/>
          </a:xfrm>
          <a:prstGeom prst="rect">
            <a:avLst/>
          </a:prstGeom>
          <a:noFill/>
          <a:ln/>
        </p:spPr>
        <p:txBody>
          <a:bodyPr wrap="square" lIns="0" tIns="0" rIns="0" bIns="0" rtlCol="0" anchor="ctr"/>
          <a:lstStyle/>
          <a:p>
            <a:pPr marL="0" indent="0">
              <a:buNone/>
            </a:pPr>
            <a:r>
              <a:rPr lang="en-US" sz="1550" b="1" dirty="0">
                <a:solidFill>
                  <a:srgbClr val="1A2733"/>
                </a:solidFill>
                <a:latin typeface="Cambria" pitchFamily="34" charset="0"/>
                <a:ea typeface="Cambria" pitchFamily="34" charset="-122"/>
                <a:cs typeface="Cambria" pitchFamily="34" charset="-120"/>
              </a:rPr>
              <a:t>Architecture / protocol checks</a:t>
            </a:r>
            <a:endParaRPr lang="en-US" sz="1550" dirty="0"/>
          </a:p>
        </p:txBody>
      </p:sp>
      <p:sp>
        <p:nvSpPr>
          <p:cNvPr id="25" name="Text 19"/>
          <p:cNvSpPr/>
          <p:nvPr/>
        </p:nvSpPr>
        <p:spPr>
          <a:xfrm>
            <a:off x="6428232" y="5212080"/>
            <a:ext cx="4837176" cy="795528"/>
          </a:xfrm>
          <a:prstGeom prst="rect">
            <a:avLst/>
          </a:prstGeom>
          <a:noFill/>
          <a:ln/>
        </p:spPr>
        <p:txBody>
          <a:bodyPr wrap="square" lIns="0" tIns="0" rIns="0" bIns="0" rtlCol="0" anchor="t"/>
          <a:lstStyle/>
          <a:p>
            <a:pPr marL="0" indent="0">
              <a:lnSpc>
                <a:spcPct val="105000"/>
              </a:lnSpc>
              <a:buNone/>
            </a:pPr>
            <a:r>
              <a:rPr lang="en-US" sz="1250" dirty="0">
                <a:solidFill>
                  <a:srgbClr val="5E6E78"/>
                </a:solidFill>
                <a:latin typeface="Calibri" pitchFamily="34" charset="0"/>
                <a:ea typeface="Calibri" pitchFamily="34" charset="-122"/>
                <a:cs typeface="Calibri" pitchFamily="34" charset="-120"/>
              </a:rPr>
              <a:t>Attestation so a malicious server cannot silently insert crafted weights.</a:t>
            </a:r>
            <a:endParaRPr lang="en-US" sz="1250" dirty="0"/>
          </a:p>
        </p:txBody>
      </p:sp>
      <p:sp>
        <p:nvSpPr>
          <p:cNvPr id="27" name="Shape 20"/>
          <p:cNvSpPr/>
          <p:nvPr/>
        </p:nvSpPr>
        <p:spPr>
          <a:xfrm>
            <a:off x="548640" y="6464808"/>
            <a:ext cx="109728" cy="109728"/>
          </a:xfrm>
          <a:prstGeom prst="ellipse">
            <a:avLst/>
          </a:prstGeom>
          <a:solidFill>
            <a:srgbClr val="0E8C8C"/>
          </a:solidFill>
          <a:ln/>
        </p:spPr>
        <p:txBody>
          <a:bodyPr/>
          <a:lstStyle/>
          <a:p>
            <a:endParaRPr lang="en-QA"/>
          </a:p>
        </p:txBody>
      </p:sp>
      <p:sp>
        <p:nvSpPr>
          <p:cNvPr id="28" name="Text 21"/>
          <p:cNvSpPr/>
          <p:nvPr/>
        </p:nvSpPr>
        <p:spPr>
          <a:xfrm>
            <a:off x="749808" y="6355080"/>
            <a:ext cx="8229600" cy="320040"/>
          </a:xfrm>
          <a:prstGeom prst="rect">
            <a:avLst/>
          </a:prstGeom>
          <a:noFill/>
          <a:ln/>
        </p:spPr>
        <p:txBody>
          <a:bodyPr wrap="square" lIns="0" tIns="0" rIns="0" bIns="0" rtlCol="0" anchor="ctr"/>
          <a:lstStyle/>
          <a:p>
            <a:pPr marL="0" indent="0">
              <a:buNone/>
            </a:pPr>
            <a:r>
              <a:rPr lang="en-US" sz="900" dirty="0">
                <a:solidFill>
                  <a:srgbClr val="5E6E78"/>
                </a:solidFill>
                <a:latin typeface="Calibri" pitchFamily="34" charset="0"/>
                <a:ea typeface="Calibri" pitchFamily="34" charset="-122"/>
                <a:cs typeface="Calibri" pitchFamily="34" charset="-120"/>
              </a:rPr>
              <a:t>AMIA × Federated Learning × LDP  —  Literature &amp; Proposed Study</a:t>
            </a:r>
            <a:endParaRPr lang="en-US" sz="900" dirty="0"/>
          </a:p>
        </p:txBody>
      </p:sp>
      <p:sp>
        <p:nvSpPr>
          <p:cNvPr id="29" name="Text 22"/>
          <p:cNvSpPr/>
          <p:nvPr/>
        </p:nvSpPr>
        <p:spPr>
          <a:xfrm>
            <a:off x="11338560" y="6355080"/>
            <a:ext cx="457200" cy="320040"/>
          </a:xfrm>
          <a:prstGeom prst="rect">
            <a:avLst/>
          </a:prstGeom>
          <a:noFill/>
          <a:ln/>
        </p:spPr>
        <p:txBody>
          <a:bodyPr wrap="square" rtlCol="0" anchor="ctr"/>
          <a:lstStyle/>
          <a:p>
            <a:pPr marL="0" indent="0" algn="r">
              <a:buNone/>
            </a:pPr>
            <a:r>
              <a:rPr lang="en-US" sz="1000" dirty="0">
                <a:solidFill>
                  <a:srgbClr val="5E6E78"/>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566928"/>
            <a:ext cx="128016" cy="128016"/>
          </a:xfrm>
          <a:prstGeom prst="ellipse">
            <a:avLst/>
          </a:prstGeom>
          <a:solidFill>
            <a:srgbClr val="0E8C8C"/>
          </a:solidFill>
          <a:ln/>
        </p:spPr>
        <p:txBody>
          <a:bodyPr/>
          <a:lstStyle/>
          <a:p>
            <a:endParaRPr lang="en-QA"/>
          </a:p>
        </p:txBody>
      </p:sp>
      <p:sp>
        <p:nvSpPr>
          <p:cNvPr id="3" name="Text 1"/>
          <p:cNvSpPr/>
          <p:nvPr/>
        </p:nvSpPr>
        <p:spPr>
          <a:xfrm>
            <a:off x="777240" y="457200"/>
            <a:ext cx="10515600" cy="320040"/>
          </a:xfrm>
          <a:prstGeom prst="rect">
            <a:avLst/>
          </a:prstGeom>
          <a:noFill/>
          <a:ln/>
        </p:spPr>
        <p:txBody>
          <a:bodyPr wrap="square" lIns="0" tIns="0" rIns="0" bIns="0" rtlCol="0" anchor="ctr"/>
          <a:lstStyle/>
          <a:p>
            <a:pPr marL="0" indent="0">
              <a:buNone/>
            </a:pPr>
            <a:r>
              <a:rPr lang="en-US" sz="1200" b="1" kern="0" spc="200" dirty="0">
                <a:solidFill>
                  <a:srgbClr val="0E8C8C"/>
                </a:solidFill>
                <a:latin typeface="Calibri" pitchFamily="34" charset="0"/>
                <a:ea typeface="Calibri" pitchFamily="34" charset="-122"/>
                <a:cs typeface="Calibri" pitchFamily="34" charset="-120"/>
              </a:rPr>
              <a:t>CLOSING</a:t>
            </a:r>
            <a:endParaRPr lang="en-US" sz="1200" dirty="0"/>
          </a:p>
        </p:txBody>
      </p:sp>
      <p:sp>
        <p:nvSpPr>
          <p:cNvPr id="4" name="Text 2"/>
          <p:cNvSpPr/>
          <p:nvPr/>
        </p:nvSpPr>
        <p:spPr>
          <a:xfrm>
            <a:off x="548640" y="768096"/>
            <a:ext cx="11064240" cy="868680"/>
          </a:xfrm>
          <a:prstGeom prst="rect">
            <a:avLst/>
          </a:prstGeom>
          <a:noFill/>
          <a:ln/>
        </p:spPr>
        <p:txBody>
          <a:bodyPr wrap="square" lIns="0" tIns="0" rIns="0" bIns="0" rtlCol="0" anchor="ctr"/>
          <a:lstStyle/>
          <a:p>
            <a:pPr marL="0" indent="0">
              <a:buNone/>
            </a:pPr>
            <a:r>
              <a:rPr lang="en-US" sz="3000" b="1" dirty="0">
                <a:solidFill>
                  <a:srgbClr val="1A2733"/>
                </a:solidFill>
                <a:latin typeface="Cambria" pitchFamily="34" charset="0"/>
                <a:ea typeface="Cambria" pitchFamily="34" charset="-122"/>
                <a:cs typeface="Cambria" pitchFamily="34" charset="-120"/>
              </a:rPr>
              <a:t>Open questions &amp; assumptions</a:t>
            </a:r>
            <a:endParaRPr lang="en-US" sz="3000" dirty="0"/>
          </a:p>
        </p:txBody>
      </p:sp>
      <p:sp>
        <p:nvSpPr>
          <p:cNvPr id="5" name="Shape 3"/>
          <p:cNvSpPr/>
          <p:nvPr/>
        </p:nvSpPr>
        <p:spPr>
          <a:xfrm>
            <a:off x="640080" y="1874520"/>
            <a:ext cx="5349240" cy="4069080"/>
          </a:xfrm>
          <a:prstGeom prst="roundRect">
            <a:avLst>
              <a:gd name="adj" fmla="val 1798"/>
            </a:avLst>
          </a:prstGeom>
          <a:solidFill>
            <a:srgbClr val="EAF2F3"/>
          </a:solidFill>
          <a:ln/>
        </p:spPr>
        <p:txBody>
          <a:bodyPr/>
          <a:lstStyle/>
          <a:p>
            <a:endParaRPr lang="en-QA"/>
          </a:p>
        </p:txBody>
      </p:sp>
      <p:sp>
        <p:nvSpPr>
          <p:cNvPr id="6" name="Shape 4"/>
          <p:cNvSpPr/>
          <p:nvPr/>
        </p:nvSpPr>
        <p:spPr>
          <a:xfrm>
            <a:off x="868680" y="2103120"/>
            <a:ext cx="640080" cy="640080"/>
          </a:xfrm>
          <a:prstGeom prst="ellipse">
            <a:avLst/>
          </a:prstGeom>
          <a:solidFill>
            <a:srgbClr val="0E8C8C"/>
          </a:solidFill>
          <a:ln/>
          <a:effectLst>
            <a:outerShdw blurRad="88900" dist="38100" dir="5400000" algn="bl" rotWithShape="0">
              <a:srgbClr val="000000">
                <a:alpha val="16000"/>
              </a:srgbClr>
            </a:outerShdw>
          </a:effectLst>
        </p:spPr>
        <p:txBody>
          <a:bodyPr/>
          <a:lstStyle/>
          <a:p>
            <a:endParaRPr lang="en-QA"/>
          </a:p>
        </p:txBody>
      </p:sp>
      <p:pic>
        <p:nvPicPr>
          <p:cNvPr id="7" name="Image 0" descr="preencoded.png"/>
          <p:cNvPicPr>
            <a:picLocks noChangeAspect="1"/>
          </p:cNvPicPr>
          <p:nvPr/>
        </p:nvPicPr>
        <p:blipFill>
          <a:blip r:embed="rId3"/>
          <a:stretch>
            <a:fillRect/>
          </a:stretch>
        </p:blipFill>
        <p:spPr>
          <a:xfrm>
            <a:off x="1035101" y="2269541"/>
            <a:ext cx="307238" cy="307238"/>
          </a:xfrm>
          <a:prstGeom prst="rect">
            <a:avLst/>
          </a:prstGeom>
        </p:spPr>
      </p:pic>
      <p:sp>
        <p:nvSpPr>
          <p:cNvPr id="8" name="Text 5"/>
          <p:cNvSpPr/>
          <p:nvPr/>
        </p:nvSpPr>
        <p:spPr>
          <a:xfrm>
            <a:off x="1645920" y="2148840"/>
            <a:ext cx="4114800" cy="548640"/>
          </a:xfrm>
          <a:prstGeom prst="rect">
            <a:avLst/>
          </a:prstGeom>
          <a:noFill/>
          <a:ln/>
        </p:spPr>
        <p:txBody>
          <a:bodyPr wrap="square" lIns="0" tIns="0" rIns="0" bIns="0" rtlCol="0" anchor="ctr"/>
          <a:lstStyle/>
          <a:p>
            <a:pPr marL="0" indent="0">
              <a:buNone/>
            </a:pPr>
            <a:r>
              <a:rPr lang="en-US" sz="1700" b="1" dirty="0">
                <a:solidFill>
                  <a:srgbClr val="1A2733"/>
                </a:solidFill>
                <a:latin typeface="Cambria" pitchFamily="34" charset="0"/>
                <a:ea typeface="Cambria" pitchFamily="34" charset="-122"/>
                <a:cs typeface="Cambria" pitchFamily="34" charset="-120"/>
              </a:rPr>
              <a:t>Assumptions made</a:t>
            </a:r>
            <a:endParaRPr lang="en-US" sz="1700" dirty="0"/>
          </a:p>
        </p:txBody>
      </p:sp>
      <p:sp>
        <p:nvSpPr>
          <p:cNvPr id="9" name="Text 6"/>
          <p:cNvSpPr/>
          <p:nvPr/>
        </p:nvSpPr>
        <p:spPr>
          <a:xfrm>
            <a:off x="914400" y="2926080"/>
            <a:ext cx="4846320" cy="2926080"/>
          </a:xfrm>
          <a:prstGeom prst="rect">
            <a:avLst/>
          </a:prstGeom>
          <a:noFill/>
          <a:ln/>
        </p:spPr>
        <p:txBody>
          <a:bodyPr wrap="square" lIns="0" tIns="0" rIns="0" bIns="0" rtlCol="0" anchor="ctr"/>
          <a:lstStyle/>
          <a:p>
            <a:pPr marL="342900" indent="-342900">
              <a:lnSpc>
                <a:spcPct val="104000"/>
              </a:lnSpc>
              <a:spcAft>
                <a:spcPts val="900"/>
              </a:spcAft>
              <a:buSzPct val="100000"/>
              <a:buChar char="•"/>
            </a:pPr>
            <a:r>
              <a:rPr lang="en-US" sz="1200" dirty="0">
                <a:solidFill>
                  <a:srgbClr val="5E6E78"/>
                </a:solidFill>
                <a:latin typeface="Calibri" pitchFamily="34" charset="0"/>
                <a:ea typeface="Calibri" pitchFamily="34" charset="-122"/>
                <a:cs typeface="Calibri" pitchFamily="34" charset="-120"/>
              </a:rPr>
              <a:t>Main paper = Nguyen et al., AISTATS 2023; baseline code = github.com/trucndt/ami (both user-confirmed).</a:t>
            </a:r>
            <a:endParaRPr lang="en-US" sz="1200" dirty="0"/>
          </a:p>
          <a:p>
            <a:pPr marL="342900" indent="-342900">
              <a:lnSpc>
                <a:spcPct val="104000"/>
              </a:lnSpc>
              <a:spcAft>
                <a:spcPts val="900"/>
              </a:spcAft>
              <a:buSzPct val="100000"/>
              <a:buChar char="•"/>
            </a:pPr>
            <a:r>
              <a:rPr lang="en-US" sz="1200" dirty="0">
                <a:solidFill>
                  <a:srgbClr val="5E6E78"/>
                </a:solidFill>
                <a:latin typeface="Calibri" pitchFamily="34" charset="0"/>
                <a:ea typeface="Calibri" pitchFamily="34" charset="-122"/>
                <a:cs typeface="Calibri" pitchFamily="34" charset="-120"/>
              </a:rPr>
              <a:t>Literature-review findings are placeholders — to be filled after reading. No citations / years / numbers were invented.</a:t>
            </a:r>
            <a:endParaRPr lang="en-US" sz="1200" dirty="0"/>
          </a:p>
          <a:p>
            <a:pPr marL="342900" indent="-342900">
              <a:lnSpc>
                <a:spcPct val="104000"/>
              </a:lnSpc>
              <a:spcAft>
                <a:spcPts val="900"/>
              </a:spcAft>
              <a:buSzPct val="100000"/>
              <a:buChar char="•"/>
            </a:pPr>
            <a:r>
              <a:rPr lang="en-US" sz="1200" dirty="0">
                <a:solidFill>
                  <a:srgbClr val="5E6E78"/>
                </a:solidFill>
                <a:latin typeface="Calibri" pitchFamily="34" charset="0"/>
                <a:ea typeface="Calibri" pitchFamily="34" charset="-122"/>
                <a:cs typeface="Calibri" pitchFamily="34" charset="-120"/>
              </a:rPr>
              <a:t>All Section 3 metrics are illustrative (expected shapes), never observed results.</a:t>
            </a:r>
            <a:endParaRPr lang="en-US" sz="1200" dirty="0"/>
          </a:p>
          <a:p>
            <a:pPr marL="342900" indent="-342900">
              <a:lnSpc>
                <a:spcPct val="104000"/>
              </a:lnSpc>
              <a:spcAft>
                <a:spcPts val="900"/>
              </a:spcAft>
              <a:buSzPct val="100000"/>
              <a:buChar char="•"/>
            </a:pPr>
            <a:r>
              <a:rPr lang="en-US" sz="1200" dirty="0">
                <a:solidFill>
                  <a:srgbClr val="5E6E78"/>
                </a:solidFill>
                <a:latin typeface="Calibri" pitchFamily="34" charset="0"/>
                <a:ea typeface="Calibri" pitchFamily="34" charset="-122"/>
                <a:cs typeface="Calibri" pitchFamily="34" charset="-120"/>
              </a:rPr>
              <a:t>Audience assumed mixed-expertise, ~15–20 min; slides sparse, notes do the teaching.</a:t>
            </a:r>
            <a:endParaRPr lang="en-US" sz="1200" dirty="0"/>
          </a:p>
        </p:txBody>
      </p:sp>
      <p:sp>
        <p:nvSpPr>
          <p:cNvPr id="10" name="Shape 7"/>
          <p:cNvSpPr/>
          <p:nvPr/>
        </p:nvSpPr>
        <p:spPr>
          <a:xfrm>
            <a:off x="6172200" y="1874520"/>
            <a:ext cx="5349240" cy="4069080"/>
          </a:xfrm>
          <a:prstGeom prst="roundRect">
            <a:avLst>
              <a:gd name="adj" fmla="val 1798"/>
            </a:avLst>
          </a:prstGeom>
          <a:solidFill>
            <a:srgbClr val="0E2A3B"/>
          </a:solidFill>
          <a:ln/>
        </p:spPr>
        <p:txBody>
          <a:bodyPr/>
          <a:lstStyle/>
          <a:p>
            <a:endParaRPr lang="en-QA"/>
          </a:p>
        </p:txBody>
      </p:sp>
      <p:sp>
        <p:nvSpPr>
          <p:cNvPr id="11" name="Shape 8"/>
          <p:cNvSpPr/>
          <p:nvPr/>
        </p:nvSpPr>
        <p:spPr>
          <a:xfrm>
            <a:off x="6400800" y="2103120"/>
            <a:ext cx="640080" cy="640080"/>
          </a:xfrm>
          <a:prstGeom prst="ellipse">
            <a:avLst/>
          </a:prstGeom>
          <a:solidFill>
            <a:srgbClr val="E8A04C"/>
          </a:solidFill>
          <a:ln/>
          <a:effectLst>
            <a:outerShdw blurRad="88900" dist="38100" dir="5400000" algn="bl" rotWithShape="0">
              <a:srgbClr val="000000">
                <a:alpha val="16000"/>
              </a:srgbClr>
            </a:outerShdw>
          </a:effectLst>
        </p:spPr>
        <p:txBody>
          <a:bodyPr/>
          <a:lstStyle/>
          <a:p>
            <a:endParaRPr lang="en-QA"/>
          </a:p>
        </p:txBody>
      </p:sp>
      <p:pic>
        <p:nvPicPr>
          <p:cNvPr id="12" name="Image 1" descr="preencoded.png"/>
          <p:cNvPicPr>
            <a:picLocks noChangeAspect="1"/>
          </p:cNvPicPr>
          <p:nvPr/>
        </p:nvPicPr>
        <p:blipFill>
          <a:blip r:embed="rId4"/>
          <a:stretch>
            <a:fillRect/>
          </a:stretch>
        </p:blipFill>
        <p:spPr>
          <a:xfrm>
            <a:off x="6567221" y="2269541"/>
            <a:ext cx="307238" cy="307238"/>
          </a:xfrm>
          <a:prstGeom prst="rect">
            <a:avLst/>
          </a:prstGeom>
        </p:spPr>
      </p:pic>
      <p:sp>
        <p:nvSpPr>
          <p:cNvPr id="13" name="Text 9"/>
          <p:cNvSpPr/>
          <p:nvPr/>
        </p:nvSpPr>
        <p:spPr>
          <a:xfrm>
            <a:off x="7178040" y="2148840"/>
            <a:ext cx="4114800" cy="548640"/>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Open questions</a:t>
            </a:r>
            <a:endParaRPr lang="en-US" sz="1700" dirty="0"/>
          </a:p>
        </p:txBody>
      </p:sp>
      <p:sp>
        <p:nvSpPr>
          <p:cNvPr id="14" name="Text 10"/>
          <p:cNvSpPr/>
          <p:nvPr/>
        </p:nvSpPr>
        <p:spPr>
          <a:xfrm>
            <a:off x="6446520" y="2926080"/>
            <a:ext cx="4846320" cy="2926080"/>
          </a:xfrm>
          <a:prstGeom prst="rect">
            <a:avLst/>
          </a:prstGeom>
          <a:noFill/>
          <a:ln/>
        </p:spPr>
        <p:txBody>
          <a:bodyPr wrap="square" lIns="0" tIns="0" rIns="0" bIns="0" rtlCol="0" anchor="ctr"/>
          <a:lstStyle/>
          <a:p>
            <a:pPr marL="342900" indent="-342900">
              <a:lnSpc>
                <a:spcPct val="104000"/>
              </a:lnSpc>
              <a:spcAft>
                <a:spcPts val="900"/>
              </a:spcAft>
              <a:buSzPct val="100000"/>
              <a:buChar char="•"/>
            </a:pPr>
            <a:r>
              <a:rPr lang="en-US" sz="1200" dirty="0">
                <a:solidFill>
                  <a:srgbClr val="DCE7EA"/>
                </a:solidFill>
                <a:latin typeface="Calibri" pitchFamily="34" charset="0"/>
                <a:ea typeface="Calibri" pitchFamily="34" charset="-122"/>
                <a:cs typeface="Calibri" pitchFamily="34" charset="-120"/>
              </a:rPr>
              <a:t>Does the chosen-neuron attack transfer to sequence / token LLMs and to fine-tuning (not just full training)?</a:t>
            </a:r>
            <a:endParaRPr lang="en-US" sz="1200" dirty="0"/>
          </a:p>
          <a:p>
            <a:pPr marL="342900" indent="-342900">
              <a:lnSpc>
                <a:spcPct val="104000"/>
              </a:lnSpc>
              <a:spcAft>
                <a:spcPts val="900"/>
              </a:spcAft>
              <a:buSzPct val="100000"/>
              <a:buChar char="•"/>
            </a:pPr>
            <a:r>
              <a:rPr lang="en-US" sz="1200" dirty="0">
                <a:solidFill>
                  <a:srgbClr val="DCE7EA"/>
                </a:solidFill>
                <a:latin typeface="Calibri" pitchFamily="34" charset="0"/>
                <a:ea typeface="Calibri" pitchFamily="34" charset="-122"/>
                <a:cs typeface="Calibri" pitchFamily="34" charset="-120"/>
              </a:rPr>
              <a:t>How do model scale and number of FL clients change attack accuracy?</a:t>
            </a:r>
            <a:endParaRPr lang="en-US" sz="1200" dirty="0"/>
          </a:p>
          <a:p>
            <a:pPr marL="342900" indent="-342900">
              <a:lnSpc>
                <a:spcPct val="104000"/>
              </a:lnSpc>
              <a:spcAft>
                <a:spcPts val="900"/>
              </a:spcAft>
              <a:buSzPct val="100000"/>
              <a:buChar char="•"/>
            </a:pPr>
            <a:r>
              <a:rPr lang="en-US" sz="1200" dirty="0">
                <a:solidFill>
                  <a:srgbClr val="DCE7EA"/>
                </a:solidFill>
                <a:latin typeface="Calibri" pitchFamily="34" charset="0"/>
                <a:ea typeface="Calibri" pitchFamily="34" charset="-122"/>
                <a:cs typeface="Calibri" pitchFamily="34" charset="-120"/>
              </a:rPr>
              <a:t>Which alternative defense reduces attack accuracy without unacceptable utility loss?</a:t>
            </a:r>
            <a:endParaRPr lang="en-US" sz="1200" dirty="0"/>
          </a:p>
          <a:p>
            <a:pPr marL="342900" indent="-342900">
              <a:lnSpc>
                <a:spcPct val="104000"/>
              </a:lnSpc>
              <a:spcAft>
                <a:spcPts val="900"/>
              </a:spcAft>
              <a:buSzPct val="100000"/>
              <a:buChar char="•"/>
            </a:pPr>
            <a:r>
              <a:rPr lang="en-US" sz="1200" dirty="0">
                <a:solidFill>
                  <a:srgbClr val="DCE7EA"/>
                </a:solidFill>
                <a:latin typeface="Calibri" pitchFamily="34" charset="0"/>
                <a:ea typeface="Calibri" pitchFamily="34" charset="-122"/>
                <a:cs typeface="Calibri" pitchFamily="34" charset="-120"/>
              </a:rPr>
              <a:t>Can behavioural neuron-auditing detect what weight-inspection cannot?</a:t>
            </a:r>
            <a:endParaRPr lang="en-US" sz="1200" dirty="0"/>
          </a:p>
        </p:txBody>
      </p:sp>
      <p:sp>
        <p:nvSpPr>
          <p:cNvPr id="16" name="Shape 11"/>
          <p:cNvSpPr/>
          <p:nvPr/>
        </p:nvSpPr>
        <p:spPr>
          <a:xfrm>
            <a:off x="548640" y="6464808"/>
            <a:ext cx="109728" cy="109728"/>
          </a:xfrm>
          <a:prstGeom prst="ellipse">
            <a:avLst/>
          </a:prstGeom>
          <a:solidFill>
            <a:srgbClr val="0E8C8C"/>
          </a:solidFill>
          <a:ln/>
        </p:spPr>
        <p:txBody>
          <a:bodyPr/>
          <a:lstStyle/>
          <a:p>
            <a:endParaRPr lang="en-QA"/>
          </a:p>
        </p:txBody>
      </p:sp>
      <p:sp>
        <p:nvSpPr>
          <p:cNvPr id="17" name="Text 12"/>
          <p:cNvSpPr/>
          <p:nvPr/>
        </p:nvSpPr>
        <p:spPr>
          <a:xfrm>
            <a:off x="749808" y="6355080"/>
            <a:ext cx="8229600" cy="320040"/>
          </a:xfrm>
          <a:prstGeom prst="rect">
            <a:avLst/>
          </a:prstGeom>
          <a:noFill/>
          <a:ln/>
        </p:spPr>
        <p:txBody>
          <a:bodyPr wrap="square" lIns="0" tIns="0" rIns="0" bIns="0" rtlCol="0" anchor="ctr"/>
          <a:lstStyle/>
          <a:p>
            <a:pPr marL="0" indent="0">
              <a:buNone/>
            </a:pPr>
            <a:r>
              <a:rPr lang="en-US" sz="900" dirty="0">
                <a:solidFill>
                  <a:srgbClr val="5E6E78"/>
                </a:solidFill>
                <a:latin typeface="Calibri" pitchFamily="34" charset="0"/>
                <a:ea typeface="Calibri" pitchFamily="34" charset="-122"/>
                <a:cs typeface="Calibri" pitchFamily="34" charset="-120"/>
              </a:rPr>
              <a:t>AMIA × Federated Learning × LDP  —  Literature &amp; Proposed Study</a:t>
            </a:r>
            <a:endParaRPr lang="en-US" sz="900" dirty="0"/>
          </a:p>
        </p:txBody>
      </p:sp>
      <p:sp>
        <p:nvSpPr>
          <p:cNvPr id="18" name="Text 13"/>
          <p:cNvSpPr/>
          <p:nvPr/>
        </p:nvSpPr>
        <p:spPr>
          <a:xfrm>
            <a:off x="11338560" y="6355080"/>
            <a:ext cx="457200" cy="320040"/>
          </a:xfrm>
          <a:prstGeom prst="rect">
            <a:avLst/>
          </a:prstGeom>
          <a:noFill/>
          <a:ln/>
        </p:spPr>
        <p:txBody>
          <a:bodyPr wrap="square" rtlCol="0" anchor="ctr"/>
          <a:lstStyle/>
          <a:p>
            <a:pPr marL="0" indent="0" algn="r">
              <a:buNone/>
            </a:pPr>
            <a:r>
              <a:rPr lang="en-US" sz="1000" dirty="0">
                <a:solidFill>
                  <a:srgbClr val="5E6E78"/>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1">
    <p:bg>
      <p:bgPr>
        <a:solidFill>
          <a:srgbClr val="0E2A3B"/>
        </a:solidFill>
        <a:effectLst/>
      </p:bgPr>
    </p:bg>
    <p:spTree>
      <p:nvGrpSpPr>
        <p:cNvPr id="1" name=""/>
        <p:cNvGrpSpPr/>
        <p:nvPr/>
      </p:nvGrpSpPr>
      <p:grpSpPr>
        <a:xfrm>
          <a:off x="0" y="0"/>
          <a:ext cx="0" cy="0"/>
          <a:chOff x="0" y="0"/>
          <a:chExt cx="0" cy="0"/>
        </a:xfrm>
      </p:grpSpPr>
      <p:sp>
        <p:nvSpPr>
          <p:cNvPr id="2" name="Shape 0"/>
          <p:cNvSpPr/>
          <p:nvPr/>
        </p:nvSpPr>
        <p:spPr>
          <a:xfrm>
            <a:off x="566928" y="566928"/>
            <a:ext cx="128016" cy="128016"/>
          </a:xfrm>
          <a:prstGeom prst="ellipse">
            <a:avLst/>
          </a:prstGeom>
          <a:solidFill>
            <a:srgbClr val="3FC6BC"/>
          </a:solidFill>
          <a:ln/>
        </p:spPr>
        <p:txBody>
          <a:bodyPr/>
          <a:lstStyle/>
          <a:p>
            <a:endParaRPr lang="en-QA"/>
          </a:p>
        </p:txBody>
      </p:sp>
      <p:sp>
        <p:nvSpPr>
          <p:cNvPr id="3" name="Text 1"/>
          <p:cNvSpPr/>
          <p:nvPr/>
        </p:nvSpPr>
        <p:spPr>
          <a:xfrm>
            <a:off x="777240" y="457200"/>
            <a:ext cx="10515600" cy="320040"/>
          </a:xfrm>
          <a:prstGeom prst="rect">
            <a:avLst/>
          </a:prstGeom>
          <a:noFill/>
          <a:ln/>
        </p:spPr>
        <p:txBody>
          <a:bodyPr wrap="square" lIns="0" tIns="0" rIns="0" bIns="0" rtlCol="0" anchor="ctr"/>
          <a:lstStyle/>
          <a:p>
            <a:pPr marL="0" indent="0">
              <a:buNone/>
            </a:pPr>
            <a:r>
              <a:rPr lang="en-US" sz="1200" b="1" kern="0" spc="200" dirty="0">
                <a:solidFill>
                  <a:srgbClr val="0E8C8C"/>
                </a:solidFill>
                <a:latin typeface="Calibri" pitchFamily="34" charset="0"/>
                <a:ea typeface="Calibri" pitchFamily="34" charset="-122"/>
                <a:cs typeface="Calibri" pitchFamily="34" charset="-120"/>
              </a:rPr>
              <a:t>CLOSING</a:t>
            </a:r>
            <a:endParaRPr lang="en-US" sz="1200" dirty="0"/>
          </a:p>
        </p:txBody>
      </p:sp>
      <p:sp>
        <p:nvSpPr>
          <p:cNvPr id="4" name="Text 2"/>
          <p:cNvSpPr/>
          <p:nvPr/>
        </p:nvSpPr>
        <p:spPr>
          <a:xfrm>
            <a:off x="548640" y="768096"/>
            <a:ext cx="11064240" cy="86868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Next steps</a:t>
            </a:r>
            <a:endParaRPr lang="en-US" sz="3000" dirty="0"/>
          </a:p>
        </p:txBody>
      </p:sp>
      <p:sp>
        <p:nvSpPr>
          <p:cNvPr id="5" name="Shape 3"/>
          <p:cNvSpPr/>
          <p:nvPr/>
        </p:nvSpPr>
        <p:spPr>
          <a:xfrm>
            <a:off x="640080" y="2103120"/>
            <a:ext cx="2615184" cy="3291840"/>
          </a:xfrm>
          <a:prstGeom prst="roundRect">
            <a:avLst>
              <a:gd name="adj" fmla="val 2797"/>
            </a:avLst>
          </a:prstGeom>
          <a:solidFill>
            <a:srgbClr val="143C50"/>
          </a:solidFill>
          <a:ln w="12700">
            <a:solidFill>
              <a:srgbClr val="0E8C8C"/>
            </a:solidFill>
            <a:prstDash val="solid"/>
          </a:ln>
        </p:spPr>
        <p:txBody>
          <a:bodyPr/>
          <a:lstStyle/>
          <a:p>
            <a:endParaRPr lang="en-QA"/>
          </a:p>
        </p:txBody>
      </p:sp>
      <p:sp>
        <p:nvSpPr>
          <p:cNvPr id="6" name="Shape 4"/>
          <p:cNvSpPr/>
          <p:nvPr/>
        </p:nvSpPr>
        <p:spPr>
          <a:xfrm>
            <a:off x="1581912" y="2395728"/>
            <a:ext cx="731520" cy="731520"/>
          </a:xfrm>
          <a:prstGeom prst="ellipse">
            <a:avLst/>
          </a:prstGeom>
          <a:solidFill>
            <a:srgbClr val="E8A04C"/>
          </a:solidFill>
          <a:ln/>
          <a:effectLst>
            <a:outerShdw blurRad="88900" dist="38100" dir="5400000" algn="bl" rotWithShape="0">
              <a:srgbClr val="000000">
                <a:alpha val="16000"/>
              </a:srgbClr>
            </a:outerShdw>
          </a:effectLst>
        </p:spPr>
        <p:txBody>
          <a:bodyPr/>
          <a:lstStyle/>
          <a:p>
            <a:endParaRPr lang="en-QA"/>
          </a:p>
        </p:txBody>
      </p:sp>
      <p:pic>
        <p:nvPicPr>
          <p:cNvPr id="7" name="Image 0" descr="preencoded.png"/>
          <p:cNvPicPr>
            <a:picLocks noChangeAspect="1"/>
          </p:cNvPicPr>
          <p:nvPr/>
        </p:nvPicPr>
        <p:blipFill>
          <a:blip r:embed="rId3"/>
          <a:stretch>
            <a:fillRect/>
          </a:stretch>
        </p:blipFill>
        <p:spPr>
          <a:xfrm>
            <a:off x="1772107" y="2585923"/>
            <a:ext cx="351130" cy="351130"/>
          </a:xfrm>
          <a:prstGeom prst="rect">
            <a:avLst/>
          </a:prstGeom>
        </p:spPr>
      </p:pic>
      <p:sp>
        <p:nvSpPr>
          <p:cNvPr id="8" name="Text 5"/>
          <p:cNvSpPr/>
          <p:nvPr/>
        </p:nvSpPr>
        <p:spPr>
          <a:xfrm>
            <a:off x="822960" y="2212848"/>
            <a:ext cx="914400" cy="365760"/>
          </a:xfrm>
          <a:prstGeom prst="rect">
            <a:avLst/>
          </a:prstGeom>
          <a:noFill/>
          <a:ln/>
        </p:spPr>
        <p:txBody>
          <a:bodyPr wrap="square" lIns="0" tIns="0" rIns="0" bIns="0" rtlCol="0" anchor="ctr"/>
          <a:lstStyle/>
          <a:p>
            <a:pPr marL="0" indent="0">
              <a:buNone/>
            </a:pPr>
            <a:r>
              <a:rPr lang="en-US" sz="1500" b="1" dirty="0">
                <a:solidFill>
                  <a:srgbClr val="3FC6BC"/>
                </a:solidFill>
                <a:latin typeface="Cambria" pitchFamily="34" charset="0"/>
                <a:ea typeface="Cambria" pitchFamily="34" charset="-122"/>
                <a:cs typeface="Cambria" pitchFamily="34" charset="-120"/>
              </a:rPr>
              <a:t>01</a:t>
            </a:r>
            <a:endParaRPr lang="en-US" sz="1500" dirty="0"/>
          </a:p>
        </p:txBody>
      </p:sp>
      <p:sp>
        <p:nvSpPr>
          <p:cNvPr id="9" name="Text 6"/>
          <p:cNvSpPr/>
          <p:nvPr/>
        </p:nvSpPr>
        <p:spPr>
          <a:xfrm>
            <a:off x="777240" y="3364992"/>
            <a:ext cx="2340864" cy="685800"/>
          </a:xfrm>
          <a:prstGeom prst="rect">
            <a:avLst/>
          </a:prstGeom>
          <a:noFill/>
          <a:ln/>
        </p:spPr>
        <p:txBody>
          <a:bodyPr wrap="square" lIns="0" tIns="0" rIns="0" bIns="0" rtlCol="0" anchor="t"/>
          <a:lstStyle/>
          <a:p>
            <a:pPr marL="0" indent="0" algn="ctr">
              <a:buNone/>
            </a:pPr>
            <a:r>
              <a:rPr lang="en-US" sz="1450" b="1" dirty="0">
                <a:solidFill>
                  <a:srgbClr val="FFFFFF"/>
                </a:solidFill>
                <a:latin typeface="Cambria" pitchFamily="34" charset="0"/>
                <a:ea typeface="Cambria" pitchFamily="34" charset="-122"/>
                <a:cs typeface="Cambria" pitchFamily="34" charset="-120"/>
              </a:rPr>
              <a:t>Finish the reading</a:t>
            </a:r>
            <a:endParaRPr lang="en-US" sz="1450" dirty="0"/>
          </a:p>
        </p:txBody>
      </p:sp>
      <p:sp>
        <p:nvSpPr>
          <p:cNvPr id="10" name="Text 7"/>
          <p:cNvSpPr/>
          <p:nvPr/>
        </p:nvSpPr>
        <p:spPr>
          <a:xfrm>
            <a:off x="804672" y="4114800"/>
            <a:ext cx="2286000" cy="1188720"/>
          </a:xfrm>
          <a:prstGeom prst="rect">
            <a:avLst/>
          </a:prstGeom>
          <a:noFill/>
          <a:ln/>
        </p:spPr>
        <p:txBody>
          <a:bodyPr wrap="square" lIns="0" tIns="0" rIns="0" bIns="0" rtlCol="0" anchor="ctr"/>
          <a:lstStyle/>
          <a:p>
            <a:pPr marL="0" indent="0" algn="ctr">
              <a:lnSpc>
                <a:spcPct val="105000"/>
              </a:lnSpc>
              <a:buNone/>
            </a:pPr>
            <a:r>
              <a:rPr lang="en-US" sz="1150" dirty="0">
                <a:solidFill>
                  <a:srgbClr val="DCE7EA"/>
                </a:solidFill>
                <a:latin typeface="Calibri" pitchFamily="34" charset="0"/>
                <a:ea typeface="Calibri" pitchFamily="34" charset="-122"/>
                <a:cs typeface="Calibri" pitchFamily="34" charset="-120"/>
              </a:rPr>
              <a:t>Populate the four literature placeholders with real citations and findings.</a:t>
            </a:r>
            <a:endParaRPr lang="en-US" sz="1150" dirty="0"/>
          </a:p>
        </p:txBody>
      </p:sp>
      <p:sp>
        <p:nvSpPr>
          <p:cNvPr id="11" name="Shape 8"/>
          <p:cNvSpPr/>
          <p:nvPr/>
        </p:nvSpPr>
        <p:spPr>
          <a:xfrm>
            <a:off x="3273552" y="3611880"/>
            <a:ext cx="164592" cy="310896"/>
          </a:xfrm>
          <a:prstGeom prst="rtTriangle">
            <a:avLst/>
          </a:prstGeom>
          <a:solidFill>
            <a:srgbClr val="E8A04C"/>
          </a:solidFill>
          <a:ln/>
        </p:spPr>
        <p:txBody>
          <a:bodyPr/>
          <a:lstStyle/>
          <a:p>
            <a:endParaRPr lang="en-QA"/>
          </a:p>
        </p:txBody>
      </p:sp>
      <p:sp>
        <p:nvSpPr>
          <p:cNvPr id="12" name="Shape 9"/>
          <p:cNvSpPr/>
          <p:nvPr/>
        </p:nvSpPr>
        <p:spPr>
          <a:xfrm>
            <a:off x="3456432" y="2103120"/>
            <a:ext cx="2615184" cy="3291840"/>
          </a:xfrm>
          <a:prstGeom prst="roundRect">
            <a:avLst>
              <a:gd name="adj" fmla="val 2797"/>
            </a:avLst>
          </a:prstGeom>
          <a:solidFill>
            <a:srgbClr val="143C50"/>
          </a:solidFill>
          <a:ln w="12700">
            <a:solidFill>
              <a:srgbClr val="0E8C8C"/>
            </a:solidFill>
            <a:prstDash val="solid"/>
          </a:ln>
        </p:spPr>
        <p:txBody>
          <a:bodyPr/>
          <a:lstStyle/>
          <a:p>
            <a:endParaRPr lang="en-QA"/>
          </a:p>
        </p:txBody>
      </p:sp>
      <p:sp>
        <p:nvSpPr>
          <p:cNvPr id="13" name="Shape 10"/>
          <p:cNvSpPr/>
          <p:nvPr/>
        </p:nvSpPr>
        <p:spPr>
          <a:xfrm>
            <a:off x="4398264" y="2395728"/>
            <a:ext cx="731520" cy="731520"/>
          </a:xfrm>
          <a:prstGeom prst="ellipse">
            <a:avLst/>
          </a:prstGeom>
          <a:solidFill>
            <a:srgbClr val="E8A04C"/>
          </a:solidFill>
          <a:ln/>
          <a:effectLst>
            <a:outerShdw blurRad="88900" dist="38100" dir="5400000" algn="bl" rotWithShape="0">
              <a:srgbClr val="000000">
                <a:alpha val="16000"/>
              </a:srgbClr>
            </a:outerShdw>
          </a:effectLst>
        </p:spPr>
        <p:txBody>
          <a:bodyPr/>
          <a:lstStyle/>
          <a:p>
            <a:endParaRPr lang="en-QA"/>
          </a:p>
        </p:txBody>
      </p:sp>
      <p:pic>
        <p:nvPicPr>
          <p:cNvPr id="14" name="Image 1" descr="preencoded.png"/>
          <p:cNvPicPr>
            <a:picLocks noChangeAspect="1"/>
          </p:cNvPicPr>
          <p:nvPr/>
        </p:nvPicPr>
        <p:blipFill>
          <a:blip r:embed="rId4"/>
          <a:stretch>
            <a:fillRect/>
          </a:stretch>
        </p:blipFill>
        <p:spPr>
          <a:xfrm>
            <a:off x="4588459" y="2585923"/>
            <a:ext cx="351130" cy="351130"/>
          </a:xfrm>
          <a:prstGeom prst="rect">
            <a:avLst/>
          </a:prstGeom>
        </p:spPr>
      </p:pic>
      <p:sp>
        <p:nvSpPr>
          <p:cNvPr id="15" name="Text 11"/>
          <p:cNvSpPr/>
          <p:nvPr/>
        </p:nvSpPr>
        <p:spPr>
          <a:xfrm>
            <a:off x="3639312" y="2212848"/>
            <a:ext cx="914400" cy="365760"/>
          </a:xfrm>
          <a:prstGeom prst="rect">
            <a:avLst/>
          </a:prstGeom>
          <a:noFill/>
          <a:ln/>
        </p:spPr>
        <p:txBody>
          <a:bodyPr wrap="square" lIns="0" tIns="0" rIns="0" bIns="0" rtlCol="0" anchor="ctr"/>
          <a:lstStyle/>
          <a:p>
            <a:pPr marL="0" indent="0">
              <a:buNone/>
            </a:pPr>
            <a:r>
              <a:rPr lang="en-US" sz="1500" b="1" dirty="0">
                <a:solidFill>
                  <a:srgbClr val="3FC6BC"/>
                </a:solidFill>
                <a:latin typeface="Cambria" pitchFamily="34" charset="0"/>
                <a:ea typeface="Cambria" pitchFamily="34" charset="-122"/>
                <a:cs typeface="Cambria" pitchFamily="34" charset="-120"/>
              </a:rPr>
              <a:t>02</a:t>
            </a:r>
            <a:endParaRPr lang="en-US" sz="1500" dirty="0"/>
          </a:p>
        </p:txBody>
      </p:sp>
      <p:sp>
        <p:nvSpPr>
          <p:cNvPr id="16" name="Text 12"/>
          <p:cNvSpPr/>
          <p:nvPr/>
        </p:nvSpPr>
        <p:spPr>
          <a:xfrm>
            <a:off x="3593592" y="3364992"/>
            <a:ext cx="2340864" cy="685800"/>
          </a:xfrm>
          <a:prstGeom prst="rect">
            <a:avLst/>
          </a:prstGeom>
          <a:noFill/>
          <a:ln/>
        </p:spPr>
        <p:txBody>
          <a:bodyPr wrap="square" lIns="0" tIns="0" rIns="0" bIns="0" rtlCol="0" anchor="t"/>
          <a:lstStyle/>
          <a:p>
            <a:pPr marL="0" indent="0" algn="ctr">
              <a:buNone/>
            </a:pPr>
            <a:r>
              <a:rPr lang="en-US" sz="1450" b="1" dirty="0">
                <a:solidFill>
                  <a:srgbClr val="FFFFFF"/>
                </a:solidFill>
                <a:latin typeface="Cambria" pitchFamily="34" charset="0"/>
                <a:ea typeface="Cambria" pitchFamily="34" charset="-122"/>
                <a:cs typeface="Cambria" pitchFamily="34" charset="-120"/>
              </a:rPr>
              <a:t>Stand up the baseline</a:t>
            </a:r>
            <a:endParaRPr lang="en-US" sz="1450" dirty="0"/>
          </a:p>
        </p:txBody>
      </p:sp>
      <p:sp>
        <p:nvSpPr>
          <p:cNvPr id="17" name="Text 13"/>
          <p:cNvSpPr/>
          <p:nvPr/>
        </p:nvSpPr>
        <p:spPr>
          <a:xfrm>
            <a:off x="3621024" y="4114800"/>
            <a:ext cx="2286000" cy="1188720"/>
          </a:xfrm>
          <a:prstGeom prst="rect">
            <a:avLst/>
          </a:prstGeom>
          <a:noFill/>
          <a:ln/>
        </p:spPr>
        <p:txBody>
          <a:bodyPr wrap="square" lIns="0" tIns="0" rIns="0" bIns="0" rtlCol="0" anchor="ctr"/>
          <a:lstStyle/>
          <a:p>
            <a:pPr marL="0" indent="0" algn="ctr">
              <a:lnSpc>
                <a:spcPct val="105000"/>
              </a:lnSpc>
              <a:buNone/>
            </a:pPr>
            <a:r>
              <a:rPr lang="en-US" sz="1150" dirty="0">
                <a:solidFill>
                  <a:srgbClr val="DCE7EA"/>
                </a:solidFill>
                <a:latin typeface="Calibri" pitchFamily="34" charset="0"/>
                <a:ea typeface="Calibri" pitchFamily="34" charset="-122"/>
                <a:cs typeface="Calibri" pitchFamily="34" charset="-120"/>
              </a:rPr>
              <a:t>Reproduce trucndt/ami, then swap in an FL-trained LLM target.</a:t>
            </a:r>
            <a:endParaRPr lang="en-US" sz="1150" dirty="0"/>
          </a:p>
        </p:txBody>
      </p:sp>
      <p:sp>
        <p:nvSpPr>
          <p:cNvPr id="18" name="Shape 14"/>
          <p:cNvSpPr/>
          <p:nvPr/>
        </p:nvSpPr>
        <p:spPr>
          <a:xfrm>
            <a:off x="6089904" y="3611880"/>
            <a:ext cx="164592" cy="310896"/>
          </a:xfrm>
          <a:prstGeom prst="rtTriangle">
            <a:avLst/>
          </a:prstGeom>
          <a:solidFill>
            <a:srgbClr val="E8A04C"/>
          </a:solidFill>
          <a:ln/>
        </p:spPr>
        <p:txBody>
          <a:bodyPr/>
          <a:lstStyle/>
          <a:p>
            <a:endParaRPr lang="en-QA"/>
          </a:p>
        </p:txBody>
      </p:sp>
      <p:sp>
        <p:nvSpPr>
          <p:cNvPr id="19" name="Shape 15"/>
          <p:cNvSpPr/>
          <p:nvPr/>
        </p:nvSpPr>
        <p:spPr>
          <a:xfrm>
            <a:off x="6272784" y="2103120"/>
            <a:ext cx="2615184" cy="3291840"/>
          </a:xfrm>
          <a:prstGeom prst="roundRect">
            <a:avLst>
              <a:gd name="adj" fmla="val 2797"/>
            </a:avLst>
          </a:prstGeom>
          <a:solidFill>
            <a:srgbClr val="143C50"/>
          </a:solidFill>
          <a:ln w="12700">
            <a:solidFill>
              <a:srgbClr val="0E8C8C"/>
            </a:solidFill>
            <a:prstDash val="solid"/>
          </a:ln>
        </p:spPr>
        <p:txBody>
          <a:bodyPr/>
          <a:lstStyle/>
          <a:p>
            <a:endParaRPr lang="en-QA"/>
          </a:p>
        </p:txBody>
      </p:sp>
      <p:sp>
        <p:nvSpPr>
          <p:cNvPr id="20" name="Shape 16"/>
          <p:cNvSpPr/>
          <p:nvPr/>
        </p:nvSpPr>
        <p:spPr>
          <a:xfrm>
            <a:off x="7214616" y="2395728"/>
            <a:ext cx="731520" cy="731520"/>
          </a:xfrm>
          <a:prstGeom prst="ellipse">
            <a:avLst/>
          </a:prstGeom>
          <a:solidFill>
            <a:srgbClr val="E8A04C"/>
          </a:solidFill>
          <a:ln/>
          <a:effectLst>
            <a:outerShdw blurRad="88900" dist="38100" dir="5400000" algn="bl" rotWithShape="0">
              <a:srgbClr val="000000">
                <a:alpha val="16000"/>
              </a:srgbClr>
            </a:outerShdw>
          </a:effectLst>
        </p:spPr>
        <p:txBody>
          <a:bodyPr/>
          <a:lstStyle/>
          <a:p>
            <a:endParaRPr lang="en-QA"/>
          </a:p>
        </p:txBody>
      </p:sp>
      <p:pic>
        <p:nvPicPr>
          <p:cNvPr id="21" name="Image 2" descr="preencoded.png"/>
          <p:cNvPicPr>
            <a:picLocks noChangeAspect="1"/>
          </p:cNvPicPr>
          <p:nvPr/>
        </p:nvPicPr>
        <p:blipFill>
          <a:blip r:embed="rId5"/>
          <a:stretch>
            <a:fillRect/>
          </a:stretch>
        </p:blipFill>
        <p:spPr>
          <a:xfrm>
            <a:off x="7404811" y="2585923"/>
            <a:ext cx="351130" cy="351130"/>
          </a:xfrm>
          <a:prstGeom prst="rect">
            <a:avLst/>
          </a:prstGeom>
        </p:spPr>
      </p:pic>
      <p:sp>
        <p:nvSpPr>
          <p:cNvPr id="22" name="Text 17"/>
          <p:cNvSpPr/>
          <p:nvPr/>
        </p:nvSpPr>
        <p:spPr>
          <a:xfrm>
            <a:off x="6455664" y="2212848"/>
            <a:ext cx="914400" cy="365760"/>
          </a:xfrm>
          <a:prstGeom prst="rect">
            <a:avLst/>
          </a:prstGeom>
          <a:noFill/>
          <a:ln/>
        </p:spPr>
        <p:txBody>
          <a:bodyPr wrap="square" lIns="0" tIns="0" rIns="0" bIns="0" rtlCol="0" anchor="ctr"/>
          <a:lstStyle/>
          <a:p>
            <a:pPr marL="0" indent="0">
              <a:buNone/>
            </a:pPr>
            <a:r>
              <a:rPr lang="en-US" sz="1500" b="1" dirty="0">
                <a:solidFill>
                  <a:srgbClr val="3FC6BC"/>
                </a:solidFill>
                <a:latin typeface="Cambria" pitchFamily="34" charset="0"/>
                <a:ea typeface="Cambria" pitchFamily="34" charset="-122"/>
                <a:cs typeface="Cambria" pitchFamily="34" charset="-120"/>
              </a:rPr>
              <a:t>03</a:t>
            </a:r>
            <a:endParaRPr lang="en-US" sz="1500" dirty="0"/>
          </a:p>
        </p:txBody>
      </p:sp>
      <p:sp>
        <p:nvSpPr>
          <p:cNvPr id="23" name="Text 18"/>
          <p:cNvSpPr/>
          <p:nvPr/>
        </p:nvSpPr>
        <p:spPr>
          <a:xfrm>
            <a:off x="6409944" y="3364992"/>
            <a:ext cx="2340864" cy="685800"/>
          </a:xfrm>
          <a:prstGeom prst="rect">
            <a:avLst/>
          </a:prstGeom>
          <a:noFill/>
          <a:ln/>
        </p:spPr>
        <p:txBody>
          <a:bodyPr wrap="square" lIns="0" tIns="0" rIns="0" bIns="0" rtlCol="0" anchor="t"/>
          <a:lstStyle/>
          <a:p>
            <a:pPr marL="0" indent="0" algn="ctr">
              <a:buNone/>
            </a:pPr>
            <a:r>
              <a:rPr lang="en-US" sz="1450" b="1" dirty="0">
                <a:solidFill>
                  <a:srgbClr val="FFFFFF"/>
                </a:solidFill>
                <a:latin typeface="Cambria" pitchFamily="34" charset="0"/>
                <a:ea typeface="Cambria" pitchFamily="34" charset="-122"/>
                <a:cs typeface="Cambria" pitchFamily="34" charset="-120"/>
              </a:rPr>
              <a:t>Run the factor sweeps</a:t>
            </a:r>
            <a:endParaRPr lang="en-US" sz="1450" dirty="0"/>
          </a:p>
        </p:txBody>
      </p:sp>
      <p:sp>
        <p:nvSpPr>
          <p:cNvPr id="24" name="Text 19"/>
          <p:cNvSpPr/>
          <p:nvPr/>
        </p:nvSpPr>
        <p:spPr>
          <a:xfrm>
            <a:off x="6437376" y="4114800"/>
            <a:ext cx="2286000" cy="1188720"/>
          </a:xfrm>
          <a:prstGeom prst="rect">
            <a:avLst/>
          </a:prstGeom>
          <a:noFill/>
          <a:ln/>
        </p:spPr>
        <p:txBody>
          <a:bodyPr wrap="square" lIns="0" tIns="0" rIns="0" bIns="0" rtlCol="0" anchor="ctr"/>
          <a:lstStyle/>
          <a:p>
            <a:pPr marL="0" indent="0" algn="ctr">
              <a:lnSpc>
                <a:spcPct val="105000"/>
              </a:lnSpc>
              <a:buNone/>
            </a:pPr>
            <a:r>
              <a:rPr lang="en-US" sz="1150" dirty="0">
                <a:solidFill>
                  <a:srgbClr val="DCE7EA"/>
                </a:solidFill>
                <a:latin typeface="Calibri" pitchFamily="34" charset="0"/>
                <a:ea typeface="Calibri" pitchFamily="34" charset="-122"/>
                <a:cs typeface="Calibri" pitchFamily="34" charset="-120"/>
              </a:rPr>
              <a:t>Vary ε, scale, FL setup; measure attack accuracy + utility.</a:t>
            </a:r>
            <a:endParaRPr lang="en-US" sz="1150" dirty="0"/>
          </a:p>
        </p:txBody>
      </p:sp>
      <p:sp>
        <p:nvSpPr>
          <p:cNvPr id="25" name="Shape 20"/>
          <p:cNvSpPr/>
          <p:nvPr/>
        </p:nvSpPr>
        <p:spPr>
          <a:xfrm>
            <a:off x="8906256" y="3611880"/>
            <a:ext cx="164592" cy="310896"/>
          </a:xfrm>
          <a:prstGeom prst="rtTriangle">
            <a:avLst/>
          </a:prstGeom>
          <a:solidFill>
            <a:srgbClr val="E8A04C"/>
          </a:solidFill>
          <a:ln/>
        </p:spPr>
        <p:txBody>
          <a:bodyPr/>
          <a:lstStyle/>
          <a:p>
            <a:endParaRPr lang="en-QA"/>
          </a:p>
        </p:txBody>
      </p:sp>
      <p:sp>
        <p:nvSpPr>
          <p:cNvPr id="26" name="Shape 21"/>
          <p:cNvSpPr/>
          <p:nvPr/>
        </p:nvSpPr>
        <p:spPr>
          <a:xfrm>
            <a:off x="9089136" y="2103120"/>
            <a:ext cx="2615184" cy="3291840"/>
          </a:xfrm>
          <a:prstGeom prst="roundRect">
            <a:avLst>
              <a:gd name="adj" fmla="val 2797"/>
            </a:avLst>
          </a:prstGeom>
          <a:solidFill>
            <a:srgbClr val="143C50"/>
          </a:solidFill>
          <a:ln w="12700">
            <a:solidFill>
              <a:srgbClr val="0E8C8C"/>
            </a:solidFill>
            <a:prstDash val="solid"/>
          </a:ln>
        </p:spPr>
        <p:txBody>
          <a:bodyPr/>
          <a:lstStyle/>
          <a:p>
            <a:endParaRPr lang="en-QA"/>
          </a:p>
        </p:txBody>
      </p:sp>
      <p:sp>
        <p:nvSpPr>
          <p:cNvPr id="27" name="Shape 22"/>
          <p:cNvSpPr/>
          <p:nvPr/>
        </p:nvSpPr>
        <p:spPr>
          <a:xfrm>
            <a:off x="10030968" y="2395728"/>
            <a:ext cx="731520" cy="731520"/>
          </a:xfrm>
          <a:prstGeom prst="ellipse">
            <a:avLst/>
          </a:prstGeom>
          <a:solidFill>
            <a:srgbClr val="E8A04C"/>
          </a:solidFill>
          <a:ln/>
          <a:effectLst>
            <a:outerShdw blurRad="88900" dist="38100" dir="5400000" algn="bl" rotWithShape="0">
              <a:srgbClr val="000000">
                <a:alpha val="16000"/>
              </a:srgbClr>
            </a:outerShdw>
          </a:effectLst>
        </p:spPr>
        <p:txBody>
          <a:bodyPr/>
          <a:lstStyle/>
          <a:p>
            <a:endParaRPr lang="en-QA"/>
          </a:p>
        </p:txBody>
      </p:sp>
      <p:pic>
        <p:nvPicPr>
          <p:cNvPr id="28" name="Image 3" descr="preencoded.png"/>
          <p:cNvPicPr>
            <a:picLocks noChangeAspect="1"/>
          </p:cNvPicPr>
          <p:nvPr/>
        </p:nvPicPr>
        <p:blipFill>
          <a:blip r:embed="rId6"/>
          <a:stretch>
            <a:fillRect/>
          </a:stretch>
        </p:blipFill>
        <p:spPr>
          <a:xfrm>
            <a:off x="10221163" y="2585923"/>
            <a:ext cx="351130" cy="351130"/>
          </a:xfrm>
          <a:prstGeom prst="rect">
            <a:avLst/>
          </a:prstGeom>
        </p:spPr>
      </p:pic>
      <p:sp>
        <p:nvSpPr>
          <p:cNvPr id="29" name="Text 23"/>
          <p:cNvSpPr/>
          <p:nvPr/>
        </p:nvSpPr>
        <p:spPr>
          <a:xfrm>
            <a:off x="9272016" y="2212848"/>
            <a:ext cx="914400" cy="365760"/>
          </a:xfrm>
          <a:prstGeom prst="rect">
            <a:avLst/>
          </a:prstGeom>
          <a:noFill/>
          <a:ln/>
        </p:spPr>
        <p:txBody>
          <a:bodyPr wrap="square" lIns="0" tIns="0" rIns="0" bIns="0" rtlCol="0" anchor="ctr"/>
          <a:lstStyle/>
          <a:p>
            <a:pPr marL="0" indent="0">
              <a:buNone/>
            </a:pPr>
            <a:r>
              <a:rPr lang="en-US" sz="1500" b="1" dirty="0">
                <a:solidFill>
                  <a:srgbClr val="3FC6BC"/>
                </a:solidFill>
                <a:latin typeface="Cambria" pitchFamily="34" charset="0"/>
                <a:ea typeface="Cambria" pitchFamily="34" charset="-122"/>
                <a:cs typeface="Cambria" pitchFamily="34" charset="-120"/>
              </a:rPr>
              <a:t>04</a:t>
            </a:r>
            <a:endParaRPr lang="en-US" sz="1500" dirty="0"/>
          </a:p>
        </p:txBody>
      </p:sp>
      <p:sp>
        <p:nvSpPr>
          <p:cNvPr id="30" name="Text 24"/>
          <p:cNvSpPr/>
          <p:nvPr/>
        </p:nvSpPr>
        <p:spPr>
          <a:xfrm>
            <a:off x="9226296" y="3364992"/>
            <a:ext cx="2340864" cy="685800"/>
          </a:xfrm>
          <a:prstGeom prst="rect">
            <a:avLst/>
          </a:prstGeom>
          <a:noFill/>
          <a:ln/>
        </p:spPr>
        <p:txBody>
          <a:bodyPr wrap="square" lIns="0" tIns="0" rIns="0" bIns="0" rtlCol="0" anchor="t"/>
          <a:lstStyle/>
          <a:p>
            <a:pPr marL="0" indent="0" algn="ctr">
              <a:buNone/>
            </a:pPr>
            <a:r>
              <a:rPr lang="en-US" sz="1450" b="1" dirty="0">
                <a:solidFill>
                  <a:srgbClr val="FFFFFF"/>
                </a:solidFill>
                <a:latin typeface="Cambria" pitchFamily="34" charset="0"/>
                <a:ea typeface="Cambria" pitchFamily="34" charset="-122"/>
                <a:cs typeface="Cambria" pitchFamily="34" charset="-120"/>
              </a:rPr>
              <a:t>Test defenses</a:t>
            </a:r>
            <a:endParaRPr lang="en-US" sz="1450" dirty="0"/>
          </a:p>
        </p:txBody>
      </p:sp>
      <p:sp>
        <p:nvSpPr>
          <p:cNvPr id="31" name="Text 25"/>
          <p:cNvSpPr/>
          <p:nvPr/>
        </p:nvSpPr>
        <p:spPr>
          <a:xfrm>
            <a:off x="9253728" y="4114800"/>
            <a:ext cx="2286000" cy="1188720"/>
          </a:xfrm>
          <a:prstGeom prst="rect">
            <a:avLst/>
          </a:prstGeom>
          <a:noFill/>
          <a:ln/>
        </p:spPr>
        <p:txBody>
          <a:bodyPr wrap="square" lIns="0" tIns="0" rIns="0" bIns="0" rtlCol="0" anchor="ctr"/>
          <a:lstStyle/>
          <a:p>
            <a:pPr marL="0" indent="0" algn="ctr">
              <a:lnSpc>
                <a:spcPct val="105000"/>
              </a:lnSpc>
              <a:buNone/>
            </a:pPr>
            <a:r>
              <a:rPr lang="en-US" sz="1150" dirty="0">
                <a:solidFill>
                  <a:srgbClr val="DCE7EA"/>
                </a:solidFill>
                <a:latin typeface="Calibri" pitchFamily="34" charset="0"/>
                <a:ea typeface="Calibri" pitchFamily="34" charset="-122"/>
                <a:cs typeface="Calibri" pitchFamily="34" charset="-120"/>
              </a:rPr>
              <a:t>Trial DPSGD, aggregation, neuron-auditing, protocol checks.</a:t>
            </a:r>
            <a:endParaRPr lang="en-US" sz="1150" dirty="0"/>
          </a:p>
        </p:txBody>
      </p:sp>
      <p:sp>
        <p:nvSpPr>
          <p:cNvPr id="32" name="Text 26"/>
          <p:cNvSpPr/>
          <p:nvPr/>
        </p:nvSpPr>
        <p:spPr>
          <a:xfrm>
            <a:off x="640080" y="5715000"/>
            <a:ext cx="10881360" cy="457200"/>
          </a:xfrm>
          <a:prstGeom prst="rect">
            <a:avLst/>
          </a:prstGeom>
          <a:noFill/>
          <a:ln/>
        </p:spPr>
        <p:txBody>
          <a:bodyPr wrap="square" lIns="0" tIns="0" rIns="0" bIns="0" rtlCol="0" anchor="ctr"/>
          <a:lstStyle/>
          <a:p>
            <a:pPr marL="0" indent="0">
              <a:buNone/>
            </a:pPr>
            <a:r>
              <a:rPr lang="en-US" sz="1400" i="1" dirty="0">
                <a:solidFill>
                  <a:srgbClr val="3FC6BC"/>
                </a:solidFill>
                <a:latin typeface="Calibri" pitchFamily="34" charset="0"/>
                <a:ea typeface="Calibri" pitchFamily="34" charset="-122"/>
                <a:cs typeface="Calibri" pitchFamily="34" charset="-120"/>
              </a:rPr>
              <a:t>Questions &amp; discussion welcome.</a:t>
            </a:r>
            <a:endParaRPr lang="en-US" sz="1400" dirty="0"/>
          </a:p>
        </p:txBody>
      </p:sp>
      <p:sp>
        <p:nvSpPr>
          <p:cNvPr id="34" name="Shape 27"/>
          <p:cNvSpPr/>
          <p:nvPr/>
        </p:nvSpPr>
        <p:spPr>
          <a:xfrm>
            <a:off x="548640" y="6464808"/>
            <a:ext cx="109728" cy="109728"/>
          </a:xfrm>
          <a:prstGeom prst="ellipse">
            <a:avLst/>
          </a:prstGeom>
          <a:solidFill>
            <a:srgbClr val="0E8C8C"/>
          </a:solidFill>
          <a:ln/>
        </p:spPr>
        <p:txBody>
          <a:bodyPr/>
          <a:lstStyle/>
          <a:p>
            <a:endParaRPr lang="en-QA"/>
          </a:p>
        </p:txBody>
      </p:sp>
      <p:sp>
        <p:nvSpPr>
          <p:cNvPr id="35" name="Text 28"/>
          <p:cNvSpPr/>
          <p:nvPr/>
        </p:nvSpPr>
        <p:spPr>
          <a:xfrm>
            <a:off x="749808" y="6355080"/>
            <a:ext cx="8229600" cy="320040"/>
          </a:xfrm>
          <a:prstGeom prst="rect">
            <a:avLst/>
          </a:prstGeom>
          <a:noFill/>
          <a:ln/>
        </p:spPr>
        <p:txBody>
          <a:bodyPr wrap="square" lIns="0" tIns="0" rIns="0" bIns="0" rtlCol="0" anchor="ctr"/>
          <a:lstStyle/>
          <a:p>
            <a:pPr marL="0" indent="0">
              <a:buNone/>
            </a:pPr>
            <a:r>
              <a:rPr lang="en-US" sz="900" dirty="0">
                <a:solidFill>
                  <a:srgbClr val="5E6E78"/>
                </a:solidFill>
                <a:latin typeface="Calibri" pitchFamily="34" charset="0"/>
                <a:ea typeface="Calibri" pitchFamily="34" charset="-122"/>
                <a:cs typeface="Calibri" pitchFamily="34" charset="-120"/>
              </a:rPr>
              <a:t>AMIA × Federated Learning × LDP  —  Literature &amp; Proposed Study</a:t>
            </a:r>
            <a:endParaRPr lang="en-US" sz="900" dirty="0"/>
          </a:p>
        </p:txBody>
      </p:sp>
      <p:sp>
        <p:nvSpPr>
          <p:cNvPr id="36" name="Text 29"/>
          <p:cNvSpPr/>
          <p:nvPr/>
        </p:nvSpPr>
        <p:spPr>
          <a:xfrm>
            <a:off x="11338560" y="6355080"/>
            <a:ext cx="457200" cy="320040"/>
          </a:xfrm>
          <a:prstGeom prst="rect">
            <a:avLst/>
          </a:prstGeom>
          <a:noFill/>
          <a:ln/>
        </p:spPr>
        <p:txBody>
          <a:bodyPr wrap="square" rtlCol="0" anchor="ctr"/>
          <a:lstStyle/>
          <a:p>
            <a:pPr marL="0" indent="0" algn="r">
              <a:buNone/>
            </a:pPr>
            <a:r>
              <a:rPr lang="en-US" sz="1000" dirty="0">
                <a:solidFill>
                  <a:srgbClr val="5E6E78"/>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92</TotalTime>
  <Words>5152</Words>
  <Application>Microsoft Macintosh PowerPoint</Application>
  <PresentationFormat>Widescreen</PresentationFormat>
  <Paragraphs>242</Paragraphs>
  <Slides>19</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AMIA on LLMs Trained via Federated Learning</dc:title>
  <dc:subject>PptxGenJS Presentation</dc:subject>
  <dc:creator>Research Presentation Engine</dc:creator>
  <cp:lastModifiedBy>Sotomango, Peter Yeshua [60301211]</cp:lastModifiedBy>
  <cp:revision>3</cp:revision>
  <dcterms:created xsi:type="dcterms:W3CDTF">2026-06-16T06:44:58Z</dcterms:created>
  <dcterms:modified xsi:type="dcterms:W3CDTF">2026-06-16T08:20:35Z</dcterms:modified>
</cp:coreProperties>
</file>